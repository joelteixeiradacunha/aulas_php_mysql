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55"/>
  </p:notesMasterIdLst>
  <p:handoutMasterIdLst>
    <p:handoutMasterId r:id="rId156"/>
  </p:handoutMasterIdLst>
  <p:sldIdLst>
    <p:sldId id="256" r:id="rId5"/>
    <p:sldId id="257" r:id="rId6"/>
    <p:sldId id="262" r:id="rId7"/>
    <p:sldId id="261" r:id="rId8"/>
    <p:sldId id="264" r:id="rId9"/>
    <p:sldId id="265" r:id="rId10"/>
    <p:sldId id="266" r:id="rId11"/>
    <p:sldId id="263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9" r:id="rId32"/>
    <p:sldId id="288" r:id="rId33"/>
    <p:sldId id="287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40" r:id="rId81"/>
    <p:sldId id="337" r:id="rId82"/>
    <p:sldId id="338" r:id="rId83"/>
    <p:sldId id="339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7" r:id="rId120"/>
    <p:sldId id="376" r:id="rId121"/>
    <p:sldId id="378" r:id="rId122"/>
    <p:sldId id="379" r:id="rId123"/>
    <p:sldId id="380" r:id="rId124"/>
    <p:sldId id="381" r:id="rId125"/>
    <p:sldId id="382" r:id="rId126"/>
    <p:sldId id="383" r:id="rId127"/>
    <p:sldId id="384" r:id="rId128"/>
    <p:sldId id="385" r:id="rId129"/>
    <p:sldId id="386" r:id="rId130"/>
    <p:sldId id="388" r:id="rId131"/>
    <p:sldId id="387" r:id="rId132"/>
    <p:sldId id="389" r:id="rId133"/>
    <p:sldId id="390" r:id="rId134"/>
    <p:sldId id="391" r:id="rId135"/>
    <p:sldId id="393" r:id="rId136"/>
    <p:sldId id="394" r:id="rId137"/>
    <p:sldId id="395" r:id="rId138"/>
    <p:sldId id="396" r:id="rId139"/>
    <p:sldId id="397" r:id="rId140"/>
    <p:sldId id="398" r:id="rId141"/>
    <p:sldId id="399" r:id="rId142"/>
    <p:sldId id="400" r:id="rId143"/>
    <p:sldId id="401" r:id="rId144"/>
    <p:sldId id="402" r:id="rId145"/>
    <p:sldId id="403" r:id="rId146"/>
    <p:sldId id="404" r:id="rId147"/>
    <p:sldId id="405" r:id="rId148"/>
    <p:sldId id="406" r:id="rId149"/>
    <p:sldId id="407" r:id="rId150"/>
    <p:sldId id="408" r:id="rId151"/>
    <p:sldId id="409" r:id="rId152"/>
    <p:sldId id="410" r:id="rId153"/>
    <p:sldId id="411" r:id="rId154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A95"/>
    <a:srgbClr val="FF8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860" autoAdjust="0"/>
  </p:normalViewPr>
  <p:slideViewPr>
    <p:cSldViewPr snapToGrid="0">
      <p:cViewPr varScale="1">
        <p:scale>
          <a:sx n="47" d="100"/>
          <a:sy n="47" d="100"/>
        </p:scale>
        <p:origin x="77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theme" Target="theme/theme1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tableStyles" Target="tableStyles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slide" Target="slides/slide141.xml"/><Relationship Id="rId16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slide" Target="slides/slide147.xml"/><Relationship Id="rId156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Teixeira Cunha" userId="195451ac3a5e8dfd" providerId="LiveId" clId="{2A4D4AF3-9DC9-4CE5-AE1A-E96DDBF3EED9}"/>
    <pc:docChg chg="undo custSel addSld delSld modSld sldOrd">
      <pc:chgData name="Joel Teixeira Cunha" userId="195451ac3a5e8dfd" providerId="LiveId" clId="{2A4D4AF3-9DC9-4CE5-AE1A-E96DDBF3EED9}" dt="2026-10-06T11:44:13.037" v="5785" actId="20577"/>
      <pc:docMkLst>
        <pc:docMk/>
      </pc:docMkLst>
      <pc:sldChg chg="modSp new mod">
        <pc:chgData name="Joel Teixeira Cunha" userId="195451ac3a5e8dfd" providerId="LiveId" clId="{2A4D4AF3-9DC9-4CE5-AE1A-E96DDBF3EED9}" dt="2026-09-15T00:18:56.540" v="3254" actId="403"/>
        <pc:sldMkLst>
          <pc:docMk/>
          <pc:sldMk cId="1118276888" sldId="371"/>
        </pc:sldMkLst>
        <pc:spChg chg="mod">
          <ac:chgData name="Joel Teixeira Cunha" userId="195451ac3a5e8dfd" providerId="LiveId" clId="{2A4D4AF3-9DC9-4CE5-AE1A-E96DDBF3EED9}" dt="2026-09-15T00:18:56.540" v="3254" actId="403"/>
          <ac:spMkLst>
            <pc:docMk/>
            <pc:sldMk cId="1118276888" sldId="371"/>
            <ac:spMk id="2" creationId="{136370B2-13A0-1883-C6B9-2D46694BCD32}"/>
          </ac:spMkLst>
        </pc:spChg>
      </pc:sldChg>
      <pc:sldChg chg="modSp new mod">
        <pc:chgData name="Joel Teixeira Cunha" userId="195451ac3a5e8dfd" providerId="LiveId" clId="{2A4D4AF3-9DC9-4CE5-AE1A-E96DDBF3EED9}" dt="2026-09-15T00:21:34.735" v="3282"/>
        <pc:sldMkLst>
          <pc:docMk/>
          <pc:sldMk cId="2033187365" sldId="372"/>
        </pc:sldMkLst>
        <pc:spChg chg="mod">
          <ac:chgData name="Joel Teixeira Cunha" userId="195451ac3a5e8dfd" providerId="LiveId" clId="{2A4D4AF3-9DC9-4CE5-AE1A-E96DDBF3EED9}" dt="2026-09-15T00:19:22.253" v="3265" actId="20577"/>
          <ac:spMkLst>
            <pc:docMk/>
            <pc:sldMk cId="2033187365" sldId="372"/>
            <ac:spMk id="2" creationId="{02A28C35-6B9C-56BB-41D8-A636BA0DDB31}"/>
          </ac:spMkLst>
        </pc:spChg>
        <pc:spChg chg="mod">
          <ac:chgData name="Joel Teixeira Cunha" userId="195451ac3a5e8dfd" providerId="LiveId" clId="{2A4D4AF3-9DC9-4CE5-AE1A-E96DDBF3EED9}" dt="2026-09-15T00:21:34.735" v="3282"/>
          <ac:spMkLst>
            <pc:docMk/>
            <pc:sldMk cId="2033187365" sldId="372"/>
            <ac:spMk id="3" creationId="{E8E74CB8-4D18-3C9C-5E65-E33999CE34CF}"/>
          </ac:spMkLst>
        </pc:spChg>
      </pc:sldChg>
      <pc:sldChg chg="addSp modSp add mod">
        <pc:chgData name="Joel Teixeira Cunha" userId="195451ac3a5e8dfd" providerId="LiveId" clId="{2A4D4AF3-9DC9-4CE5-AE1A-E96DDBF3EED9}" dt="2026-09-15T00:29:55.417" v="3484" actId="20577"/>
        <pc:sldMkLst>
          <pc:docMk/>
          <pc:sldMk cId="4114814473" sldId="373"/>
        </pc:sldMkLst>
        <pc:spChg chg="mod">
          <ac:chgData name="Joel Teixeira Cunha" userId="195451ac3a5e8dfd" providerId="LiveId" clId="{2A4D4AF3-9DC9-4CE5-AE1A-E96DDBF3EED9}" dt="2026-09-15T00:29:55.417" v="3484" actId="20577"/>
          <ac:spMkLst>
            <pc:docMk/>
            <pc:sldMk cId="4114814473" sldId="373"/>
            <ac:spMk id="3" creationId="{29C0823B-4F63-651E-ED9D-6DFEA89D5767}"/>
          </ac:spMkLst>
        </pc:spChg>
        <pc:picChg chg="add mod">
          <ac:chgData name="Joel Teixeira Cunha" userId="195451ac3a5e8dfd" providerId="LiveId" clId="{2A4D4AF3-9DC9-4CE5-AE1A-E96DDBF3EED9}" dt="2026-09-15T00:26:38.841" v="3354" actId="1076"/>
          <ac:picMkLst>
            <pc:docMk/>
            <pc:sldMk cId="4114814473" sldId="373"/>
            <ac:picMk id="5" creationId="{FE535BCF-6D4A-AA7C-3944-0D598915B000}"/>
          </ac:picMkLst>
        </pc:picChg>
      </pc:sldChg>
      <pc:sldChg chg="delSp modSp add mod">
        <pc:chgData name="Joel Teixeira Cunha" userId="195451ac3a5e8dfd" providerId="LiveId" clId="{2A4D4AF3-9DC9-4CE5-AE1A-E96DDBF3EED9}" dt="2026-09-15T00:38:07.739" v="3523" actId="20577"/>
        <pc:sldMkLst>
          <pc:docMk/>
          <pc:sldMk cId="2822356180" sldId="374"/>
        </pc:sldMkLst>
        <pc:spChg chg="mod">
          <ac:chgData name="Joel Teixeira Cunha" userId="195451ac3a5e8dfd" providerId="LiveId" clId="{2A4D4AF3-9DC9-4CE5-AE1A-E96DDBF3EED9}" dt="2026-09-15T00:38:07.739" v="3523" actId="20577"/>
          <ac:spMkLst>
            <pc:docMk/>
            <pc:sldMk cId="2822356180" sldId="374"/>
            <ac:spMk id="3" creationId="{03F11054-40BD-D646-F861-0C46C1B5642E}"/>
          </ac:spMkLst>
        </pc:spChg>
      </pc:sldChg>
      <pc:sldChg chg="addSp modSp add mod">
        <pc:chgData name="Joel Teixeira Cunha" userId="195451ac3a5e8dfd" providerId="LiveId" clId="{2A4D4AF3-9DC9-4CE5-AE1A-E96DDBF3EED9}" dt="2026-09-15T00:53:35.028" v="3783" actId="1076"/>
        <pc:sldMkLst>
          <pc:docMk/>
          <pc:sldMk cId="1296213273" sldId="375"/>
        </pc:sldMkLst>
        <pc:spChg chg="mod">
          <ac:chgData name="Joel Teixeira Cunha" userId="195451ac3a5e8dfd" providerId="LiveId" clId="{2A4D4AF3-9DC9-4CE5-AE1A-E96DDBF3EED9}" dt="2026-09-15T00:51:47.996" v="3724" actId="20577"/>
          <ac:spMkLst>
            <pc:docMk/>
            <pc:sldMk cId="1296213273" sldId="375"/>
            <ac:spMk id="3" creationId="{F7F39C9C-97BD-E30D-4C59-03CB556CD632}"/>
          </ac:spMkLst>
        </pc:spChg>
        <pc:picChg chg="add mod">
          <ac:chgData name="Joel Teixeira Cunha" userId="195451ac3a5e8dfd" providerId="LiveId" clId="{2A4D4AF3-9DC9-4CE5-AE1A-E96DDBF3EED9}" dt="2026-09-15T00:53:35.028" v="3783" actId="1076"/>
          <ac:picMkLst>
            <pc:docMk/>
            <pc:sldMk cId="1296213273" sldId="375"/>
            <ac:picMk id="5" creationId="{C0F369CF-6738-BFB5-5052-16B9D48C866C}"/>
          </ac:picMkLst>
        </pc:picChg>
      </pc:sldChg>
      <pc:sldChg chg="addSp modSp add mod">
        <pc:chgData name="Joel Teixeira Cunha" userId="195451ac3a5e8dfd" providerId="LiveId" clId="{2A4D4AF3-9DC9-4CE5-AE1A-E96DDBF3EED9}" dt="2026-09-15T00:55:49.098" v="3831" actId="1076"/>
        <pc:sldMkLst>
          <pc:docMk/>
          <pc:sldMk cId="1484851906" sldId="376"/>
        </pc:sldMkLst>
        <pc:spChg chg="mod">
          <ac:chgData name="Joel Teixeira Cunha" userId="195451ac3a5e8dfd" providerId="LiveId" clId="{2A4D4AF3-9DC9-4CE5-AE1A-E96DDBF3EED9}" dt="2026-09-15T00:55:43.073" v="3830" actId="20577"/>
          <ac:spMkLst>
            <pc:docMk/>
            <pc:sldMk cId="1484851906" sldId="376"/>
            <ac:spMk id="3" creationId="{DFBF198A-331B-5749-D906-B9FEA096615A}"/>
          </ac:spMkLst>
        </pc:spChg>
        <pc:picChg chg="add mod">
          <ac:chgData name="Joel Teixeira Cunha" userId="195451ac3a5e8dfd" providerId="LiveId" clId="{2A4D4AF3-9DC9-4CE5-AE1A-E96DDBF3EED9}" dt="2026-09-15T00:55:49.098" v="3831" actId="1076"/>
          <ac:picMkLst>
            <pc:docMk/>
            <pc:sldMk cId="1484851906" sldId="376"/>
            <ac:picMk id="5" creationId="{54CA6CDD-E9F0-81C2-0F57-FE6448891885}"/>
          </ac:picMkLst>
        </pc:picChg>
      </pc:sldChg>
      <pc:sldChg chg="addSp modSp new mod">
        <pc:chgData name="Joel Teixeira Cunha" userId="195451ac3a5e8dfd" providerId="LiveId" clId="{2A4D4AF3-9DC9-4CE5-AE1A-E96DDBF3EED9}" dt="2026-09-15T00:54:57.258" v="3814" actId="1076"/>
        <pc:sldMkLst>
          <pc:docMk/>
          <pc:sldMk cId="4116978793" sldId="377"/>
        </pc:sldMkLst>
        <pc:spChg chg="mod">
          <ac:chgData name="Joel Teixeira Cunha" userId="195451ac3a5e8dfd" providerId="LiveId" clId="{2A4D4AF3-9DC9-4CE5-AE1A-E96DDBF3EED9}" dt="2026-09-15T00:54:47.185" v="3811" actId="6559"/>
          <ac:spMkLst>
            <pc:docMk/>
            <pc:sldMk cId="4116978793" sldId="377"/>
            <ac:spMk id="2" creationId="{454CB9ED-5A02-6355-CE7D-A2DC9DC1E2BD}"/>
          </ac:spMkLst>
        </pc:spChg>
        <pc:picChg chg="add mod">
          <ac:chgData name="Joel Teixeira Cunha" userId="195451ac3a5e8dfd" providerId="LiveId" clId="{2A4D4AF3-9DC9-4CE5-AE1A-E96DDBF3EED9}" dt="2026-09-15T00:54:57.258" v="3814" actId="1076"/>
          <ac:picMkLst>
            <pc:docMk/>
            <pc:sldMk cId="4116978793" sldId="377"/>
            <ac:picMk id="4" creationId="{70FB65B9-7A25-7B61-AD49-201E45084968}"/>
          </ac:picMkLst>
        </pc:picChg>
      </pc:sldChg>
      <pc:sldChg chg="addSp delSp modSp add mod">
        <pc:chgData name="Joel Teixeira Cunha" userId="195451ac3a5e8dfd" providerId="LiveId" clId="{2A4D4AF3-9DC9-4CE5-AE1A-E96DDBF3EED9}" dt="2026-09-15T01:00:42.584" v="3879" actId="14100"/>
        <pc:sldMkLst>
          <pc:docMk/>
          <pc:sldMk cId="2667496997" sldId="378"/>
        </pc:sldMkLst>
        <pc:spChg chg="mod">
          <ac:chgData name="Joel Teixeira Cunha" userId="195451ac3a5e8dfd" providerId="LiveId" clId="{2A4D4AF3-9DC9-4CE5-AE1A-E96DDBF3EED9}" dt="2026-09-15T01:00:42.584" v="3879" actId="14100"/>
          <ac:spMkLst>
            <pc:docMk/>
            <pc:sldMk cId="2667496997" sldId="378"/>
            <ac:spMk id="3" creationId="{AC964E49-80BE-A48F-9A26-241C3CE3EBC8}"/>
          </ac:spMkLst>
        </pc:spChg>
        <pc:picChg chg="add mod">
          <ac:chgData name="Joel Teixeira Cunha" userId="195451ac3a5e8dfd" providerId="LiveId" clId="{2A4D4AF3-9DC9-4CE5-AE1A-E96DDBF3EED9}" dt="2026-09-15T01:00:37.205" v="3877" actId="1076"/>
          <ac:picMkLst>
            <pc:docMk/>
            <pc:sldMk cId="2667496997" sldId="378"/>
            <ac:picMk id="6" creationId="{3A5CDF6F-E482-A9A7-0DBB-7C8476D92EE5}"/>
          </ac:picMkLst>
        </pc:picChg>
      </pc:sldChg>
      <pc:sldChg chg="addSp delSp modSp add mod">
        <pc:chgData name="Joel Teixeira Cunha" userId="195451ac3a5e8dfd" providerId="LiveId" clId="{2A4D4AF3-9DC9-4CE5-AE1A-E96DDBF3EED9}" dt="2026-09-15T01:04:42.932" v="3927" actId="20577"/>
        <pc:sldMkLst>
          <pc:docMk/>
          <pc:sldMk cId="868028335" sldId="379"/>
        </pc:sldMkLst>
        <pc:spChg chg="mod">
          <ac:chgData name="Joel Teixeira Cunha" userId="195451ac3a5e8dfd" providerId="LiveId" clId="{2A4D4AF3-9DC9-4CE5-AE1A-E96DDBF3EED9}" dt="2026-09-15T01:04:42.932" v="3927" actId="20577"/>
          <ac:spMkLst>
            <pc:docMk/>
            <pc:sldMk cId="868028335" sldId="379"/>
            <ac:spMk id="3" creationId="{CD311C14-237C-B779-8D90-DEB5A05C8339}"/>
          </ac:spMkLst>
        </pc:spChg>
        <pc:picChg chg="add mod">
          <ac:chgData name="Joel Teixeira Cunha" userId="195451ac3a5e8dfd" providerId="LiveId" clId="{2A4D4AF3-9DC9-4CE5-AE1A-E96DDBF3EED9}" dt="2026-09-15T01:04:06.053" v="3903" actId="1076"/>
          <ac:picMkLst>
            <pc:docMk/>
            <pc:sldMk cId="868028335" sldId="379"/>
            <ac:picMk id="5" creationId="{42F20077-F240-3FB6-DD02-7280878F9D1C}"/>
          </ac:picMkLst>
        </pc:picChg>
      </pc:sldChg>
      <pc:sldChg chg="addSp delSp modSp add mod">
        <pc:chgData name="Joel Teixeira Cunha" userId="195451ac3a5e8dfd" providerId="LiveId" clId="{2A4D4AF3-9DC9-4CE5-AE1A-E96DDBF3EED9}" dt="2026-09-15T01:10:04.763" v="3957" actId="1076"/>
        <pc:sldMkLst>
          <pc:docMk/>
          <pc:sldMk cId="1116626561" sldId="380"/>
        </pc:sldMkLst>
        <pc:spChg chg="mod">
          <ac:chgData name="Joel Teixeira Cunha" userId="195451ac3a5e8dfd" providerId="LiveId" clId="{2A4D4AF3-9DC9-4CE5-AE1A-E96DDBF3EED9}" dt="2026-09-15T01:06:04.881" v="3951" actId="20577"/>
          <ac:spMkLst>
            <pc:docMk/>
            <pc:sldMk cId="1116626561" sldId="380"/>
            <ac:spMk id="3" creationId="{F272310C-3906-195A-2450-1877DBA50C17}"/>
          </ac:spMkLst>
        </pc:spChg>
        <pc:picChg chg="add mod">
          <ac:chgData name="Joel Teixeira Cunha" userId="195451ac3a5e8dfd" providerId="LiveId" clId="{2A4D4AF3-9DC9-4CE5-AE1A-E96DDBF3EED9}" dt="2026-09-15T01:10:04.763" v="3957" actId="1076"/>
          <ac:picMkLst>
            <pc:docMk/>
            <pc:sldMk cId="1116626561" sldId="380"/>
            <ac:picMk id="6" creationId="{AAF0F473-F4CD-FB06-3CE9-0BDDA59FC54A}"/>
          </ac:picMkLst>
        </pc:picChg>
      </pc:sldChg>
      <pc:sldChg chg="delSp modSp add mod">
        <pc:chgData name="Joel Teixeira Cunha" userId="195451ac3a5e8dfd" providerId="LiveId" clId="{2A4D4AF3-9DC9-4CE5-AE1A-E96DDBF3EED9}" dt="2026-09-15T01:14:08.128" v="3979"/>
        <pc:sldMkLst>
          <pc:docMk/>
          <pc:sldMk cId="3173247459" sldId="381"/>
        </pc:sldMkLst>
        <pc:spChg chg="mod">
          <ac:chgData name="Joel Teixeira Cunha" userId="195451ac3a5e8dfd" providerId="LiveId" clId="{2A4D4AF3-9DC9-4CE5-AE1A-E96DDBF3EED9}" dt="2026-09-15T01:14:08.128" v="3979"/>
          <ac:spMkLst>
            <pc:docMk/>
            <pc:sldMk cId="3173247459" sldId="381"/>
            <ac:spMk id="3" creationId="{1C8DB7C3-7DFB-63C5-5E6A-3188B3DA0CF2}"/>
          </ac:spMkLst>
        </pc:spChg>
      </pc:sldChg>
      <pc:sldChg chg="addSp modSp add mod">
        <pc:chgData name="Joel Teixeira Cunha" userId="195451ac3a5e8dfd" providerId="LiveId" clId="{2A4D4AF3-9DC9-4CE5-AE1A-E96DDBF3EED9}" dt="2026-09-15T01:20:03.211" v="4011" actId="14100"/>
        <pc:sldMkLst>
          <pc:docMk/>
          <pc:sldMk cId="2642068441" sldId="382"/>
        </pc:sldMkLst>
        <pc:spChg chg="mod">
          <ac:chgData name="Joel Teixeira Cunha" userId="195451ac3a5e8dfd" providerId="LiveId" clId="{2A4D4AF3-9DC9-4CE5-AE1A-E96DDBF3EED9}" dt="2026-09-15T01:20:03.211" v="4011" actId="14100"/>
          <ac:spMkLst>
            <pc:docMk/>
            <pc:sldMk cId="2642068441" sldId="382"/>
            <ac:spMk id="3" creationId="{27D72B4D-B3FC-0633-0111-A8D8ED8F7DF4}"/>
          </ac:spMkLst>
        </pc:spChg>
        <pc:picChg chg="add mod">
          <ac:chgData name="Joel Teixeira Cunha" userId="195451ac3a5e8dfd" providerId="LiveId" clId="{2A4D4AF3-9DC9-4CE5-AE1A-E96DDBF3EED9}" dt="2026-09-15T01:19:59.602" v="4010" actId="1076"/>
          <ac:picMkLst>
            <pc:docMk/>
            <pc:sldMk cId="2642068441" sldId="382"/>
            <ac:picMk id="5" creationId="{54455847-33F2-F525-D4B0-CE64E1D168DA}"/>
          </ac:picMkLst>
        </pc:picChg>
      </pc:sldChg>
      <pc:sldChg chg="addSp delSp modSp add mod">
        <pc:chgData name="Joel Teixeira Cunha" userId="195451ac3a5e8dfd" providerId="LiveId" clId="{2A4D4AF3-9DC9-4CE5-AE1A-E96DDBF3EED9}" dt="2026-09-15T01:24:39.664" v="4055" actId="20577"/>
        <pc:sldMkLst>
          <pc:docMk/>
          <pc:sldMk cId="3836661794" sldId="383"/>
        </pc:sldMkLst>
        <pc:spChg chg="mod">
          <ac:chgData name="Joel Teixeira Cunha" userId="195451ac3a5e8dfd" providerId="LiveId" clId="{2A4D4AF3-9DC9-4CE5-AE1A-E96DDBF3EED9}" dt="2026-09-15T01:24:39.664" v="4055" actId="20577"/>
          <ac:spMkLst>
            <pc:docMk/>
            <pc:sldMk cId="3836661794" sldId="383"/>
            <ac:spMk id="3" creationId="{5E2CA4BC-1DD8-CF81-62CC-4EC4070A4F50}"/>
          </ac:spMkLst>
        </pc:spChg>
        <pc:picChg chg="add mod">
          <ac:chgData name="Joel Teixeira Cunha" userId="195451ac3a5e8dfd" providerId="LiveId" clId="{2A4D4AF3-9DC9-4CE5-AE1A-E96DDBF3EED9}" dt="2026-09-15T01:22:36.217" v="4037" actId="1076"/>
          <ac:picMkLst>
            <pc:docMk/>
            <pc:sldMk cId="3836661794" sldId="383"/>
            <ac:picMk id="6" creationId="{D6E34C98-DB7E-A526-0AB2-291978930D14}"/>
          </ac:picMkLst>
        </pc:picChg>
        <pc:picChg chg="add mod">
          <ac:chgData name="Joel Teixeira Cunha" userId="195451ac3a5e8dfd" providerId="LiveId" clId="{2A4D4AF3-9DC9-4CE5-AE1A-E96DDBF3EED9}" dt="2026-09-15T01:24:06.051" v="4040" actId="14100"/>
          <ac:picMkLst>
            <pc:docMk/>
            <pc:sldMk cId="3836661794" sldId="383"/>
            <ac:picMk id="8" creationId="{FCCB0DBE-1797-636C-2BB6-81D1CE7ECB98}"/>
          </ac:picMkLst>
        </pc:picChg>
      </pc:sldChg>
      <pc:sldChg chg="delSp modSp add mod">
        <pc:chgData name="Joel Teixeira Cunha" userId="195451ac3a5e8dfd" providerId="LiveId" clId="{2A4D4AF3-9DC9-4CE5-AE1A-E96DDBF3EED9}" dt="2026-09-15T01:31:24.342" v="4095" actId="20577"/>
        <pc:sldMkLst>
          <pc:docMk/>
          <pc:sldMk cId="262017620" sldId="384"/>
        </pc:sldMkLst>
        <pc:spChg chg="mod">
          <ac:chgData name="Joel Teixeira Cunha" userId="195451ac3a5e8dfd" providerId="LiveId" clId="{2A4D4AF3-9DC9-4CE5-AE1A-E96DDBF3EED9}" dt="2026-09-15T01:31:24.342" v="4095" actId="20577"/>
          <ac:spMkLst>
            <pc:docMk/>
            <pc:sldMk cId="262017620" sldId="384"/>
            <ac:spMk id="3" creationId="{F2C0941C-5226-B7B3-54A6-538341EE10C8}"/>
          </ac:spMkLst>
        </pc:spChg>
      </pc:sldChg>
      <pc:sldChg chg="modSp add mod">
        <pc:chgData name="Joel Teixeira Cunha" userId="195451ac3a5e8dfd" providerId="LiveId" clId="{2A4D4AF3-9DC9-4CE5-AE1A-E96DDBF3EED9}" dt="2026-09-15T01:35:19.528" v="4169" actId="20577"/>
        <pc:sldMkLst>
          <pc:docMk/>
          <pc:sldMk cId="2712687351" sldId="385"/>
        </pc:sldMkLst>
        <pc:spChg chg="mod">
          <ac:chgData name="Joel Teixeira Cunha" userId="195451ac3a5e8dfd" providerId="LiveId" clId="{2A4D4AF3-9DC9-4CE5-AE1A-E96DDBF3EED9}" dt="2026-09-15T01:35:19.528" v="4169" actId="20577"/>
          <ac:spMkLst>
            <pc:docMk/>
            <pc:sldMk cId="2712687351" sldId="385"/>
            <ac:spMk id="3" creationId="{E29D4D21-7CE5-EC8C-5546-3CC46D4073BE}"/>
          </ac:spMkLst>
        </pc:spChg>
      </pc:sldChg>
      <pc:sldChg chg="addSp delSp modSp add mod">
        <pc:chgData name="Joel Teixeira Cunha" userId="195451ac3a5e8dfd" providerId="LiveId" clId="{2A4D4AF3-9DC9-4CE5-AE1A-E96DDBF3EED9}" dt="2026-09-15T01:36:38.379" v="4176" actId="1076"/>
        <pc:sldMkLst>
          <pc:docMk/>
          <pc:sldMk cId="2900181458" sldId="386"/>
        </pc:sldMkLst>
        <pc:spChg chg="add mod">
          <ac:chgData name="Joel Teixeira Cunha" userId="195451ac3a5e8dfd" providerId="LiveId" clId="{2A4D4AF3-9DC9-4CE5-AE1A-E96DDBF3EED9}" dt="2026-09-15T01:36:26.407" v="4172" actId="478"/>
          <ac:spMkLst>
            <pc:docMk/>
            <pc:sldMk cId="2900181458" sldId="386"/>
            <ac:spMk id="5" creationId="{80BF4FB8-15C2-51EB-98CE-4CF68F839512}"/>
          </ac:spMkLst>
        </pc:spChg>
        <pc:picChg chg="add mod">
          <ac:chgData name="Joel Teixeira Cunha" userId="195451ac3a5e8dfd" providerId="LiveId" clId="{2A4D4AF3-9DC9-4CE5-AE1A-E96DDBF3EED9}" dt="2026-09-15T01:36:38.379" v="4176" actId="1076"/>
          <ac:picMkLst>
            <pc:docMk/>
            <pc:sldMk cId="2900181458" sldId="386"/>
            <ac:picMk id="7" creationId="{6399DE18-B120-F077-3F5B-24BD5DA1EC5C}"/>
          </ac:picMkLst>
        </pc:picChg>
      </pc:sldChg>
      <pc:sldChg chg="addSp modSp add mod ord">
        <pc:chgData name="Joel Teixeira Cunha" userId="195451ac3a5e8dfd" providerId="LiveId" clId="{2A4D4AF3-9DC9-4CE5-AE1A-E96DDBF3EED9}" dt="2026-09-15T01:41:26.010" v="4201" actId="20577"/>
        <pc:sldMkLst>
          <pc:docMk/>
          <pc:sldMk cId="4099596561" sldId="387"/>
        </pc:sldMkLst>
        <pc:spChg chg="mod">
          <ac:chgData name="Joel Teixeira Cunha" userId="195451ac3a5e8dfd" providerId="LiveId" clId="{2A4D4AF3-9DC9-4CE5-AE1A-E96DDBF3EED9}" dt="2026-09-15T01:41:26.010" v="4201" actId="20577"/>
          <ac:spMkLst>
            <pc:docMk/>
            <pc:sldMk cId="4099596561" sldId="387"/>
            <ac:spMk id="3" creationId="{6406244C-CEE4-25C3-E41F-608871B4105A}"/>
          </ac:spMkLst>
        </pc:spChg>
        <pc:picChg chg="add mod">
          <ac:chgData name="Joel Teixeira Cunha" userId="195451ac3a5e8dfd" providerId="LiveId" clId="{2A4D4AF3-9DC9-4CE5-AE1A-E96DDBF3EED9}" dt="2026-09-15T01:38:45.959" v="4183" actId="14100"/>
          <ac:picMkLst>
            <pc:docMk/>
            <pc:sldMk cId="4099596561" sldId="387"/>
            <ac:picMk id="5" creationId="{04B77FF2-2F16-200B-508A-7AE295FDC28F}"/>
          </ac:picMkLst>
        </pc:picChg>
      </pc:sldChg>
      <pc:sldChg chg="delSp add mod">
        <pc:chgData name="Joel Teixeira Cunha" userId="195451ac3a5e8dfd" providerId="LiveId" clId="{2A4D4AF3-9DC9-4CE5-AE1A-E96DDBF3EED9}" dt="2026-09-15T01:40:17.388" v="4185" actId="478"/>
        <pc:sldMkLst>
          <pc:docMk/>
          <pc:sldMk cId="633111762" sldId="388"/>
        </pc:sldMkLst>
      </pc:sldChg>
      <pc:sldChg chg="delSp modSp add mod">
        <pc:chgData name="Joel Teixeira Cunha" userId="195451ac3a5e8dfd" providerId="LiveId" clId="{2A4D4AF3-9DC9-4CE5-AE1A-E96DDBF3EED9}" dt="2026-09-15T01:44:27.804" v="4243" actId="20577"/>
        <pc:sldMkLst>
          <pc:docMk/>
          <pc:sldMk cId="649958385" sldId="389"/>
        </pc:sldMkLst>
        <pc:spChg chg="mod">
          <ac:chgData name="Joel Teixeira Cunha" userId="195451ac3a5e8dfd" providerId="LiveId" clId="{2A4D4AF3-9DC9-4CE5-AE1A-E96DDBF3EED9}" dt="2026-09-15T01:44:27.804" v="4243" actId="20577"/>
          <ac:spMkLst>
            <pc:docMk/>
            <pc:sldMk cId="649958385" sldId="389"/>
            <ac:spMk id="3" creationId="{9EEA3BF6-4358-6B45-D762-3C535F36045D}"/>
          </ac:spMkLst>
        </pc:spChg>
      </pc:sldChg>
      <pc:sldChg chg="modSp add mod">
        <pc:chgData name="Joel Teixeira Cunha" userId="195451ac3a5e8dfd" providerId="LiveId" clId="{2A4D4AF3-9DC9-4CE5-AE1A-E96DDBF3EED9}" dt="2026-09-15T01:48:56.689" v="4291" actId="20577"/>
        <pc:sldMkLst>
          <pc:docMk/>
          <pc:sldMk cId="1664708867" sldId="390"/>
        </pc:sldMkLst>
        <pc:spChg chg="mod">
          <ac:chgData name="Joel Teixeira Cunha" userId="195451ac3a5e8dfd" providerId="LiveId" clId="{2A4D4AF3-9DC9-4CE5-AE1A-E96DDBF3EED9}" dt="2026-09-15T01:48:56.689" v="4291" actId="20577"/>
          <ac:spMkLst>
            <pc:docMk/>
            <pc:sldMk cId="1664708867" sldId="390"/>
            <ac:spMk id="3" creationId="{D0479FEF-859A-9FC8-781F-FFC9A3E55514}"/>
          </ac:spMkLst>
        </pc:spChg>
      </pc:sldChg>
      <pc:sldChg chg="addSp delSp modSp new mod">
        <pc:chgData name="Joel Teixeira Cunha" userId="195451ac3a5e8dfd" providerId="LiveId" clId="{2A4D4AF3-9DC9-4CE5-AE1A-E96DDBF3EED9}" dt="2026-10-06T00:18:19.389" v="4350" actId="207"/>
        <pc:sldMkLst>
          <pc:docMk/>
          <pc:sldMk cId="2194262349" sldId="391"/>
        </pc:sldMkLst>
        <pc:spChg chg="del">
          <ac:chgData name="Joel Teixeira Cunha" userId="195451ac3a5e8dfd" providerId="LiveId" clId="{2A4D4AF3-9DC9-4CE5-AE1A-E96DDBF3EED9}" dt="2026-10-05T23:51:16.452" v="4295" actId="478"/>
          <ac:spMkLst>
            <pc:docMk/>
            <pc:sldMk cId="2194262349" sldId="391"/>
            <ac:spMk id="2" creationId="{8CC09F3E-DE8C-8D4D-B159-BFE706E5E696}"/>
          </ac:spMkLst>
        </pc:spChg>
        <pc:spChg chg="del">
          <ac:chgData name="Joel Teixeira Cunha" userId="195451ac3a5e8dfd" providerId="LiveId" clId="{2A4D4AF3-9DC9-4CE5-AE1A-E96DDBF3EED9}" dt="2026-10-05T23:51:11.551" v="4294"/>
          <ac:spMkLst>
            <pc:docMk/>
            <pc:sldMk cId="2194262349" sldId="391"/>
            <ac:spMk id="3" creationId="{2563E1BC-F477-30B3-72AF-0E3772143DDB}"/>
          </ac:spMkLst>
        </pc:spChg>
        <pc:spChg chg="add del mod">
          <ac:chgData name="Joel Teixeira Cunha" userId="195451ac3a5e8dfd" providerId="LiveId" clId="{2A4D4AF3-9DC9-4CE5-AE1A-E96DDBF3EED9}" dt="2026-10-05T23:55:07.461" v="4300" actId="478"/>
          <ac:spMkLst>
            <pc:docMk/>
            <pc:sldMk cId="2194262349" sldId="391"/>
            <ac:spMk id="9" creationId="{D513DA0E-4C17-3751-C87D-C1049CAE2753}"/>
          </ac:spMkLst>
        </pc:spChg>
        <pc:spChg chg="add mod">
          <ac:chgData name="Joel Teixeira Cunha" userId="195451ac3a5e8dfd" providerId="LiveId" clId="{2A4D4AF3-9DC9-4CE5-AE1A-E96DDBF3EED9}" dt="2026-10-06T00:18:19.389" v="4350" actId="207"/>
          <ac:spMkLst>
            <pc:docMk/>
            <pc:sldMk cId="2194262349" sldId="391"/>
            <ac:spMk id="10" creationId="{64926B7D-C2D2-2F2A-1C25-80F4BB797595}"/>
          </ac:spMkLst>
        </pc:spChg>
        <pc:spChg chg="add del mod">
          <ac:chgData name="Joel Teixeira Cunha" userId="195451ac3a5e8dfd" providerId="LiveId" clId="{2A4D4AF3-9DC9-4CE5-AE1A-E96DDBF3EED9}" dt="2026-10-06T00:16:33.270" v="4344" actId="478"/>
          <ac:spMkLst>
            <pc:docMk/>
            <pc:sldMk cId="2194262349" sldId="391"/>
            <ac:spMk id="11" creationId="{7532CF40-6F98-8161-4125-9DCE4D861ED2}"/>
          </ac:spMkLst>
        </pc:spChg>
        <pc:picChg chg="add del mod ord">
          <ac:chgData name="Joel Teixeira Cunha" userId="195451ac3a5e8dfd" providerId="LiveId" clId="{2A4D4AF3-9DC9-4CE5-AE1A-E96DDBF3EED9}" dt="2026-10-05T23:55:02.739" v="4299" actId="478"/>
          <ac:picMkLst>
            <pc:docMk/>
            <pc:sldMk cId="2194262349" sldId="391"/>
            <ac:picMk id="5" creationId="{916E763C-3CBC-85CF-91D0-F3C56E75A17F}"/>
          </ac:picMkLst>
        </pc:picChg>
        <pc:picChg chg="add del mod">
          <ac:chgData name="Joel Teixeira Cunha" userId="195451ac3a5e8dfd" providerId="LiveId" clId="{2A4D4AF3-9DC9-4CE5-AE1A-E96DDBF3EED9}" dt="2026-10-05T23:58:49.892" v="4312" actId="478"/>
          <ac:picMkLst>
            <pc:docMk/>
            <pc:sldMk cId="2194262349" sldId="391"/>
            <ac:picMk id="7" creationId="{2973A4C2-979A-B52D-BDCD-C7DBE5CB9019}"/>
          </ac:picMkLst>
        </pc:picChg>
        <pc:picChg chg="add del mod">
          <ac:chgData name="Joel Teixeira Cunha" userId="195451ac3a5e8dfd" providerId="LiveId" clId="{2A4D4AF3-9DC9-4CE5-AE1A-E96DDBF3EED9}" dt="2026-10-06T00:01:17.345" v="4339" actId="478"/>
          <ac:picMkLst>
            <pc:docMk/>
            <pc:sldMk cId="2194262349" sldId="391"/>
            <ac:picMk id="13" creationId="{FE429F06-2BBB-13B4-18E9-A1E1151EAF15}"/>
          </ac:picMkLst>
        </pc:picChg>
        <pc:picChg chg="add del mod">
          <ac:chgData name="Joel Teixeira Cunha" userId="195451ac3a5e8dfd" providerId="LiveId" clId="{2A4D4AF3-9DC9-4CE5-AE1A-E96DDBF3EED9}" dt="2026-10-06T00:16:00.240" v="4341" actId="478"/>
          <ac:picMkLst>
            <pc:docMk/>
            <pc:sldMk cId="2194262349" sldId="391"/>
            <ac:picMk id="15" creationId="{AFDD3DAB-C46F-34DB-1AB2-C39B60266508}"/>
          </ac:picMkLst>
        </pc:picChg>
        <pc:picChg chg="add mod ord">
          <ac:chgData name="Joel Teixeira Cunha" userId="195451ac3a5e8dfd" providerId="LiveId" clId="{2A4D4AF3-9DC9-4CE5-AE1A-E96DDBF3EED9}" dt="2026-10-06T00:16:50.921" v="4347" actId="14100"/>
          <ac:picMkLst>
            <pc:docMk/>
            <pc:sldMk cId="2194262349" sldId="391"/>
            <ac:picMk id="17" creationId="{633275C6-7BFE-A842-E034-33D0189858C7}"/>
          </ac:picMkLst>
        </pc:picChg>
      </pc:sldChg>
      <pc:sldChg chg="new del">
        <pc:chgData name="Joel Teixeira Cunha" userId="195451ac3a5e8dfd" providerId="LiveId" clId="{2A4D4AF3-9DC9-4CE5-AE1A-E96DDBF3EED9}" dt="2026-10-06T00:20:56.212" v="4353" actId="47"/>
        <pc:sldMkLst>
          <pc:docMk/>
          <pc:sldMk cId="4124794657" sldId="392"/>
        </pc:sldMkLst>
      </pc:sldChg>
      <pc:sldChg chg="modSp new mod">
        <pc:chgData name="Joel Teixeira Cunha" userId="195451ac3a5e8dfd" providerId="LiveId" clId="{2A4D4AF3-9DC9-4CE5-AE1A-E96DDBF3EED9}" dt="2026-10-06T00:22:26.697" v="4472" actId="20577"/>
        <pc:sldMkLst>
          <pc:docMk/>
          <pc:sldMk cId="1632057277" sldId="393"/>
        </pc:sldMkLst>
        <pc:spChg chg="mod">
          <ac:chgData name="Joel Teixeira Cunha" userId="195451ac3a5e8dfd" providerId="LiveId" clId="{2A4D4AF3-9DC9-4CE5-AE1A-E96DDBF3EED9}" dt="2026-10-06T00:21:28.385" v="4387" actId="20577"/>
          <ac:spMkLst>
            <pc:docMk/>
            <pc:sldMk cId="1632057277" sldId="393"/>
            <ac:spMk id="2" creationId="{078B2EC9-5681-D570-5622-5481561E052F}"/>
          </ac:spMkLst>
        </pc:spChg>
        <pc:spChg chg="mod">
          <ac:chgData name="Joel Teixeira Cunha" userId="195451ac3a5e8dfd" providerId="LiveId" clId="{2A4D4AF3-9DC9-4CE5-AE1A-E96DDBF3EED9}" dt="2026-10-06T00:22:26.697" v="4472" actId="20577"/>
          <ac:spMkLst>
            <pc:docMk/>
            <pc:sldMk cId="1632057277" sldId="393"/>
            <ac:spMk id="3" creationId="{B42A2F1D-6E70-3AD3-5A76-29B8B474D70C}"/>
          </ac:spMkLst>
        </pc:spChg>
      </pc:sldChg>
      <pc:sldChg chg="addSp delSp modSp add mod">
        <pc:chgData name="Joel Teixeira Cunha" userId="195451ac3a5e8dfd" providerId="LiveId" clId="{2A4D4AF3-9DC9-4CE5-AE1A-E96DDBF3EED9}" dt="2026-10-06T00:27:38.850" v="4526" actId="1076"/>
        <pc:sldMkLst>
          <pc:docMk/>
          <pc:sldMk cId="2676506980" sldId="394"/>
        </pc:sldMkLst>
        <pc:spChg chg="del mod">
          <ac:chgData name="Joel Teixeira Cunha" userId="195451ac3a5e8dfd" providerId="LiveId" clId="{2A4D4AF3-9DC9-4CE5-AE1A-E96DDBF3EED9}" dt="2026-10-06T00:25:04.218" v="4475" actId="22"/>
          <ac:spMkLst>
            <pc:docMk/>
            <pc:sldMk cId="2676506980" sldId="394"/>
            <ac:spMk id="3" creationId="{4A7D8041-5B99-B1C6-1E21-8440C06AFD3E}"/>
          </ac:spMkLst>
        </pc:spChg>
        <pc:picChg chg="add mod ord">
          <ac:chgData name="Joel Teixeira Cunha" userId="195451ac3a5e8dfd" providerId="LiveId" clId="{2A4D4AF3-9DC9-4CE5-AE1A-E96DDBF3EED9}" dt="2026-10-06T00:27:38.850" v="4526" actId="1076"/>
          <ac:picMkLst>
            <pc:docMk/>
            <pc:sldMk cId="2676506980" sldId="394"/>
            <ac:picMk id="5" creationId="{424DD2C8-E939-E3EE-C6F3-F4373D5BE0D0}"/>
          </ac:picMkLst>
        </pc:picChg>
        <pc:picChg chg="add del mod">
          <ac:chgData name="Joel Teixeira Cunha" userId="195451ac3a5e8dfd" providerId="LiveId" clId="{2A4D4AF3-9DC9-4CE5-AE1A-E96DDBF3EED9}" dt="2026-10-06T00:27:35.052" v="4525" actId="478"/>
          <ac:picMkLst>
            <pc:docMk/>
            <pc:sldMk cId="2676506980" sldId="394"/>
            <ac:picMk id="6" creationId="{198B671C-E0CA-5432-0D28-1517D832EAA9}"/>
          </ac:picMkLst>
        </pc:picChg>
      </pc:sldChg>
      <pc:sldChg chg="addSp delSp modSp add mod">
        <pc:chgData name="Joel Teixeira Cunha" userId="195451ac3a5e8dfd" providerId="LiveId" clId="{2A4D4AF3-9DC9-4CE5-AE1A-E96DDBF3EED9}" dt="2026-10-06T00:27:47.197" v="4528" actId="478"/>
        <pc:sldMkLst>
          <pc:docMk/>
          <pc:sldMk cId="2398380635" sldId="395"/>
        </pc:sldMkLst>
        <pc:spChg chg="add del mod">
          <ac:chgData name="Joel Teixeira Cunha" userId="195451ac3a5e8dfd" providerId="LiveId" clId="{2A4D4AF3-9DC9-4CE5-AE1A-E96DDBF3EED9}" dt="2026-10-06T00:27:47.197" v="4528" actId="478"/>
          <ac:spMkLst>
            <pc:docMk/>
            <pc:sldMk cId="2398380635" sldId="395"/>
            <ac:spMk id="4" creationId="{492E112D-5290-93E8-7616-D44A9C01747D}"/>
          </ac:spMkLst>
        </pc:spChg>
        <pc:picChg chg="del">
          <ac:chgData name="Joel Teixeira Cunha" userId="195451ac3a5e8dfd" providerId="LiveId" clId="{2A4D4AF3-9DC9-4CE5-AE1A-E96DDBF3EED9}" dt="2026-10-06T00:27:43.973" v="4527" actId="478"/>
          <ac:picMkLst>
            <pc:docMk/>
            <pc:sldMk cId="2398380635" sldId="395"/>
            <ac:picMk id="5" creationId="{F05C546C-C0D5-3763-C4A7-F57C397F24B3}"/>
          </ac:picMkLst>
        </pc:picChg>
      </pc:sldChg>
      <pc:sldChg chg="addSp modSp add mod">
        <pc:chgData name="Joel Teixeira Cunha" userId="195451ac3a5e8dfd" providerId="LiveId" clId="{2A4D4AF3-9DC9-4CE5-AE1A-E96DDBF3EED9}" dt="2026-10-06T00:31:50.350" v="4553" actId="20577"/>
        <pc:sldMkLst>
          <pc:docMk/>
          <pc:sldMk cId="3333107887" sldId="396"/>
        </pc:sldMkLst>
        <pc:spChg chg="add mod">
          <ac:chgData name="Joel Teixeira Cunha" userId="195451ac3a5e8dfd" providerId="LiveId" clId="{2A4D4AF3-9DC9-4CE5-AE1A-E96DDBF3EED9}" dt="2026-10-06T00:31:50.350" v="4553" actId="20577"/>
          <ac:spMkLst>
            <pc:docMk/>
            <pc:sldMk cId="3333107887" sldId="396"/>
            <ac:spMk id="4" creationId="{3D8FA175-DD57-7D1C-8188-1F389CC330E8}"/>
          </ac:spMkLst>
        </pc:spChg>
      </pc:sldChg>
      <pc:sldChg chg="modSp add mod">
        <pc:chgData name="Joel Teixeira Cunha" userId="195451ac3a5e8dfd" providerId="LiveId" clId="{2A4D4AF3-9DC9-4CE5-AE1A-E96DDBF3EED9}" dt="2026-10-06T00:35:11.130" v="4619"/>
        <pc:sldMkLst>
          <pc:docMk/>
          <pc:sldMk cId="1213543543" sldId="397"/>
        </pc:sldMkLst>
        <pc:spChg chg="mod">
          <ac:chgData name="Joel Teixeira Cunha" userId="195451ac3a5e8dfd" providerId="LiveId" clId="{2A4D4AF3-9DC9-4CE5-AE1A-E96DDBF3EED9}" dt="2026-10-06T00:35:11.130" v="4619"/>
          <ac:spMkLst>
            <pc:docMk/>
            <pc:sldMk cId="1213543543" sldId="397"/>
            <ac:spMk id="3" creationId="{9FA670D5-679C-5BD9-9705-87A212D98014}"/>
          </ac:spMkLst>
        </pc:spChg>
      </pc:sldChg>
      <pc:sldChg chg="modSp add mod">
        <pc:chgData name="Joel Teixeira Cunha" userId="195451ac3a5e8dfd" providerId="LiveId" clId="{2A4D4AF3-9DC9-4CE5-AE1A-E96DDBF3EED9}" dt="2026-10-06T00:39:39.182" v="4708" actId="5793"/>
        <pc:sldMkLst>
          <pc:docMk/>
          <pc:sldMk cId="3544742439" sldId="398"/>
        </pc:sldMkLst>
        <pc:spChg chg="mod">
          <ac:chgData name="Joel Teixeira Cunha" userId="195451ac3a5e8dfd" providerId="LiveId" clId="{2A4D4AF3-9DC9-4CE5-AE1A-E96DDBF3EED9}" dt="2026-10-06T00:39:39.182" v="4708" actId="5793"/>
          <ac:spMkLst>
            <pc:docMk/>
            <pc:sldMk cId="3544742439" sldId="398"/>
            <ac:spMk id="3" creationId="{D88EEAE7-102F-BD92-3573-379A05D0EEA6}"/>
          </ac:spMkLst>
        </pc:spChg>
      </pc:sldChg>
      <pc:sldChg chg="addSp modSp add mod">
        <pc:chgData name="Joel Teixeira Cunha" userId="195451ac3a5e8dfd" providerId="LiveId" clId="{2A4D4AF3-9DC9-4CE5-AE1A-E96DDBF3EED9}" dt="2026-10-06T00:40:48.171" v="4735" actId="20577"/>
        <pc:sldMkLst>
          <pc:docMk/>
          <pc:sldMk cId="2247910163" sldId="399"/>
        </pc:sldMkLst>
        <pc:spChg chg="mod">
          <ac:chgData name="Joel Teixeira Cunha" userId="195451ac3a5e8dfd" providerId="LiveId" clId="{2A4D4AF3-9DC9-4CE5-AE1A-E96DDBF3EED9}" dt="2026-10-06T00:40:48.171" v="4735" actId="20577"/>
          <ac:spMkLst>
            <pc:docMk/>
            <pc:sldMk cId="2247910163" sldId="399"/>
            <ac:spMk id="3" creationId="{1BA12E11-8A1E-0713-7E66-ABE7BBA51476}"/>
          </ac:spMkLst>
        </pc:spChg>
        <pc:picChg chg="add mod">
          <ac:chgData name="Joel Teixeira Cunha" userId="195451ac3a5e8dfd" providerId="LiveId" clId="{2A4D4AF3-9DC9-4CE5-AE1A-E96DDBF3EED9}" dt="2026-10-06T00:40:26.185" v="4715" actId="1076"/>
          <ac:picMkLst>
            <pc:docMk/>
            <pc:sldMk cId="2247910163" sldId="399"/>
            <ac:picMk id="4" creationId="{5AA9E494-A6F2-AF6D-D197-3637EAB6BE3E}"/>
          </ac:picMkLst>
        </pc:picChg>
      </pc:sldChg>
      <pc:sldChg chg="modSp add mod">
        <pc:chgData name="Joel Teixeira Cunha" userId="195451ac3a5e8dfd" providerId="LiveId" clId="{2A4D4AF3-9DC9-4CE5-AE1A-E96DDBF3EED9}" dt="2026-10-06T00:47:37.551" v="4782" actId="20577"/>
        <pc:sldMkLst>
          <pc:docMk/>
          <pc:sldMk cId="2661329474" sldId="400"/>
        </pc:sldMkLst>
        <pc:spChg chg="mod">
          <ac:chgData name="Joel Teixeira Cunha" userId="195451ac3a5e8dfd" providerId="LiveId" clId="{2A4D4AF3-9DC9-4CE5-AE1A-E96DDBF3EED9}" dt="2026-10-06T00:47:37.551" v="4782" actId="20577"/>
          <ac:spMkLst>
            <pc:docMk/>
            <pc:sldMk cId="2661329474" sldId="400"/>
            <ac:spMk id="3" creationId="{755C0DEA-CF74-AA87-F507-F20E12A40EA0}"/>
          </ac:spMkLst>
        </pc:spChg>
      </pc:sldChg>
      <pc:sldChg chg="modSp add mod">
        <pc:chgData name="Joel Teixeira Cunha" userId="195451ac3a5e8dfd" providerId="LiveId" clId="{2A4D4AF3-9DC9-4CE5-AE1A-E96DDBF3EED9}" dt="2026-10-06T11:03:29.383" v="4800" actId="20577"/>
        <pc:sldMkLst>
          <pc:docMk/>
          <pc:sldMk cId="1021663497" sldId="401"/>
        </pc:sldMkLst>
        <pc:spChg chg="mod">
          <ac:chgData name="Joel Teixeira Cunha" userId="195451ac3a5e8dfd" providerId="LiveId" clId="{2A4D4AF3-9DC9-4CE5-AE1A-E96DDBF3EED9}" dt="2026-10-06T11:03:29.383" v="4800" actId="20577"/>
          <ac:spMkLst>
            <pc:docMk/>
            <pc:sldMk cId="1021663497" sldId="401"/>
            <ac:spMk id="3" creationId="{F9D46BE3-0AE8-50F5-D03E-03A1954915FF}"/>
          </ac:spMkLst>
        </pc:spChg>
      </pc:sldChg>
      <pc:sldChg chg="addSp delSp modSp add mod">
        <pc:chgData name="Joel Teixeira Cunha" userId="195451ac3a5e8dfd" providerId="LiveId" clId="{2A4D4AF3-9DC9-4CE5-AE1A-E96DDBF3EED9}" dt="2026-10-06T11:04:45.720" v="4805" actId="1076"/>
        <pc:sldMkLst>
          <pc:docMk/>
          <pc:sldMk cId="1956258996" sldId="402"/>
        </pc:sldMkLst>
        <pc:spChg chg="del">
          <ac:chgData name="Joel Teixeira Cunha" userId="195451ac3a5e8dfd" providerId="LiveId" clId="{2A4D4AF3-9DC9-4CE5-AE1A-E96DDBF3EED9}" dt="2026-10-06T11:04:34.798" v="4802" actId="478"/>
          <ac:spMkLst>
            <pc:docMk/>
            <pc:sldMk cId="1956258996" sldId="402"/>
            <ac:spMk id="3" creationId="{CABFDB7C-CB00-350B-F03A-B5C708E17EDB}"/>
          </ac:spMkLst>
        </pc:spChg>
        <pc:spChg chg="add mod">
          <ac:chgData name="Joel Teixeira Cunha" userId="195451ac3a5e8dfd" providerId="LiveId" clId="{2A4D4AF3-9DC9-4CE5-AE1A-E96DDBF3EED9}" dt="2026-10-06T11:04:34.798" v="4802" actId="478"/>
          <ac:spMkLst>
            <pc:docMk/>
            <pc:sldMk cId="1956258996" sldId="402"/>
            <ac:spMk id="5" creationId="{BD72B3BD-39C9-C6C4-94D0-F05EC5C035C3}"/>
          </ac:spMkLst>
        </pc:spChg>
        <pc:picChg chg="add mod">
          <ac:chgData name="Joel Teixeira Cunha" userId="195451ac3a5e8dfd" providerId="LiveId" clId="{2A4D4AF3-9DC9-4CE5-AE1A-E96DDBF3EED9}" dt="2026-10-06T11:04:45.720" v="4805" actId="1076"/>
          <ac:picMkLst>
            <pc:docMk/>
            <pc:sldMk cId="1956258996" sldId="402"/>
            <ac:picMk id="6" creationId="{56E8019A-CFB1-C838-C165-8A8706D24DA2}"/>
          </ac:picMkLst>
        </pc:picChg>
      </pc:sldChg>
      <pc:sldChg chg="modSp add mod">
        <pc:chgData name="Joel Teixeira Cunha" userId="195451ac3a5e8dfd" providerId="LiveId" clId="{2A4D4AF3-9DC9-4CE5-AE1A-E96DDBF3EED9}" dt="2026-10-06T11:08:28.477" v="4819" actId="20577"/>
        <pc:sldMkLst>
          <pc:docMk/>
          <pc:sldMk cId="3257913014" sldId="403"/>
        </pc:sldMkLst>
        <pc:spChg chg="mod">
          <ac:chgData name="Joel Teixeira Cunha" userId="195451ac3a5e8dfd" providerId="LiveId" clId="{2A4D4AF3-9DC9-4CE5-AE1A-E96DDBF3EED9}" dt="2026-10-06T11:08:28.477" v="4819" actId="20577"/>
          <ac:spMkLst>
            <pc:docMk/>
            <pc:sldMk cId="3257913014" sldId="403"/>
            <ac:spMk id="3" creationId="{C999CB5D-134B-DE23-821A-5DECAD2C6CF5}"/>
          </ac:spMkLst>
        </pc:spChg>
      </pc:sldChg>
      <pc:sldChg chg="modSp new mod">
        <pc:chgData name="Joel Teixeira Cunha" userId="195451ac3a5e8dfd" providerId="LiveId" clId="{2A4D4AF3-9DC9-4CE5-AE1A-E96DDBF3EED9}" dt="2026-10-06T11:10:49.757" v="5036" actId="20577"/>
        <pc:sldMkLst>
          <pc:docMk/>
          <pc:sldMk cId="3425234754" sldId="404"/>
        </pc:sldMkLst>
        <pc:spChg chg="mod">
          <ac:chgData name="Joel Teixeira Cunha" userId="195451ac3a5e8dfd" providerId="LiveId" clId="{2A4D4AF3-9DC9-4CE5-AE1A-E96DDBF3EED9}" dt="2026-10-06T11:09:21.531" v="4837" actId="20577"/>
          <ac:spMkLst>
            <pc:docMk/>
            <pc:sldMk cId="3425234754" sldId="404"/>
            <ac:spMk id="2" creationId="{44771149-4AD1-735B-B9AF-66A1E336937C}"/>
          </ac:spMkLst>
        </pc:spChg>
        <pc:spChg chg="mod">
          <ac:chgData name="Joel Teixeira Cunha" userId="195451ac3a5e8dfd" providerId="LiveId" clId="{2A4D4AF3-9DC9-4CE5-AE1A-E96DDBF3EED9}" dt="2026-10-06T11:10:49.757" v="5036" actId="20577"/>
          <ac:spMkLst>
            <pc:docMk/>
            <pc:sldMk cId="3425234754" sldId="404"/>
            <ac:spMk id="3" creationId="{81711681-9C33-9ACC-DD6D-C505911A17D0}"/>
          </ac:spMkLst>
        </pc:spChg>
      </pc:sldChg>
      <pc:sldChg chg="addSp modSp add mod">
        <pc:chgData name="Joel Teixeira Cunha" userId="195451ac3a5e8dfd" providerId="LiveId" clId="{2A4D4AF3-9DC9-4CE5-AE1A-E96DDBF3EED9}" dt="2026-10-06T11:14:53.282" v="5042" actId="14100"/>
        <pc:sldMkLst>
          <pc:docMk/>
          <pc:sldMk cId="1681606416" sldId="405"/>
        </pc:sldMkLst>
        <pc:spChg chg="mod">
          <ac:chgData name="Joel Teixeira Cunha" userId="195451ac3a5e8dfd" providerId="LiveId" clId="{2A4D4AF3-9DC9-4CE5-AE1A-E96DDBF3EED9}" dt="2026-10-06T11:14:43.074" v="5039" actId="6549"/>
          <ac:spMkLst>
            <pc:docMk/>
            <pc:sldMk cId="1681606416" sldId="405"/>
            <ac:spMk id="3" creationId="{2EB1D7C1-98E2-B377-1D6D-27258E3E708A}"/>
          </ac:spMkLst>
        </pc:spChg>
        <pc:picChg chg="add mod">
          <ac:chgData name="Joel Teixeira Cunha" userId="195451ac3a5e8dfd" providerId="LiveId" clId="{2A4D4AF3-9DC9-4CE5-AE1A-E96DDBF3EED9}" dt="2026-10-06T11:14:53.282" v="5042" actId="14100"/>
          <ac:picMkLst>
            <pc:docMk/>
            <pc:sldMk cId="1681606416" sldId="405"/>
            <ac:picMk id="4" creationId="{21160461-1704-A665-DF5C-BC2370B1CAA8}"/>
          </ac:picMkLst>
        </pc:picChg>
      </pc:sldChg>
      <pc:sldChg chg="addSp delSp modSp add mod">
        <pc:chgData name="Joel Teixeira Cunha" userId="195451ac3a5e8dfd" providerId="LiveId" clId="{2A4D4AF3-9DC9-4CE5-AE1A-E96DDBF3EED9}" dt="2026-10-06T11:26:13.422" v="5245" actId="20577"/>
        <pc:sldMkLst>
          <pc:docMk/>
          <pc:sldMk cId="2113979442" sldId="406"/>
        </pc:sldMkLst>
        <pc:spChg chg="mod">
          <ac:chgData name="Joel Teixeira Cunha" userId="195451ac3a5e8dfd" providerId="LiveId" clId="{2A4D4AF3-9DC9-4CE5-AE1A-E96DDBF3EED9}" dt="2026-10-06T11:26:13.422" v="5245" actId="20577"/>
          <ac:spMkLst>
            <pc:docMk/>
            <pc:sldMk cId="2113979442" sldId="406"/>
            <ac:spMk id="3" creationId="{9FA6A7EB-91A0-188C-FBB7-6F522758B98C}"/>
          </ac:spMkLst>
        </pc:spChg>
        <pc:picChg chg="del">
          <ac:chgData name="Joel Teixeira Cunha" userId="195451ac3a5e8dfd" providerId="LiveId" clId="{2A4D4AF3-9DC9-4CE5-AE1A-E96DDBF3EED9}" dt="2026-10-06T11:15:20.013" v="5061" actId="478"/>
          <ac:picMkLst>
            <pc:docMk/>
            <pc:sldMk cId="2113979442" sldId="406"/>
            <ac:picMk id="4" creationId="{0FDEE7FC-869E-4926-A613-1F4B93262FF7}"/>
          </ac:picMkLst>
        </pc:picChg>
        <pc:picChg chg="add mod">
          <ac:chgData name="Joel Teixeira Cunha" userId="195451ac3a5e8dfd" providerId="LiveId" clId="{2A4D4AF3-9DC9-4CE5-AE1A-E96DDBF3EED9}" dt="2026-10-06T11:21:59.446" v="5159" actId="1038"/>
          <ac:picMkLst>
            <pc:docMk/>
            <pc:sldMk cId="2113979442" sldId="406"/>
            <ac:picMk id="5" creationId="{30E91ACB-80B2-92B2-CDE9-EC8874C30E13}"/>
          </ac:picMkLst>
        </pc:picChg>
      </pc:sldChg>
      <pc:sldChg chg="addSp modSp new mod">
        <pc:chgData name="Joel Teixeira Cunha" userId="195451ac3a5e8dfd" providerId="LiveId" clId="{2A4D4AF3-9DC9-4CE5-AE1A-E96DDBF3EED9}" dt="2026-10-06T11:33:08.805" v="5462" actId="1076"/>
        <pc:sldMkLst>
          <pc:docMk/>
          <pc:sldMk cId="465710579" sldId="407"/>
        </pc:sldMkLst>
        <pc:spChg chg="mod">
          <ac:chgData name="Joel Teixeira Cunha" userId="195451ac3a5e8dfd" providerId="LiveId" clId="{2A4D4AF3-9DC9-4CE5-AE1A-E96DDBF3EED9}" dt="2026-10-06T11:29:29.652" v="5268" actId="20577"/>
          <ac:spMkLst>
            <pc:docMk/>
            <pc:sldMk cId="465710579" sldId="407"/>
            <ac:spMk id="2" creationId="{5EC71BB3-4D2E-9908-D7E5-BD0D2C30780D}"/>
          </ac:spMkLst>
        </pc:spChg>
        <pc:spChg chg="mod">
          <ac:chgData name="Joel Teixeira Cunha" userId="195451ac3a5e8dfd" providerId="LiveId" clId="{2A4D4AF3-9DC9-4CE5-AE1A-E96DDBF3EED9}" dt="2026-10-06T11:31:33.431" v="5459" actId="20577"/>
          <ac:spMkLst>
            <pc:docMk/>
            <pc:sldMk cId="465710579" sldId="407"/>
            <ac:spMk id="3" creationId="{AC12D67C-B30E-D7F1-C21C-39E1EF8AA2FA}"/>
          </ac:spMkLst>
        </pc:spChg>
        <pc:picChg chg="add mod">
          <ac:chgData name="Joel Teixeira Cunha" userId="195451ac3a5e8dfd" providerId="LiveId" clId="{2A4D4AF3-9DC9-4CE5-AE1A-E96DDBF3EED9}" dt="2026-10-06T11:33:08.805" v="5462" actId="1076"/>
          <ac:picMkLst>
            <pc:docMk/>
            <pc:sldMk cId="465710579" sldId="407"/>
            <ac:picMk id="4" creationId="{3BC13554-A62A-34D7-075F-C9CCEA8AA9C5}"/>
          </ac:picMkLst>
        </pc:picChg>
      </pc:sldChg>
      <pc:sldChg chg="addSp modSp new mod">
        <pc:chgData name="Joel Teixeira Cunha" userId="195451ac3a5e8dfd" providerId="LiveId" clId="{2A4D4AF3-9DC9-4CE5-AE1A-E96DDBF3EED9}" dt="2026-10-06T11:35:57.648" v="5486" actId="1076"/>
        <pc:sldMkLst>
          <pc:docMk/>
          <pc:sldMk cId="1051707294" sldId="408"/>
        </pc:sldMkLst>
        <pc:spChg chg="mod">
          <ac:chgData name="Joel Teixeira Cunha" userId="195451ac3a5e8dfd" providerId="LiveId" clId="{2A4D4AF3-9DC9-4CE5-AE1A-E96DDBF3EED9}" dt="2026-10-06T11:33:57.138" v="5480" actId="20577"/>
          <ac:spMkLst>
            <pc:docMk/>
            <pc:sldMk cId="1051707294" sldId="408"/>
            <ac:spMk id="2" creationId="{C648DAF4-F5E4-217E-5F6F-578232785263}"/>
          </ac:spMkLst>
        </pc:spChg>
        <pc:spChg chg="mod">
          <ac:chgData name="Joel Teixeira Cunha" userId="195451ac3a5e8dfd" providerId="LiveId" clId="{2A4D4AF3-9DC9-4CE5-AE1A-E96DDBF3EED9}" dt="2026-10-06T11:34:23.142" v="5482" actId="20577"/>
          <ac:spMkLst>
            <pc:docMk/>
            <pc:sldMk cId="1051707294" sldId="408"/>
            <ac:spMk id="3" creationId="{63297319-B209-D789-E4E7-89F83A312789}"/>
          </ac:spMkLst>
        </pc:spChg>
        <pc:picChg chg="add mod">
          <ac:chgData name="Joel Teixeira Cunha" userId="195451ac3a5e8dfd" providerId="LiveId" clId="{2A4D4AF3-9DC9-4CE5-AE1A-E96DDBF3EED9}" dt="2026-10-06T11:35:43.448" v="5484" actId="1076"/>
          <ac:picMkLst>
            <pc:docMk/>
            <pc:sldMk cId="1051707294" sldId="408"/>
            <ac:picMk id="4" creationId="{1200B9D5-5D2C-EDAF-7FDE-64DA0254263F}"/>
          </ac:picMkLst>
        </pc:picChg>
        <pc:picChg chg="add mod">
          <ac:chgData name="Joel Teixeira Cunha" userId="195451ac3a5e8dfd" providerId="LiveId" clId="{2A4D4AF3-9DC9-4CE5-AE1A-E96DDBF3EED9}" dt="2026-10-06T11:35:57.648" v="5486" actId="1076"/>
          <ac:picMkLst>
            <pc:docMk/>
            <pc:sldMk cId="1051707294" sldId="408"/>
            <ac:picMk id="5" creationId="{84E8E777-6643-A9D8-4CD9-BDAD9FBBCECE}"/>
          </ac:picMkLst>
        </pc:picChg>
      </pc:sldChg>
      <pc:sldChg chg="addSp delSp modSp add mod">
        <pc:chgData name="Joel Teixeira Cunha" userId="195451ac3a5e8dfd" providerId="LiveId" clId="{2A4D4AF3-9DC9-4CE5-AE1A-E96DDBF3EED9}" dt="2026-10-06T11:38:31.868" v="5492" actId="14100"/>
        <pc:sldMkLst>
          <pc:docMk/>
          <pc:sldMk cId="3743054392" sldId="409"/>
        </pc:sldMkLst>
        <pc:picChg chg="del">
          <ac:chgData name="Joel Teixeira Cunha" userId="195451ac3a5e8dfd" providerId="LiveId" clId="{2A4D4AF3-9DC9-4CE5-AE1A-E96DDBF3EED9}" dt="2026-10-06T11:38:21.280" v="5488" actId="478"/>
          <ac:picMkLst>
            <pc:docMk/>
            <pc:sldMk cId="3743054392" sldId="409"/>
            <ac:picMk id="4" creationId="{73BF7EC1-1079-C0BC-BE53-CE0F77891A06}"/>
          </ac:picMkLst>
        </pc:picChg>
        <pc:picChg chg="del">
          <ac:chgData name="Joel Teixeira Cunha" userId="195451ac3a5e8dfd" providerId="LiveId" clId="{2A4D4AF3-9DC9-4CE5-AE1A-E96DDBF3EED9}" dt="2026-10-06T11:38:22.057" v="5489" actId="478"/>
          <ac:picMkLst>
            <pc:docMk/>
            <pc:sldMk cId="3743054392" sldId="409"/>
            <ac:picMk id="5" creationId="{54907820-B357-0530-F8A4-44D1752C2E5B}"/>
          </ac:picMkLst>
        </pc:picChg>
        <pc:picChg chg="add mod">
          <ac:chgData name="Joel Teixeira Cunha" userId="195451ac3a5e8dfd" providerId="LiveId" clId="{2A4D4AF3-9DC9-4CE5-AE1A-E96DDBF3EED9}" dt="2026-10-06T11:38:31.868" v="5492" actId="14100"/>
          <ac:picMkLst>
            <pc:docMk/>
            <pc:sldMk cId="3743054392" sldId="409"/>
            <ac:picMk id="6" creationId="{F5774632-AB6F-3888-EC15-542EAB0EA217}"/>
          </ac:picMkLst>
        </pc:picChg>
      </pc:sldChg>
      <pc:sldChg chg="modSp new mod">
        <pc:chgData name="Joel Teixeira Cunha" userId="195451ac3a5e8dfd" providerId="LiveId" clId="{2A4D4AF3-9DC9-4CE5-AE1A-E96DDBF3EED9}" dt="2026-10-06T11:42:13.425" v="5726" actId="20577"/>
        <pc:sldMkLst>
          <pc:docMk/>
          <pc:sldMk cId="2411634795" sldId="410"/>
        </pc:sldMkLst>
        <pc:spChg chg="mod">
          <ac:chgData name="Joel Teixeira Cunha" userId="195451ac3a5e8dfd" providerId="LiveId" clId="{2A4D4AF3-9DC9-4CE5-AE1A-E96DDBF3EED9}" dt="2026-10-06T11:38:57.414" v="5529" actId="20577"/>
          <ac:spMkLst>
            <pc:docMk/>
            <pc:sldMk cId="2411634795" sldId="410"/>
            <ac:spMk id="2" creationId="{EF0E9BD8-1D07-1434-7AD7-74D29EFC20BA}"/>
          </ac:spMkLst>
        </pc:spChg>
        <pc:spChg chg="mod">
          <ac:chgData name="Joel Teixeira Cunha" userId="195451ac3a5e8dfd" providerId="LiveId" clId="{2A4D4AF3-9DC9-4CE5-AE1A-E96DDBF3EED9}" dt="2026-10-06T11:42:13.425" v="5726" actId="20577"/>
          <ac:spMkLst>
            <pc:docMk/>
            <pc:sldMk cId="2411634795" sldId="410"/>
            <ac:spMk id="3" creationId="{55621B1C-E764-B137-8942-F171D620719E}"/>
          </ac:spMkLst>
        </pc:spChg>
      </pc:sldChg>
      <pc:sldChg chg="modSp add mod">
        <pc:chgData name="Joel Teixeira Cunha" userId="195451ac3a5e8dfd" providerId="LiveId" clId="{2A4D4AF3-9DC9-4CE5-AE1A-E96DDBF3EED9}" dt="2026-10-06T11:44:13.037" v="5785" actId="20577"/>
        <pc:sldMkLst>
          <pc:docMk/>
          <pc:sldMk cId="1845641859" sldId="411"/>
        </pc:sldMkLst>
        <pc:spChg chg="mod">
          <ac:chgData name="Joel Teixeira Cunha" userId="195451ac3a5e8dfd" providerId="LiveId" clId="{2A4D4AF3-9DC9-4CE5-AE1A-E96DDBF3EED9}" dt="2026-10-06T11:44:13.037" v="5785" actId="20577"/>
          <ac:spMkLst>
            <pc:docMk/>
            <pc:sldMk cId="1845641859" sldId="411"/>
            <ac:spMk id="3" creationId="{26809350-00FC-36C7-9FCE-E77F3E4C3C2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503D04-C97E-4622-AE07-D0307CB3B4CA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icontext_colorful5" csCatId="colorful" phldr="1"/>
      <dgm:spPr/>
      <dgm:t>
        <a:bodyPr rtlCol="0"/>
        <a:lstStyle/>
        <a:p>
          <a:pPr rtl="0"/>
          <a:endParaRPr lang="en-US"/>
        </a:p>
      </dgm:t>
    </dgm:pt>
    <dgm:pt modelId="{AAC263CB-8256-4B03-92FE-1622698FB3E9}">
      <dgm:prSet/>
      <dgm:spPr/>
      <dgm:t>
        <a:bodyPr rtlCol="0"/>
        <a:lstStyle/>
        <a:p>
          <a:pPr rtl="0">
            <a:lnSpc>
              <a:spcPct val="100000"/>
            </a:lnSpc>
          </a:pPr>
          <a:r>
            <a:rPr lang="pt-BR" noProof="0" dirty="0"/>
            <a:t>EXPLORAÇÃO</a:t>
          </a:r>
        </a:p>
      </dgm:t>
    </dgm:pt>
    <dgm:pt modelId="{0BEED663-FC38-4EAD-940F-4C475D2C87DB}" type="parTrans" cxnId="{C5E94186-9CB6-4C42-92B3-C546CC53A7B9}">
      <dgm:prSet/>
      <dgm:spPr/>
      <dgm:t>
        <a:bodyPr rtlCol="0"/>
        <a:lstStyle/>
        <a:p>
          <a:pPr rtl="0"/>
          <a:endParaRPr lang="pt-BR" noProof="0" dirty="0"/>
        </a:p>
      </dgm:t>
    </dgm:pt>
    <dgm:pt modelId="{808B76D0-8EC7-469A-93AC-7A6017188A9D}" type="sibTrans" cxnId="{C5E94186-9CB6-4C42-92B3-C546CC53A7B9}">
      <dgm:prSet/>
      <dgm:spPr/>
      <dgm:t>
        <a:bodyPr rtlCol="0"/>
        <a:lstStyle/>
        <a:p>
          <a:pPr rtl="0"/>
          <a:endParaRPr lang="pt-BR" noProof="0" dirty="0"/>
        </a:p>
      </dgm:t>
    </dgm:pt>
    <dgm:pt modelId="{4E8D2E69-0173-4BD3-B96A-7A9C5DD12B47}">
      <dgm:prSet/>
      <dgm:spPr/>
      <dgm:t>
        <a:bodyPr rtlCol="0"/>
        <a:lstStyle/>
        <a:p>
          <a:pPr rtl="0">
            <a:lnSpc>
              <a:spcPct val="100000"/>
            </a:lnSpc>
          </a:pPr>
          <a:r>
            <a:rPr lang="pt-BR" noProof="0" dirty="0"/>
            <a:t>IMPLEMENTAÇÃO</a:t>
          </a:r>
        </a:p>
      </dgm:t>
    </dgm:pt>
    <dgm:pt modelId="{B954BF22-E3B3-4A1C-802E-590228BE2D9C}" type="parTrans" cxnId="{0F866C41-EB5F-47BD-A2CD-A58671F15B67}">
      <dgm:prSet/>
      <dgm:spPr/>
      <dgm:t>
        <a:bodyPr rtlCol="0"/>
        <a:lstStyle/>
        <a:p>
          <a:pPr rtl="0"/>
          <a:endParaRPr lang="pt-BR" noProof="0" dirty="0"/>
        </a:p>
      </dgm:t>
    </dgm:pt>
    <dgm:pt modelId="{FEF1E80E-8A9E-4B0A-817C-2A4CFDCF3FB2}" type="sibTrans" cxnId="{0F866C41-EB5F-47BD-A2CD-A58671F15B67}">
      <dgm:prSet/>
      <dgm:spPr/>
      <dgm:t>
        <a:bodyPr rtlCol="0"/>
        <a:lstStyle/>
        <a:p>
          <a:pPr rtl="0"/>
          <a:endParaRPr lang="pt-BR" noProof="0" dirty="0"/>
        </a:p>
      </dgm:t>
    </dgm:pt>
    <dgm:pt modelId="{93A6A030-ABAB-4EFA-B539-0FDB3E07C1EF}">
      <dgm:prSet/>
      <dgm:spPr/>
      <dgm:t>
        <a:bodyPr rtlCol="0"/>
        <a:lstStyle/>
        <a:p>
          <a:pPr rtl="0">
            <a:lnSpc>
              <a:spcPct val="100000"/>
            </a:lnSpc>
          </a:pPr>
          <a:r>
            <a:rPr lang="pt-BR" noProof="0" dirty="0"/>
            <a:t>DEFININDO UM BOM DESIGN</a:t>
          </a:r>
        </a:p>
      </dgm:t>
    </dgm:pt>
    <dgm:pt modelId="{3D674B97-6DC6-4A12-85BA-0976D3064237}" type="parTrans" cxnId="{4B40C8DC-6B57-4F5B-8440-7241C649700B}">
      <dgm:prSet/>
      <dgm:spPr/>
      <dgm:t>
        <a:bodyPr rtlCol="0"/>
        <a:lstStyle/>
        <a:p>
          <a:pPr rtl="0"/>
          <a:endParaRPr lang="pt-BR" noProof="0" dirty="0"/>
        </a:p>
      </dgm:t>
    </dgm:pt>
    <dgm:pt modelId="{BFE0749E-E343-4A6F-BD09-2810EE6B4BD7}" type="sibTrans" cxnId="{4B40C8DC-6B57-4F5B-8440-7241C649700B}">
      <dgm:prSet/>
      <dgm:spPr/>
      <dgm:t>
        <a:bodyPr rtlCol="0"/>
        <a:lstStyle/>
        <a:p>
          <a:pPr rtl="0"/>
          <a:endParaRPr lang="pt-BR" noProof="0" dirty="0"/>
        </a:p>
      </dgm:t>
    </dgm:pt>
    <dgm:pt modelId="{76D56F19-2708-49DB-8F92-D8AC45F23A9A}">
      <dgm:prSet/>
      <dgm:spPr/>
      <dgm:t>
        <a:bodyPr rtlCol="0"/>
        <a:lstStyle/>
        <a:p>
          <a:pPr rtl="0">
            <a:lnSpc>
              <a:spcPct val="100000"/>
            </a:lnSpc>
          </a:pPr>
          <a:r>
            <a:rPr lang="pt-BR" noProof="0" dirty="0"/>
            <a:t>ANATOMIA DE UMA PÁGINA WEB</a:t>
          </a:r>
        </a:p>
      </dgm:t>
    </dgm:pt>
    <dgm:pt modelId="{9D5610C2-0A12-494A-AC46-8DD17C08B09F}" type="parTrans" cxnId="{32E90211-17E0-4DDF-9274-DD3E46D811B8}">
      <dgm:prSet/>
      <dgm:spPr/>
      <dgm:t>
        <a:bodyPr rtlCol="0"/>
        <a:lstStyle/>
        <a:p>
          <a:pPr rtl="0"/>
          <a:endParaRPr lang="pt-BR" noProof="0" dirty="0"/>
        </a:p>
      </dgm:t>
    </dgm:pt>
    <dgm:pt modelId="{EC8965A1-F755-4945-8AAC-DCF1F68F011E}" type="sibTrans" cxnId="{32E90211-17E0-4DDF-9274-DD3E46D811B8}">
      <dgm:prSet/>
      <dgm:spPr/>
      <dgm:t>
        <a:bodyPr rtlCol="0"/>
        <a:lstStyle/>
        <a:p>
          <a:pPr rtl="0"/>
          <a:endParaRPr lang="pt-BR" noProof="0" dirty="0"/>
        </a:p>
      </dgm:t>
    </dgm:pt>
    <dgm:pt modelId="{62F8266B-222B-4ACF-8613-2C8D6376E5BD}" type="pres">
      <dgm:prSet presAssocID="{D4503D04-C97E-4622-AE07-D0307CB3B4CA}" presName="root" presStyleCnt="0">
        <dgm:presLayoutVars>
          <dgm:dir/>
          <dgm:resizeHandles val="exact"/>
        </dgm:presLayoutVars>
      </dgm:prSet>
      <dgm:spPr/>
    </dgm:pt>
    <dgm:pt modelId="{34FD8F56-D6B7-417A-923A-010E4B5FF0CD}" type="pres">
      <dgm:prSet presAssocID="{AAC263CB-8256-4B03-92FE-1622698FB3E9}" presName="compNode" presStyleCnt="0"/>
      <dgm:spPr/>
    </dgm:pt>
    <dgm:pt modelId="{08450877-B8C0-4FE2-B6DB-B88F20C8574C}" type="pres">
      <dgm:prSet presAssocID="{AAC263CB-8256-4B03-92FE-1622698FB3E9}" presName="bgRect" presStyleLbl="bgShp" presStyleIdx="0" presStyleCnt="4"/>
      <dgm:spPr/>
    </dgm:pt>
    <dgm:pt modelId="{BB7E5F84-64F2-4718-BACC-301BBCDC9D3A}" type="pres">
      <dgm:prSet presAssocID="{AAC263CB-8256-4B03-92FE-1622698FB3E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7E1920B-5F09-4283-BAA8-B0012E66F14A}" type="pres">
      <dgm:prSet presAssocID="{AAC263CB-8256-4B03-92FE-1622698FB3E9}" presName="spaceRect" presStyleCnt="0"/>
      <dgm:spPr/>
    </dgm:pt>
    <dgm:pt modelId="{30E9CA6C-A0F7-4BE8-9B77-EE5C9EF005B7}" type="pres">
      <dgm:prSet presAssocID="{AAC263CB-8256-4B03-92FE-1622698FB3E9}" presName="parTx" presStyleLbl="revTx" presStyleIdx="0" presStyleCnt="4">
        <dgm:presLayoutVars>
          <dgm:chMax val="0"/>
          <dgm:chPref val="0"/>
        </dgm:presLayoutVars>
      </dgm:prSet>
      <dgm:spPr/>
    </dgm:pt>
    <dgm:pt modelId="{75497209-36D8-474C-9F50-43B26DAE367B}" type="pres">
      <dgm:prSet presAssocID="{808B76D0-8EC7-469A-93AC-7A6017188A9D}" presName="sibTrans" presStyleCnt="0"/>
      <dgm:spPr/>
    </dgm:pt>
    <dgm:pt modelId="{FB1D870E-AB7C-40E3-AA7F-3EC612E6F71C}" type="pres">
      <dgm:prSet presAssocID="{4E8D2E69-0173-4BD3-B96A-7A9C5DD12B47}" presName="compNode" presStyleCnt="0"/>
      <dgm:spPr/>
    </dgm:pt>
    <dgm:pt modelId="{B9A40EDB-694E-464C-8356-AEE8787842F2}" type="pres">
      <dgm:prSet presAssocID="{4E8D2E69-0173-4BD3-B96A-7A9C5DD12B47}" presName="bgRect" presStyleLbl="bgShp" presStyleIdx="1" presStyleCnt="4"/>
      <dgm:spPr/>
    </dgm:pt>
    <dgm:pt modelId="{8B8D9FA1-74BB-4EA5-B65F-49B870DCE4EB}" type="pres">
      <dgm:prSet presAssocID="{4E8D2E69-0173-4BD3-B96A-7A9C5DD12B4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E35795C-E288-448C-BF98-006011EF35C1}" type="pres">
      <dgm:prSet presAssocID="{4E8D2E69-0173-4BD3-B96A-7A9C5DD12B47}" presName="spaceRect" presStyleCnt="0"/>
      <dgm:spPr/>
    </dgm:pt>
    <dgm:pt modelId="{4258831D-960B-4D2D-A65E-513B92084C01}" type="pres">
      <dgm:prSet presAssocID="{4E8D2E69-0173-4BD3-B96A-7A9C5DD12B47}" presName="parTx" presStyleLbl="revTx" presStyleIdx="1" presStyleCnt="4">
        <dgm:presLayoutVars>
          <dgm:chMax val="0"/>
          <dgm:chPref val="0"/>
        </dgm:presLayoutVars>
      </dgm:prSet>
      <dgm:spPr/>
    </dgm:pt>
    <dgm:pt modelId="{4849AED6-7C24-47EC-B39A-6EC2169AAAEC}" type="pres">
      <dgm:prSet presAssocID="{FEF1E80E-8A9E-4B0A-817C-2A4CFDCF3FB2}" presName="sibTrans" presStyleCnt="0"/>
      <dgm:spPr/>
    </dgm:pt>
    <dgm:pt modelId="{344EF6F7-386A-468B-9D66-8046D158DFC8}" type="pres">
      <dgm:prSet presAssocID="{93A6A030-ABAB-4EFA-B539-0FDB3E07C1EF}" presName="compNode" presStyleCnt="0"/>
      <dgm:spPr/>
    </dgm:pt>
    <dgm:pt modelId="{9DD6C5DE-B838-492F-B4A8-49E4DE8C5CF5}" type="pres">
      <dgm:prSet presAssocID="{93A6A030-ABAB-4EFA-B539-0FDB3E07C1EF}" presName="bgRect" presStyleLbl="bgShp" presStyleIdx="2" presStyleCnt="4"/>
      <dgm:spPr/>
    </dgm:pt>
    <dgm:pt modelId="{3CD2D8A7-CAF8-4A2F-A324-BDF8CFA66908}" type="pres">
      <dgm:prSet presAssocID="{93A6A030-ABAB-4EFA-B539-0FDB3E07C1E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43D945D-C209-4E7A-8D9B-BCF7127718D8}" type="pres">
      <dgm:prSet presAssocID="{93A6A030-ABAB-4EFA-B539-0FDB3E07C1EF}" presName="spaceRect" presStyleCnt="0"/>
      <dgm:spPr/>
    </dgm:pt>
    <dgm:pt modelId="{ECA97BE5-E798-4AEE-9404-4E43192F5136}" type="pres">
      <dgm:prSet presAssocID="{93A6A030-ABAB-4EFA-B539-0FDB3E07C1EF}" presName="parTx" presStyleLbl="revTx" presStyleIdx="2" presStyleCnt="4">
        <dgm:presLayoutVars>
          <dgm:chMax val="0"/>
          <dgm:chPref val="0"/>
        </dgm:presLayoutVars>
      </dgm:prSet>
      <dgm:spPr/>
    </dgm:pt>
    <dgm:pt modelId="{C890CB11-26D0-4233-A3B2-FE616B33A810}" type="pres">
      <dgm:prSet presAssocID="{BFE0749E-E343-4A6F-BD09-2810EE6B4BD7}" presName="sibTrans" presStyleCnt="0"/>
      <dgm:spPr/>
    </dgm:pt>
    <dgm:pt modelId="{25E7A08B-6A02-49D1-8C9D-FCE9C92A1AC5}" type="pres">
      <dgm:prSet presAssocID="{76D56F19-2708-49DB-8F92-D8AC45F23A9A}" presName="compNode" presStyleCnt="0"/>
      <dgm:spPr/>
    </dgm:pt>
    <dgm:pt modelId="{984F7435-4B4C-47D4-B03E-CC8917BDBDBB}" type="pres">
      <dgm:prSet presAssocID="{76D56F19-2708-49DB-8F92-D8AC45F23A9A}" presName="bgRect" presStyleLbl="bgShp" presStyleIdx="3" presStyleCnt="4"/>
      <dgm:spPr/>
    </dgm:pt>
    <dgm:pt modelId="{D3271400-E9D7-4481-8E98-7952ACC542C2}" type="pres">
      <dgm:prSet presAssocID="{76D56F19-2708-49DB-8F92-D8AC45F23A9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EB25EBA-A880-4DC7-908E-0568144BFBD1}" type="pres">
      <dgm:prSet presAssocID="{76D56F19-2708-49DB-8F92-D8AC45F23A9A}" presName="spaceRect" presStyleCnt="0"/>
      <dgm:spPr/>
    </dgm:pt>
    <dgm:pt modelId="{F2EA86B5-8AF6-40E0-BDDB-512587036C8B}" type="pres">
      <dgm:prSet presAssocID="{76D56F19-2708-49DB-8F92-D8AC45F23A9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6D0D100-FB07-44A7-8ACC-C79CE174D2D7}" type="presOf" srcId="{D4503D04-C97E-4622-AE07-D0307CB3B4CA}" destId="{62F8266B-222B-4ACF-8613-2C8D6376E5BD}" srcOrd="0" destOrd="0" presId="urn:microsoft.com/office/officeart/2018/2/layout/IconVerticalSolidList"/>
    <dgm:cxn modelId="{9DACE70A-4FEB-433A-900C-46A1377C5716}" type="presOf" srcId="{AAC263CB-8256-4B03-92FE-1622698FB3E9}" destId="{30E9CA6C-A0F7-4BE8-9B77-EE5C9EF005B7}" srcOrd="0" destOrd="0" presId="urn:microsoft.com/office/officeart/2018/2/layout/IconVerticalSolidList"/>
    <dgm:cxn modelId="{32E90211-17E0-4DDF-9274-DD3E46D811B8}" srcId="{D4503D04-C97E-4622-AE07-D0307CB3B4CA}" destId="{76D56F19-2708-49DB-8F92-D8AC45F23A9A}" srcOrd="3" destOrd="0" parTransId="{9D5610C2-0A12-494A-AC46-8DD17C08B09F}" sibTransId="{EC8965A1-F755-4945-8AAC-DCF1F68F011E}"/>
    <dgm:cxn modelId="{AFE0042D-F8CA-4F9C-B780-65750DC87CEC}" type="presOf" srcId="{76D56F19-2708-49DB-8F92-D8AC45F23A9A}" destId="{F2EA86B5-8AF6-40E0-BDDB-512587036C8B}" srcOrd="0" destOrd="0" presId="urn:microsoft.com/office/officeart/2018/2/layout/IconVerticalSolidList"/>
    <dgm:cxn modelId="{0F866C41-EB5F-47BD-A2CD-A58671F15B67}" srcId="{D4503D04-C97E-4622-AE07-D0307CB3B4CA}" destId="{4E8D2E69-0173-4BD3-B96A-7A9C5DD12B47}" srcOrd="1" destOrd="0" parTransId="{B954BF22-E3B3-4A1C-802E-590228BE2D9C}" sibTransId="{FEF1E80E-8A9E-4B0A-817C-2A4CFDCF3FB2}"/>
    <dgm:cxn modelId="{F236B04A-0845-45D6-B99A-98DBB252074F}" type="presOf" srcId="{4E8D2E69-0173-4BD3-B96A-7A9C5DD12B47}" destId="{4258831D-960B-4D2D-A65E-513B92084C01}" srcOrd="0" destOrd="0" presId="urn:microsoft.com/office/officeart/2018/2/layout/IconVerticalSolidList"/>
    <dgm:cxn modelId="{C5E94186-9CB6-4C42-92B3-C546CC53A7B9}" srcId="{D4503D04-C97E-4622-AE07-D0307CB3B4CA}" destId="{AAC263CB-8256-4B03-92FE-1622698FB3E9}" srcOrd="0" destOrd="0" parTransId="{0BEED663-FC38-4EAD-940F-4C475D2C87DB}" sibTransId="{808B76D0-8EC7-469A-93AC-7A6017188A9D}"/>
    <dgm:cxn modelId="{F248DBAE-9D9B-462B-998C-1322E596929F}" type="presOf" srcId="{93A6A030-ABAB-4EFA-B539-0FDB3E07C1EF}" destId="{ECA97BE5-E798-4AEE-9404-4E43192F5136}" srcOrd="0" destOrd="0" presId="urn:microsoft.com/office/officeart/2018/2/layout/IconVerticalSolidList"/>
    <dgm:cxn modelId="{4B40C8DC-6B57-4F5B-8440-7241C649700B}" srcId="{D4503D04-C97E-4622-AE07-D0307CB3B4CA}" destId="{93A6A030-ABAB-4EFA-B539-0FDB3E07C1EF}" srcOrd="2" destOrd="0" parTransId="{3D674B97-6DC6-4A12-85BA-0976D3064237}" sibTransId="{BFE0749E-E343-4A6F-BD09-2810EE6B4BD7}"/>
    <dgm:cxn modelId="{8CA5002F-95FA-436B-966F-7B8BA099F8C0}" type="presParOf" srcId="{62F8266B-222B-4ACF-8613-2C8D6376E5BD}" destId="{34FD8F56-D6B7-417A-923A-010E4B5FF0CD}" srcOrd="0" destOrd="0" presId="urn:microsoft.com/office/officeart/2018/2/layout/IconVerticalSolidList"/>
    <dgm:cxn modelId="{3E84FCFB-F2E6-496C-9124-8BCCBAF7581E}" type="presParOf" srcId="{34FD8F56-D6B7-417A-923A-010E4B5FF0CD}" destId="{08450877-B8C0-4FE2-B6DB-B88F20C8574C}" srcOrd="0" destOrd="0" presId="urn:microsoft.com/office/officeart/2018/2/layout/IconVerticalSolidList"/>
    <dgm:cxn modelId="{5AAB9D67-2058-4B02-ACAE-9010504CFA8D}" type="presParOf" srcId="{34FD8F56-D6B7-417A-923A-010E4B5FF0CD}" destId="{BB7E5F84-64F2-4718-BACC-301BBCDC9D3A}" srcOrd="1" destOrd="0" presId="urn:microsoft.com/office/officeart/2018/2/layout/IconVerticalSolidList"/>
    <dgm:cxn modelId="{60640685-0CF7-48C8-A8EF-553779FD445D}" type="presParOf" srcId="{34FD8F56-D6B7-417A-923A-010E4B5FF0CD}" destId="{D7E1920B-5F09-4283-BAA8-B0012E66F14A}" srcOrd="2" destOrd="0" presId="urn:microsoft.com/office/officeart/2018/2/layout/IconVerticalSolidList"/>
    <dgm:cxn modelId="{6FE12CDB-D070-4C97-8AE1-997533C4A8AB}" type="presParOf" srcId="{34FD8F56-D6B7-417A-923A-010E4B5FF0CD}" destId="{30E9CA6C-A0F7-4BE8-9B77-EE5C9EF005B7}" srcOrd="3" destOrd="0" presId="urn:microsoft.com/office/officeart/2018/2/layout/IconVerticalSolidList"/>
    <dgm:cxn modelId="{89F45104-A3AE-4AA5-8376-E3E54E87635B}" type="presParOf" srcId="{62F8266B-222B-4ACF-8613-2C8D6376E5BD}" destId="{75497209-36D8-474C-9F50-43B26DAE367B}" srcOrd="1" destOrd="0" presId="urn:microsoft.com/office/officeart/2018/2/layout/IconVerticalSolidList"/>
    <dgm:cxn modelId="{F53E1E41-AFBD-4F42-B954-620893A507D2}" type="presParOf" srcId="{62F8266B-222B-4ACF-8613-2C8D6376E5BD}" destId="{FB1D870E-AB7C-40E3-AA7F-3EC612E6F71C}" srcOrd="2" destOrd="0" presId="urn:microsoft.com/office/officeart/2018/2/layout/IconVerticalSolidList"/>
    <dgm:cxn modelId="{ECA76847-5AC0-4769-B961-BD6FBFA2D2F3}" type="presParOf" srcId="{FB1D870E-AB7C-40E3-AA7F-3EC612E6F71C}" destId="{B9A40EDB-694E-464C-8356-AEE8787842F2}" srcOrd="0" destOrd="0" presId="urn:microsoft.com/office/officeart/2018/2/layout/IconVerticalSolidList"/>
    <dgm:cxn modelId="{E9875D05-A2CA-4949-A0EC-E659F0F81F59}" type="presParOf" srcId="{FB1D870E-AB7C-40E3-AA7F-3EC612E6F71C}" destId="{8B8D9FA1-74BB-4EA5-B65F-49B870DCE4EB}" srcOrd="1" destOrd="0" presId="urn:microsoft.com/office/officeart/2018/2/layout/IconVerticalSolidList"/>
    <dgm:cxn modelId="{F5076418-1870-49C0-A665-417CB498B6D1}" type="presParOf" srcId="{FB1D870E-AB7C-40E3-AA7F-3EC612E6F71C}" destId="{FE35795C-E288-448C-BF98-006011EF35C1}" srcOrd="2" destOrd="0" presId="urn:microsoft.com/office/officeart/2018/2/layout/IconVerticalSolidList"/>
    <dgm:cxn modelId="{8B6CAA02-B9CA-4F7C-A2C4-A376BC49C448}" type="presParOf" srcId="{FB1D870E-AB7C-40E3-AA7F-3EC612E6F71C}" destId="{4258831D-960B-4D2D-A65E-513B92084C01}" srcOrd="3" destOrd="0" presId="urn:microsoft.com/office/officeart/2018/2/layout/IconVerticalSolidList"/>
    <dgm:cxn modelId="{E0C19E8F-4424-498D-BF7E-0A0F0C17D704}" type="presParOf" srcId="{62F8266B-222B-4ACF-8613-2C8D6376E5BD}" destId="{4849AED6-7C24-47EC-B39A-6EC2169AAAEC}" srcOrd="3" destOrd="0" presId="urn:microsoft.com/office/officeart/2018/2/layout/IconVerticalSolidList"/>
    <dgm:cxn modelId="{ACAF17C3-08FB-4404-A101-25BA91958FE3}" type="presParOf" srcId="{62F8266B-222B-4ACF-8613-2C8D6376E5BD}" destId="{344EF6F7-386A-468B-9D66-8046D158DFC8}" srcOrd="4" destOrd="0" presId="urn:microsoft.com/office/officeart/2018/2/layout/IconVerticalSolidList"/>
    <dgm:cxn modelId="{AE175CB6-3E51-4A45-BD69-A7AF096E3CD2}" type="presParOf" srcId="{344EF6F7-386A-468B-9D66-8046D158DFC8}" destId="{9DD6C5DE-B838-492F-B4A8-49E4DE8C5CF5}" srcOrd="0" destOrd="0" presId="urn:microsoft.com/office/officeart/2018/2/layout/IconVerticalSolidList"/>
    <dgm:cxn modelId="{C47334AD-33FF-468C-A41A-E7D0A23484A4}" type="presParOf" srcId="{344EF6F7-386A-468B-9D66-8046D158DFC8}" destId="{3CD2D8A7-CAF8-4A2F-A324-BDF8CFA66908}" srcOrd="1" destOrd="0" presId="urn:microsoft.com/office/officeart/2018/2/layout/IconVerticalSolidList"/>
    <dgm:cxn modelId="{37DF411B-B4A0-44B4-B176-F8958F165CB2}" type="presParOf" srcId="{344EF6F7-386A-468B-9D66-8046D158DFC8}" destId="{343D945D-C209-4E7A-8D9B-BCF7127718D8}" srcOrd="2" destOrd="0" presId="urn:microsoft.com/office/officeart/2018/2/layout/IconVerticalSolidList"/>
    <dgm:cxn modelId="{43DACBA9-774B-4E88-8510-9265E34E50FA}" type="presParOf" srcId="{344EF6F7-386A-468B-9D66-8046D158DFC8}" destId="{ECA97BE5-E798-4AEE-9404-4E43192F5136}" srcOrd="3" destOrd="0" presId="urn:microsoft.com/office/officeart/2018/2/layout/IconVerticalSolidList"/>
    <dgm:cxn modelId="{0C339883-B66B-4487-B66D-1AA832FF598B}" type="presParOf" srcId="{62F8266B-222B-4ACF-8613-2C8D6376E5BD}" destId="{C890CB11-26D0-4233-A3B2-FE616B33A810}" srcOrd="5" destOrd="0" presId="urn:microsoft.com/office/officeart/2018/2/layout/IconVerticalSolidList"/>
    <dgm:cxn modelId="{0616937D-6FCD-4AA3-A503-BCBE4DCE75B1}" type="presParOf" srcId="{62F8266B-222B-4ACF-8613-2C8D6376E5BD}" destId="{25E7A08B-6A02-49D1-8C9D-FCE9C92A1AC5}" srcOrd="6" destOrd="0" presId="urn:microsoft.com/office/officeart/2018/2/layout/IconVerticalSolidList"/>
    <dgm:cxn modelId="{B186621D-A046-462B-BB0C-6236267E563B}" type="presParOf" srcId="{25E7A08B-6A02-49D1-8C9D-FCE9C92A1AC5}" destId="{984F7435-4B4C-47D4-B03E-CC8917BDBDBB}" srcOrd="0" destOrd="0" presId="urn:microsoft.com/office/officeart/2018/2/layout/IconVerticalSolidList"/>
    <dgm:cxn modelId="{F52693A5-0CDF-426A-86AB-E12EC26F0A8F}" type="presParOf" srcId="{25E7A08B-6A02-49D1-8C9D-FCE9C92A1AC5}" destId="{D3271400-E9D7-4481-8E98-7952ACC542C2}" srcOrd="1" destOrd="0" presId="urn:microsoft.com/office/officeart/2018/2/layout/IconVerticalSolidList"/>
    <dgm:cxn modelId="{A0E86A54-FEE6-445C-A5D8-E1BEB46BF402}" type="presParOf" srcId="{25E7A08B-6A02-49D1-8C9D-FCE9C92A1AC5}" destId="{3EB25EBA-A880-4DC7-908E-0568144BFBD1}" srcOrd="2" destOrd="0" presId="urn:microsoft.com/office/officeart/2018/2/layout/IconVerticalSolidList"/>
    <dgm:cxn modelId="{249C530D-BDAF-40DC-B153-C1C13BE8F861}" type="presParOf" srcId="{25E7A08B-6A02-49D1-8C9D-FCE9C92A1AC5}" destId="{F2EA86B5-8AF6-40E0-BDDB-512587036C8B}" srcOrd="3" destOrd="0" presId="urn:microsoft.com/office/officeart/2018/2/layout/IconVerticalSoli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50877-B8C0-4FE2-B6DB-B88F20C8574C}">
      <dsp:nvSpPr>
        <dsp:cNvPr id="0" name=""/>
        <dsp:cNvSpPr/>
      </dsp:nvSpPr>
      <dsp:spPr>
        <a:xfrm>
          <a:off x="0" y="1469"/>
          <a:ext cx="3084892" cy="7450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7E5F84-64F2-4718-BACC-301BBCDC9D3A}">
      <dsp:nvSpPr>
        <dsp:cNvPr id="0" name=""/>
        <dsp:cNvSpPr/>
      </dsp:nvSpPr>
      <dsp:spPr>
        <a:xfrm>
          <a:off x="225364" y="169096"/>
          <a:ext cx="409752" cy="409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9CA6C-A0F7-4BE8-9B77-EE5C9EF005B7}">
      <dsp:nvSpPr>
        <dsp:cNvPr id="0" name=""/>
        <dsp:cNvSpPr/>
      </dsp:nvSpPr>
      <dsp:spPr>
        <a:xfrm>
          <a:off x="860480" y="1469"/>
          <a:ext cx="2224411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rtlCol="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noProof="0" dirty="0"/>
            <a:t>EXPLORAÇÃO</a:t>
          </a:r>
        </a:p>
      </dsp:txBody>
      <dsp:txXfrm>
        <a:off x="860480" y="1469"/>
        <a:ext cx="2224411" cy="745005"/>
      </dsp:txXfrm>
    </dsp:sp>
    <dsp:sp modelId="{B9A40EDB-694E-464C-8356-AEE8787842F2}">
      <dsp:nvSpPr>
        <dsp:cNvPr id="0" name=""/>
        <dsp:cNvSpPr/>
      </dsp:nvSpPr>
      <dsp:spPr>
        <a:xfrm>
          <a:off x="0" y="932726"/>
          <a:ext cx="3084892" cy="745005"/>
        </a:xfrm>
        <a:prstGeom prst="roundRect">
          <a:avLst>
            <a:gd name="adj" fmla="val 10000"/>
          </a:avLst>
        </a:prstGeom>
        <a:solidFill>
          <a:schemeClr val="accent5">
            <a:hueOff val="1420348"/>
            <a:satOff val="-9402"/>
            <a:lumOff val="-163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D9FA1-74BB-4EA5-B65F-49B870DCE4EB}">
      <dsp:nvSpPr>
        <dsp:cNvPr id="0" name=""/>
        <dsp:cNvSpPr/>
      </dsp:nvSpPr>
      <dsp:spPr>
        <a:xfrm>
          <a:off x="225364" y="1100352"/>
          <a:ext cx="409752" cy="409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58831D-960B-4D2D-A65E-513B92084C01}">
      <dsp:nvSpPr>
        <dsp:cNvPr id="0" name=""/>
        <dsp:cNvSpPr/>
      </dsp:nvSpPr>
      <dsp:spPr>
        <a:xfrm>
          <a:off x="860480" y="932726"/>
          <a:ext cx="2224411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rtlCol="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noProof="0" dirty="0"/>
            <a:t>IMPLEMENTAÇÃO</a:t>
          </a:r>
        </a:p>
      </dsp:txBody>
      <dsp:txXfrm>
        <a:off x="860480" y="932726"/>
        <a:ext cx="2224411" cy="745005"/>
      </dsp:txXfrm>
    </dsp:sp>
    <dsp:sp modelId="{9DD6C5DE-B838-492F-B4A8-49E4DE8C5CF5}">
      <dsp:nvSpPr>
        <dsp:cNvPr id="0" name=""/>
        <dsp:cNvSpPr/>
      </dsp:nvSpPr>
      <dsp:spPr>
        <a:xfrm>
          <a:off x="0" y="1863982"/>
          <a:ext cx="3084892" cy="745005"/>
        </a:xfrm>
        <a:prstGeom prst="roundRect">
          <a:avLst>
            <a:gd name="adj" fmla="val 10000"/>
          </a:avLst>
        </a:prstGeom>
        <a:solidFill>
          <a:schemeClr val="accent5">
            <a:hueOff val="2840696"/>
            <a:satOff val="-18805"/>
            <a:lumOff val="-326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2D8A7-CAF8-4A2F-A324-BDF8CFA66908}">
      <dsp:nvSpPr>
        <dsp:cNvPr id="0" name=""/>
        <dsp:cNvSpPr/>
      </dsp:nvSpPr>
      <dsp:spPr>
        <a:xfrm>
          <a:off x="225364" y="2031608"/>
          <a:ext cx="409752" cy="409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97BE5-E798-4AEE-9404-4E43192F5136}">
      <dsp:nvSpPr>
        <dsp:cNvPr id="0" name=""/>
        <dsp:cNvSpPr/>
      </dsp:nvSpPr>
      <dsp:spPr>
        <a:xfrm>
          <a:off x="860480" y="1863982"/>
          <a:ext cx="2224411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rtlCol="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noProof="0" dirty="0"/>
            <a:t>DEFININDO UM BOM DESIGN</a:t>
          </a:r>
        </a:p>
      </dsp:txBody>
      <dsp:txXfrm>
        <a:off x="860480" y="1863982"/>
        <a:ext cx="2224411" cy="745005"/>
      </dsp:txXfrm>
    </dsp:sp>
    <dsp:sp modelId="{984F7435-4B4C-47D4-B03E-CC8917BDBDBB}">
      <dsp:nvSpPr>
        <dsp:cNvPr id="0" name=""/>
        <dsp:cNvSpPr/>
      </dsp:nvSpPr>
      <dsp:spPr>
        <a:xfrm>
          <a:off x="0" y="2795238"/>
          <a:ext cx="3084892" cy="745005"/>
        </a:xfrm>
        <a:prstGeom prst="roundRect">
          <a:avLst>
            <a:gd name="adj" fmla="val 10000"/>
          </a:avLst>
        </a:prstGeom>
        <a:solidFill>
          <a:schemeClr val="accent5">
            <a:hueOff val="4261045"/>
            <a:satOff val="-28207"/>
            <a:lumOff val="-4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71400-E9D7-4481-8E98-7952ACC542C2}">
      <dsp:nvSpPr>
        <dsp:cNvPr id="0" name=""/>
        <dsp:cNvSpPr/>
      </dsp:nvSpPr>
      <dsp:spPr>
        <a:xfrm>
          <a:off x="225364" y="2962865"/>
          <a:ext cx="409752" cy="409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EA86B5-8AF6-40E0-BDDB-512587036C8B}">
      <dsp:nvSpPr>
        <dsp:cNvPr id="0" name=""/>
        <dsp:cNvSpPr/>
      </dsp:nvSpPr>
      <dsp:spPr>
        <a:xfrm>
          <a:off x="860480" y="2795238"/>
          <a:ext cx="2224411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rtlCol="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noProof="0" dirty="0"/>
            <a:t>ANATOMIA DE UMA PÁGINA WEB</a:t>
          </a:r>
        </a:p>
      </dsp:txBody>
      <dsp:txXfrm>
        <a:off x="860480" y="2795238"/>
        <a:ext cx="2224411" cy="7450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Lista Sólida vertical de Ícones"/>
  <dgm:desc val="Use para mostrar uma série de recursos visuais de cima para baixo com texto de Nível 1 ou de Nível 1 e Nível 2 de agrupados em uma forma. Funciona melhor com ícones ou imagens pequenas com descrições mais longa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32A2767-FEC0-45D8-A250-3A0CECEC10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D87BEA-720A-4B01-983C-6493C00177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0C4E566-DF6D-4434-93E9-5533CA56705F}" type="datetime1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7F7142-7B6D-4E82-A762-17951F139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47AA5D6A-4E5C-4EA7-A13B-15A02BB533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88A98BC-2DB8-47A3-A77F-B9E32C2662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6843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0CD38-7F5C-4227-BBA4-D598333EE84D}" type="datetime1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9BB1A04-13E8-48CD-97F9-AC2568E1A8D4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5769996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305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66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E0E56-2EDB-003A-0D1C-9FCFB31D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5D09F517-946F-AC16-FB59-69FF70F04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6D937F-7B08-C3F6-F3B3-EE1C7FD38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2EDDCB8-7930-235B-E44B-135C92D90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222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3594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E6EE-6DEF-7832-4FB5-19CEDE91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C2C8FCFD-306E-DC50-DB77-29B364AAC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C9D9934-3145-C060-6325-D44CC35C7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41B543F-F162-2F6D-5031-953D08504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948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B5756-C6B8-05F1-523B-9D60FE34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B9649178-527C-63AD-9EFA-D90A4D084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2C141BE-B2F4-F9F3-B35E-135AE479C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9DC9642-7E6F-20BE-138C-A9B9AB3EE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6217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86DA6-859B-D116-C9F8-6A096BDD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9D641A77-65B6-53FE-FDCD-6014C1229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CFB7E73-09AD-3991-B0FB-1AB09A20F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5A64EF3-76DD-B577-F995-C007131AB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927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CBAF-9825-E2E6-B680-E925AECC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1E2014AA-4DB9-92E5-EDBD-6D0C63017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F0944B-376B-67A8-0F2E-4D42A9B59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09ECEC0-5374-2B1C-C3F7-2412A348E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343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8AF1-334D-6DC9-9902-0F8C2C838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2110FD4B-A535-ED89-6C8E-96B07DE67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9E82F9-F921-08C6-E7B3-76D75A333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95372CF-C95A-E4E9-17A0-2416952C8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5152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1EACD-6D17-ED7D-DC74-3D118559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F50150BF-4BA2-5B8F-FEA6-240852CB0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793C2E-6258-8F9B-3860-159E4DE0F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B52A58F-1FF3-AF9F-5680-41F8000BA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126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0503-61E3-C66C-18DA-9B6F0A82F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025BDD6A-24A6-EFFF-A819-86ACFCAEA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34DB7E-E230-70C2-86E7-B58D93D61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1C24C04-E916-0AFB-2C98-DD6988CCB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331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2612-66DF-DB71-5D11-8D346A27C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D7A4511C-444A-711C-263B-C69892930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55581D-5C7E-37CB-254F-5FC2C9937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2AC8F97-2672-77E7-6662-95875FFF7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079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9A98-683A-BBEC-0AF9-D8EBD5CD9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BE869ECD-3B77-3BBC-027E-D8E17DE20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5458B76-5C80-02E4-29CA-42AA1AB83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C5970BC-8737-1CAA-7276-3BF23F2B7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624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9BB1A04-13E8-48CD-97F9-AC2568E1A8D4}" type="slidenum">
              <a:rPr lang="pt-BR" noProof="0" smtClean="0"/>
              <a:t>76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74770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m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o 10" hidden="1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FC0F2418-18A5-4620-9C98-AABCFA65A613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3" y="119641"/>
            <a:ext cx="9905998" cy="880217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1141412" y="1068224"/>
            <a:ext cx="9905999" cy="4722977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8D48DB-FFB4-4AA5-93D3-E473718F0CBC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5E49CA-2A21-452C-A29D-3D33E5046395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3" y="102550"/>
            <a:ext cx="9905998" cy="882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141410" y="1076625"/>
            <a:ext cx="4878389" cy="4714575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1076625"/>
            <a:ext cx="4875211" cy="4714575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62F635-993B-46BA-821B-592A025CD20C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1" y="111096"/>
            <a:ext cx="9906000" cy="882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0" y="1095660"/>
            <a:ext cx="477228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141410" y="2011649"/>
            <a:ext cx="4772280" cy="3779549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0" y="1085172"/>
            <a:ext cx="4951411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095999" y="2001161"/>
            <a:ext cx="4951411" cy="3790038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289913-8AB1-47F9-A4D6-4A59B3162795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23A875-AAC4-45A8-ABAC-BEE21140AF6C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76449D-BEBC-4417-865A-DF4A51559CA5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0345C6-580F-410D-A6D2-723D4EE32CD6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1FB54B-4600-45E4-8262-FE9801EB5BFE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96B0CC-A7A8-4770-8010-8421B78D923A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20234B-30B7-40AE-B829-0CDFB20A8A6F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C4F889-DC04-41D4-9624-F44F4E8775A8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60" name="Caixa de texto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61" name="Caixa de texto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3D7379-AFF5-45F0-9A4F-D3BCFA8D885F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9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230BA-F9E0-4E57-B34D-A39072C367EA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1"/>
          <p:cNvSpPr>
            <a:spLocks noGrp="1"/>
          </p:cNvSpPr>
          <p:nvPr>
            <p:ph type="title" hasCustomPrompt="1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9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0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21" name="Espaço Reservado para Texto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3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27" name="Espaço Reservado para Texto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C8274D-3C8B-49F7-AA5B-2A74945DB72B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1FFE33-98EC-45DF-9B28-9A91B3BD7AF6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024654-788D-4B81-AD3A-2D33A5E99CC4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o 7" hidden="1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upo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upo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pt-BR" noProof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04964C2-D243-417B-AB21-8B2FFD718236}" type="datetime1">
              <a:rPr lang="pt-BR" noProof="0" smtClean="0"/>
              <a:t>06/10/2026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jpe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5.jpeg"/><Relationship Id="rId10" Type="http://schemas.microsoft.com/office/2007/relationships/diagramDrawing" Target="../diagrams/drawing1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cloveclub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lanermoscow.ru/" TargetMode="External"/><Relationship Id="rId4" Type="http://schemas.openxmlformats.org/officeDocument/2006/relationships/hyperlink" Target="https://www.soilboy.sg/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788D5DFD-FA42-4EB0-B24E-4180C0CC5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tângulo 10">
              <a:extLst>
                <a:ext uri="{FF2B5EF4-FFF2-40B4-BE49-F238E27FC236}">
                  <a16:creationId xmlns:a16="http://schemas.microsoft.com/office/drawing/2014/main" id="{CC864817-5955-484B-9D1F-9BC8DB739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pic>
          <p:nvPicPr>
            <p:cNvPr id="12" name="Imagem 2">
              <a:extLst>
                <a:ext uri="{FF2B5EF4-FFF2-40B4-BE49-F238E27FC236}">
                  <a16:creationId xmlns:a16="http://schemas.microsoft.com/office/drawing/2014/main" id="{280C083F-71A6-4E55-AE35-586518FE2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 cstate="email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6="http://schemas.microsoft.com/office/drawing/2014/main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Imagem 4" descr="Lâmpada">
            <a:extLst>
              <a:ext uri="{FF2B5EF4-FFF2-40B4-BE49-F238E27FC236}">
                <a16:creationId xmlns:a16="http://schemas.microsoft.com/office/drawing/2014/main" id="{AC06F95D-BA5D-4DEE-93EF-3FE3173D13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D44056DF-7985-4692-968A-466E9E6AF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5" name="Retângulo com Canto Diagonal Arredondado 7">
              <a:extLst>
                <a:ext uri="{FF2B5EF4-FFF2-40B4-BE49-F238E27FC236}">
                  <a16:creationId xmlns:a16="http://schemas.microsoft.com/office/drawing/2014/main" id="{B414A174-532A-4602-934F-9858D1D86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940B0C0C-7F94-4725-8108-62B3B7A5A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7" name="Forma Livre 32">
                <a:extLst>
                  <a:ext uri="{FF2B5EF4-FFF2-40B4-BE49-F238E27FC236}">
                    <a16:creationId xmlns:a16="http://schemas.microsoft.com/office/drawing/2014/main" id="{367EAC5B-1891-480A-A3AD-B9F6A88FA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8" name="Forma Livre 33">
                <a:extLst>
                  <a:ext uri="{FF2B5EF4-FFF2-40B4-BE49-F238E27FC236}">
                    <a16:creationId xmlns:a16="http://schemas.microsoft.com/office/drawing/2014/main" id="{E33FF633-15BA-464F-8F5B-26C56665F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9" name="Forma Livre 34">
                <a:extLst>
                  <a:ext uri="{FF2B5EF4-FFF2-40B4-BE49-F238E27FC236}">
                    <a16:creationId xmlns:a16="http://schemas.microsoft.com/office/drawing/2014/main" id="{0C949DF6-E66B-4DB8-AB52-30CA781B4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" name="Forma Livre 37">
                <a:extLst>
                  <a:ext uri="{FF2B5EF4-FFF2-40B4-BE49-F238E27FC236}">
                    <a16:creationId xmlns:a16="http://schemas.microsoft.com/office/drawing/2014/main" id="{309C2298-5EF9-4B09-8995-014F6D3BFF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" name="Forma Livre 35">
                <a:extLst>
                  <a:ext uri="{FF2B5EF4-FFF2-40B4-BE49-F238E27FC236}">
                    <a16:creationId xmlns:a16="http://schemas.microsoft.com/office/drawing/2014/main" id="{319B2AFC-EBFF-477C-A364-6D575BE5AA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2" name="Forma Livre 36">
                <a:extLst>
                  <a:ext uri="{FF2B5EF4-FFF2-40B4-BE49-F238E27FC236}">
                    <a16:creationId xmlns:a16="http://schemas.microsoft.com/office/drawing/2014/main" id="{CC6B7D67-F2F8-4B07-B954-EAC9135B2B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3" name="Forma Livre 38">
                <a:extLst>
                  <a:ext uri="{FF2B5EF4-FFF2-40B4-BE49-F238E27FC236}">
                    <a16:creationId xmlns:a16="http://schemas.microsoft.com/office/drawing/2014/main" id="{7FF1659D-33DA-4F62-8567-A54020D2E2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4" name="Forma Livre 39">
                <a:extLst>
                  <a:ext uri="{FF2B5EF4-FFF2-40B4-BE49-F238E27FC236}">
                    <a16:creationId xmlns:a16="http://schemas.microsoft.com/office/drawing/2014/main" id="{9110F572-DC3D-4AB3-B731-B73BD6505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5" name="Forma Livre 40">
                <a:extLst>
                  <a:ext uri="{FF2B5EF4-FFF2-40B4-BE49-F238E27FC236}">
                    <a16:creationId xmlns:a16="http://schemas.microsoft.com/office/drawing/2014/main" id="{A2F7D0E9-68CE-40F9-B0E9-F915103ECF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6" name="Retângulo 41">
                <a:extLst>
                  <a:ext uri="{FF2B5EF4-FFF2-40B4-BE49-F238E27FC236}">
                    <a16:creationId xmlns:a16="http://schemas.microsoft.com/office/drawing/2014/main" id="{AB69A438-1FB7-454A-A3E9-0C329643CD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7" name="Forma Livre 32">
                <a:extLst>
                  <a:ext uri="{FF2B5EF4-FFF2-40B4-BE49-F238E27FC236}">
                    <a16:creationId xmlns:a16="http://schemas.microsoft.com/office/drawing/2014/main" id="{E64598D0-3A2C-4570-9E7C-C52C89549B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8" name="Forma Livre 33">
                <a:extLst>
                  <a:ext uri="{FF2B5EF4-FFF2-40B4-BE49-F238E27FC236}">
                    <a16:creationId xmlns:a16="http://schemas.microsoft.com/office/drawing/2014/main" id="{CC17CF42-8908-477B-9F36-DA1306CA01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9" name="Forma Livre 34">
                <a:extLst>
                  <a:ext uri="{FF2B5EF4-FFF2-40B4-BE49-F238E27FC236}">
                    <a16:creationId xmlns:a16="http://schemas.microsoft.com/office/drawing/2014/main" id="{A2457851-D4A0-404C-BF3F-99AE00B9E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0" name="Forma Livre 37">
                <a:extLst>
                  <a:ext uri="{FF2B5EF4-FFF2-40B4-BE49-F238E27FC236}">
                    <a16:creationId xmlns:a16="http://schemas.microsoft.com/office/drawing/2014/main" id="{ECC300FA-EE4A-489E-9A47-79BEBF05DC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1" name="Forma Livre 35">
                <a:extLst>
                  <a:ext uri="{FF2B5EF4-FFF2-40B4-BE49-F238E27FC236}">
                    <a16:creationId xmlns:a16="http://schemas.microsoft.com/office/drawing/2014/main" id="{0D1F26E2-902B-416B-A1DB-80DAF78D8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2" name="Forma Livre 36">
                <a:extLst>
                  <a:ext uri="{FF2B5EF4-FFF2-40B4-BE49-F238E27FC236}">
                    <a16:creationId xmlns:a16="http://schemas.microsoft.com/office/drawing/2014/main" id="{491346A0-BF6D-45A5-806A-215076872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3" name="Forma Livre 38">
                <a:extLst>
                  <a:ext uri="{FF2B5EF4-FFF2-40B4-BE49-F238E27FC236}">
                    <a16:creationId xmlns:a16="http://schemas.microsoft.com/office/drawing/2014/main" id="{A8A5AAC9-38FD-4A03-AB91-236F2AAC62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4" name="Forma Livre 39">
                <a:extLst>
                  <a:ext uri="{FF2B5EF4-FFF2-40B4-BE49-F238E27FC236}">
                    <a16:creationId xmlns:a16="http://schemas.microsoft.com/office/drawing/2014/main" id="{7AD4105C-55AA-47FF-AC5D-5BCB0B78C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5" name="Forma Livre 40">
                <a:extLst>
                  <a:ext uri="{FF2B5EF4-FFF2-40B4-BE49-F238E27FC236}">
                    <a16:creationId xmlns:a16="http://schemas.microsoft.com/office/drawing/2014/main" id="{1C4B42B1-B112-4057-82C3-E5AF3BC7F6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6" name="Retângulo 41">
                <a:extLst>
                  <a:ext uri="{FF2B5EF4-FFF2-40B4-BE49-F238E27FC236}">
                    <a16:creationId xmlns:a16="http://schemas.microsoft.com/office/drawing/2014/main" id="{C8B37395-3651-4E66-A62E-31529FABC8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D687081-16D7-4BC5-A7DB-E7011743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 rtlCol="0" anchor="ctr">
            <a:normAutofit fontScale="90000"/>
          </a:bodyPr>
          <a:lstStyle/>
          <a:p>
            <a:pPr algn="ctr" rtl="0"/>
            <a:r>
              <a:rPr lang="pt-BR" dirty="0"/>
              <a:t>Design</a:t>
            </a:r>
            <a:br>
              <a:rPr lang="pt-BR" dirty="0"/>
            </a:br>
            <a:r>
              <a:rPr lang="pt-BR" dirty="0"/>
              <a:t>WEB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41851F-203A-4F8E-AA75-478526ABA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 rtlCol="0">
            <a:normAutofit/>
          </a:bodyPr>
          <a:lstStyle/>
          <a:p>
            <a:pPr algn="ctr" rtl="0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B6D540F-1E2F-416F-819F-D8216BC8F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587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rupo 279">
            <a:extLst>
              <a:ext uri="{FF2B5EF4-FFF2-40B4-BE49-F238E27FC236}">
                <a16:creationId xmlns:a16="http://schemas.microsoft.com/office/drawing/2014/main" id="{5FE07634-A83A-4681-9C1D-BC0775F9D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281" name="Retângulo 280">
              <a:extLst>
                <a:ext uri="{FF2B5EF4-FFF2-40B4-BE49-F238E27FC236}">
                  <a16:creationId xmlns:a16="http://schemas.microsoft.com/office/drawing/2014/main" id="{BF62976A-266E-4650-88F2-C16130F3D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pic>
          <p:nvPicPr>
            <p:cNvPr id="282" name="Imagem 2">
              <a:extLst>
                <a:ext uri="{FF2B5EF4-FFF2-40B4-BE49-F238E27FC236}">
                  <a16:creationId xmlns:a16="http://schemas.microsoft.com/office/drawing/2014/main" id="{88D9B99B-59C2-481A-A948-F87920A7F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6="http://schemas.microsoft.com/office/drawing/2014/main"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A134327-4864-46BB-A57A-7055C9E3A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724656" cy="1478570"/>
          </a:xfrm>
        </p:spPr>
        <p:txBody>
          <a:bodyPr rtlCol="0">
            <a:normAutofit/>
          </a:bodyPr>
          <a:lstStyle/>
          <a:p>
            <a:pPr rtl="0"/>
            <a:r>
              <a:rPr lang="pt-BR" sz="3200" dirty="0"/>
              <a:t>Componentes DE DESIGN</a:t>
            </a:r>
          </a:p>
        </p:txBody>
      </p:sp>
      <p:pic>
        <p:nvPicPr>
          <p:cNvPr id="10" name="Espaço Reservado para Conteúdo 6" descr="placa de circuito">
            <a:extLst>
              <a:ext uri="{FF2B5EF4-FFF2-40B4-BE49-F238E27FC236}">
                <a16:creationId xmlns:a16="http://schemas.microsoft.com/office/drawing/2014/main" id="{38616497-6A2B-4863-A3DD-A2D0AF07489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131" r="14065"/>
          <a:stretch/>
        </p:blipFill>
        <p:spPr>
          <a:xfrm flipH="1">
            <a:off x="-5597" y="10"/>
            <a:ext cx="7558541" cy="6857990"/>
          </a:xfrm>
          <a:prstGeom prst="rect">
            <a:avLst/>
          </a:prstGeom>
        </p:spPr>
      </p:pic>
      <p:grpSp>
        <p:nvGrpSpPr>
          <p:cNvPr id="341" name="Grupo 283" hidden="1">
            <a:extLst>
              <a:ext uri="{FF2B5EF4-FFF2-40B4-BE49-F238E27FC236}">
                <a16:creationId xmlns:a16="http://schemas.microsoft.com/office/drawing/2014/main" id="{A2E1FE48-FA7B-4262-B922-041542931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F2E644B1-8F72-4AC4-89F1-EB3A02734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6" name="Freeform 6">
              <a:extLst>
                <a:ext uri="{FF2B5EF4-FFF2-40B4-BE49-F238E27FC236}">
                  <a16:creationId xmlns:a16="http://schemas.microsoft.com/office/drawing/2014/main" id="{1781B8E8-8A26-4FFB-BE0C-7C0C644F7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7" name="Freeform 7">
              <a:extLst>
                <a:ext uri="{FF2B5EF4-FFF2-40B4-BE49-F238E27FC236}">
                  <a16:creationId xmlns:a16="http://schemas.microsoft.com/office/drawing/2014/main" id="{4109D997-E9DF-4429-A643-3E691E2B7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B392695A-F131-4C51-B689-3F4D5B1A2F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9" name="Freeform 9">
              <a:extLst>
                <a:ext uri="{FF2B5EF4-FFF2-40B4-BE49-F238E27FC236}">
                  <a16:creationId xmlns:a16="http://schemas.microsoft.com/office/drawing/2014/main" id="{8218EC3E-07D0-417A-B0A8-057F825EF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0" name="Freeform 10">
              <a:extLst>
                <a:ext uri="{FF2B5EF4-FFF2-40B4-BE49-F238E27FC236}">
                  <a16:creationId xmlns:a16="http://schemas.microsoft.com/office/drawing/2014/main" id="{B036399E-7675-47B6-A645-242946879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1" name="Freeform 11">
              <a:extLst>
                <a:ext uri="{FF2B5EF4-FFF2-40B4-BE49-F238E27FC236}">
                  <a16:creationId xmlns:a16="http://schemas.microsoft.com/office/drawing/2014/main" id="{C44A0438-B8A4-43B3-B17C-B919FCD92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2" name="Freeform 12">
              <a:extLst>
                <a:ext uri="{FF2B5EF4-FFF2-40B4-BE49-F238E27FC236}">
                  <a16:creationId xmlns:a16="http://schemas.microsoft.com/office/drawing/2014/main" id="{ABC7257F-6F64-4B81-BDA7-7C232BCBA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3" name="Freeform 13">
              <a:extLst>
                <a:ext uri="{FF2B5EF4-FFF2-40B4-BE49-F238E27FC236}">
                  <a16:creationId xmlns:a16="http://schemas.microsoft.com/office/drawing/2014/main" id="{72DD7E92-F033-480C-A220-63CE422C3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4" name="Freeform 14">
              <a:extLst>
                <a:ext uri="{FF2B5EF4-FFF2-40B4-BE49-F238E27FC236}">
                  <a16:creationId xmlns:a16="http://schemas.microsoft.com/office/drawing/2014/main" id="{444A9AC9-463E-45E7-A818-13F664F7C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5" name="Freeform 15">
              <a:extLst>
                <a:ext uri="{FF2B5EF4-FFF2-40B4-BE49-F238E27FC236}">
                  <a16:creationId xmlns:a16="http://schemas.microsoft.com/office/drawing/2014/main" id="{6CCE9BBE-5DE3-4991-80CA-DFEB92867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6" name="Freeform 16">
              <a:extLst>
                <a:ext uri="{FF2B5EF4-FFF2-40B4-BE49-F238E27FC236}">
                  <a16:creationId xmlns:a16="http://schemas.microsoft.com/office/drawing/2014/main" id="{3180F6DF-A13F-491C-BF97-B206E3E7B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7" name="Freeform 17">
              <a:extLst>
                <a:ext uri="{FF2B5EF4-FFF2-40B4-BE49-F238E27FC236}">
                  <a16:creationId xmlns:a16="http://schemas.microsoft.com/office/drawing/2014/main" id="{CAD0E44C-73C8-42BB-ADA8-2BA6B3082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8" name="Freeform 18">
              <a:extLst>
                <a:ext uri="{FF2B5EF4-FFF2-40B4-BE49-F238E27FC236}">
                  <a16:creationId xmlns:a16="http://schemas.microsoft.com/office/drawing/2014/main" id="{436EC43E-A70D-4E5C-B275-35CA8E93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9" name="Freeform 19">
              <a:extLst>
                <a:ext uri="{FF2B5EF4-FFF2-40B4-BE49-F238E27FC236}">
                  <a16:creationId xmlns:a16="http://schemas.microsoft.com/office/drawing/2014/main" id="{ADE7E5B6-2E2A-4F56-9E90-F8613E6D1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0" name="Freeform 20">
              <a:extLst>
                <a:ext uri="{FF2B5EF4-FFF2-40B4-BE49-F238E27FC236}">
                  <a16:creationId xmlns:a16="http://schemas.microsoft.com/office/drawing/2014/main" id="{86B9E49B-AE8D-47E0-BACC-A6D0AC3AB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1" name="Freeform 21">
              <a:extLst>
                <a:ext uri="{FF2B5EF4-FFF2-40B4-BE49-F238E27FC236}">
                  <a16:creationId xmlns:a16="http://schemas.microsoft.com/office/drawing/2014/main" id="{2EB961AF-CD61-41BA-B0B2-0741A5ED6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2" name="Freeform 22">
              <a:extLst>
                <a:ext uri="{FF2B5EF4-FFF2-40B4-BE49-F238E27FC236}">
                  <a16:creationId xmlns:a16="http://schemas.microsoft.com/office/drawing/2014/main" id="{DC42BDA1-810A-4135-B3B1-B3161D372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3" name="Freeform 23">
              <a:extLst>
                <a:ext uri="{FF2B5EF4-FFF2-40B4-BE49-F238E27FC236}">
                  <a16:creationId xmlns:a16="http://schemas.microsoft.com/office/drawing/2014/main" id="{FA51FCA8-FCF4-4116-8CB2-5C539E37F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4" name="Freeform 24">
              <a:extLst>
                <a:ext uri="{FF2B5EF4-FFF2-40B4-BE49-F238E27FC236}">
                  <a16:creationId xmlns:a16="http://schemas.microsoft.com/office/drawing/2014/main" id="{F2850A10-CDBC-462A-8CB7-025874683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5" name="Freeform 25">
              <a:extLst>
                <a:ext uri="{FF2B5EF4-FFF2-40B4-BE49-F238E27FC236}">
                  <a16:creationId xmlns:a16="http://schemas.microsoft.com/office/drawing/2014/main" id="{738A37B9-77C2-4464-BF1F-2AF25A0D2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6" name="Freeform 26">
              <a:extLst>
                <a:ext uri="{FF2B5EF4-FFF2-40B4-BE49-F238E27FC236}">
                  <a16:creationId xmlns:a16="http://schemas.microsoft.com/office/drawing/2014/main" id="{89026C8B-A162-4523-A51B-9F1200BC6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7" name="Freeform 27">
              <a:extLst>
                <a:ext uri="{FF2B5EF4-FFF2-40B4-BE49-F238E27FC236}">
                  <a16:creationId xmlns:a16="http://schemas.microsoft.com/office/drawing/2014/main" id="{5B76BC40-1FA2-477D-B2C2-4763577DB7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8" name="Freeform 28">
              <a:extLst>
                <a:ext uri="{FF2B5EF4-FFF2-40B4-BE49-F238E27FC236}">
                  <a16:creationId xmlns:a16="http://schemas.microsoft.com/office/drawing/2014/main" id="{6BC68EAA-2809-4AE4-80C1-2555CEF73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" name="Freeform 29">
              <a:extLst>
                <a:ext uri="{FF2B5EF4-FFF2-40B4-BE49-F238E27FC236}">
                  <a16:creationId xmlns:a16="http://schemas.microsoft.com/office/drawing/2014/main" id="{FE709D1B-0541-4414-9E87-CF7D6918C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" name="Freeform 30">
              <a:extLst>
                <a:ext uri="{FF2B5EF4-FFF2-40B4-BE49-F238E27FC236}">
                  <a16:creationId xmlns:a16="http://schemas.microsoft.com/office/drawing/2014/main" id="{33BCB888-11B8-4D01-BCDA-59BBA28DC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" name="Freeform 31">
              <a:extLst>
                <a:ext uri="{FF2B5EF4-FFF2-40B4-BE49-F238E27FC236}">
                  <a16:creationId xmlns:a16="http://schemas.microsoft.com/office/drawing/2014/main" id="{28E5CE3E-C11A-4CF7-82BF-37D1221D4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" name="Freeform 32">
              <a:extLst>
                <a:ext uri="{FF2B5EF4-FFF2-40B4-BE49-F238E27FC236}">
                  <a16:creationId xmlns:a16="http://schemas.microsoft.com/office/drawing/2014/main" id="{55284FC3-21FB-4FA7-B695-2D6A9CEF7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13DA6B78-00DE-4E55-9124-EFD72519B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14" name="Freeform 34">
              <a:extLst>
                <a:ext uri="{FF2B5EF4-FFF2-40B4-BE49-F238E27FC236}">
                  <a16:creationId xmlns:a16="http://schemas.microsoft.com/office/drawing/2014/main" id="{D4602B0F-2844-48BE-9B4A-0366AC904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" name="Freeform 35">
              <a:extLst>
                <a:ext uri="{FF2B5EF4-FFF2-40B4-BE49-F238E27FC236}">
                  <a16:creationId xmlns:a16="http://schemas.microsoft.com/office/drawing/2014/main" id="{E31E05BB-6004-474D-9900-D990378FD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" name="Freeform 36">
              <a:extLst>
                <a:ext uri="{FF2B5EF4-FFF2-40B4-BE49-F238E27FC236}">
                  <a16:creationId xmlns:a16="http://schemas.microsoft.com/office/drawing/2014/main" id="{00BD01ED-F65D-4601-A77D-508E960E0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7" name="Freeform 37">
              <a:extLst>
                <a:ext uri="{FF2B5EF4-FFF2-40B4-BE49-F238E27FC236}">
                  <a16:creationId xmlns:a16="http://schemas.microsoft.com/office/drawing/2014/main" id="{FD307CAE-789C-4E80-B6F1-9858A3AB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8" name="Freeform 38">
              <a:extLst>
                <a:ext uri="{FF2B5EF4-FFF2-40B4-BE49-F238E27FC236}">
                  <a16:creationId xmlns:a16="http://schemas.microsoft.com/office/drawing/2014/main" id="{94B97B29-709E-4E24-B2FA-EF84AA12D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9" name="Freeform 39">
              <a:extLst>
                <a:ext uri="{FF2B5EF4-FFF2-40B4-BE49-F238E27FC236}">
                  <a16:creationId xmlns:a16="http://schemas.microsoft.com/office/drawing/2014/main" id="{C05D52B9-1FA2-4E7C-8229-B09811A90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0" name="Freeform 40">
              <a:extLst>
                <a:ext uri="{FF2B5EF4-FFF2-40B4-BE49-F238E27FC236}">
                  <a16:creationId xmlns:a16="http://schemas.microsoft.com/office/drawing/2014/main" id="{CC0A5575-2FB9-440F-B9A8-E0DDE1C3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1" name="Freeform 41">
              <a:extLst>
                <a:ext uri="{FF2B5EF4-FFF2-40B4-BE49-F238E27FC236}">
                  <a16:creationId xmlns:a16="http://schemas.microsoft.com/office/drawing/2014/main" id="{AFFCC88F-01DF-4DE1-8CD5-88631E30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2" name="Freeform 42">
              <a:extLst>
                <a:ext uri="{FF2B5EF4-FFF2-40B4-BE49-F238E27FC236}">
                  <a16:creationId xmlns:a16="http://schemas.microsoft.com/office/drawing/2014/main" id="{33EEC40B-E2CD-4BAC-94D6-85B70714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3" name="Freeform 43">
              <a:extLst>
                <a:ext uri="{FF2B5EF4-FFF2-40B4-BE49-F238E27FC236}">
                  <a16:creationId xmlns:a16="http://schemas.microsoft.com/office/drawing/2014/main" id="{3E0E9643-5C60-4933-BB1B-9A09057E7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4" name="Freeform 44">
              <a:extLst>
                <a:ext uri="{FF2B5EF4-FFF2-40B4-BE49-F238E27FC236}">
                  <a16:creationId xmlns:a16="http://schemas.microsoft.com/office/drawing/2014/main" id="{94F86E92-9EC7-437C-946B-31E7C1C47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BE9A51BE-C514-46B5-ABA6-7E7C878F8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26" name="Freeform 46">
              <a:extLst>
                <a:ext uri="{FF2B5EF4-FFF2-40B4-BE49-F238E27FC236}">
                  <a16:creationId xmlns:a16="http://schemas.microsoft.com/office/drawing/2014/main" id="{8B255447-F0E9-4D96-A4B0-F9EDDE58A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47">
              <a:extLst>
                <a:ext uri="{FF2B5EF4-FFF2-40B4-BE49-F238E27FC236}">
                  <a16:creationId xmlns:a16="http://schemas.microsoft.com/office/drawing/2014/main" id="{AFAC5F3A-3BE7-489E-A848-498B9995F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48">
              <a:extLst>
                <a:ext uri="{FF2B5EF4-FFF2-40B4-BE49-F238E27FC236}">
                  <a16:creationId xmlns:a16="http://schemas.microsoft.com/office/drawing/2014/main" id="{A974E7AA-5EF3-4817-B0AE-4C1A784EE9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49">
              <a:extLst>
                <a:ext uri="{FF2B5EF4-FFF2-40B4-BE49-F238E27FC236}">
                  <a16:creationId xmlns:a16="http://schemas.microsoft.com/office/drawing/2014/main" id="{8AA54AC1-3E87-49C0-A594-87829A2CF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0" name="Freeform 50">
              <a:extLst>
                <a:ext uri="{FF2B5EF4-FFF2-40B4-BE49-F238E27FC236}">
                  <a16:creationId xmlns:a16="http://schemas.microsoft.com/office/drawing/2014/main" id="{CC237789-73BC-4BD9-BFE8-1325FA4B5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1" name="Freeform 51">
              <a:extLst>
                <a:ext uri="{FF2B5EF4-FFF2-40B4-BE49-F238E27FC236}">
                  <a16:creationId xmlns:a16="http://schemas.microsoft.com/office/drawing/2014/main" id="{DCF4052D-CF62-47DC-991E-49D0BA908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2" name="Freeform 52">
              <a:extLst>
                <a:ext uri="{FF2B5EF4-FFF2-40B4-BE49-F238E27FC236}">
                  <a16:creationId xmlns:a16="http://schemas.microsoft.com/office/drawing/2014/main" id="{2ABD9104-C938-44F2-8622-8407A2593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3" name="Freeform 53">
              <a:extLst>
                <a:ext uri="{FF2B5EF4-FFF2-40B4-BE49-F238E27FC236}">
                  <a16:creationId xmlns:a16="http://schemas.microsoft.com/office/drawing/2014/main" id="{4AA18F60-3E86-4A5A-B82E-A79183ED3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4" name="Freeform 54">
              <a:extLst>
                <a:ext uri="{FF2B5EF4-FFF2-40B4-BE49-F238E27FC236}">
                  <a16:creationId xmlns:a16="http://schemas.microsoft.com/office/drawing/2014/main" id="{0F34C941-6196-4937-99E5-14AAD23F2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5" name="Freeform 55">
              <a:extLst>
                <a:ext uri="{FF2B5EF4-FFF2-40B4-BE49-F238E27FC236}">
                  <a16:creationId xmlns:a16="http://schemas.microsoft.com/office/drawing/2014/main" id="{60DB8A6C-23D7-4A88-BDCE-8FEC86A12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Freeform 56">
              <a:extLst>
                <a:ext uri="{FF2B5EF4-FFF2-40B4-BE49-F238E27FC236}">
                  <a16:creationId xmlns:a16="http://schemas.microsoft.com/office/drawing/2014/main" id="{29F5F702-AEE6-4633-BB20-7A15C3A31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7" name="Freeform 57">
              <a:extLst>
                <a:ext uri="{FF2B5EF4-FFF2-40B4-BE49-F238E27FC236}">
                  <a16:creationId xmlns:a16="http://schemas.microsoft.com/office/drawing/2014/main" id="{F30C7A45-6890-4EA5-9F6B-E2AB4D04C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8" name="Freeform 58">
              <a:extLst>
                <a:ext uri="{FF2B5EF4-FFF2-40B4-BE49-F238E27FC236}">
                  <a16:creationId xmlns:a16="http://schemas.microsoft.com/office/drawing/2014/main" id="{F31A7373-F68A-485D-95DC-B53ACC7B5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aphicFrame>
        <p:nvGraphicFramePr>
          <p:cNvPr id="200" name="Espaço Reservado para Conteúdo 2" descr="Smart Art">
            <a:extLst>
              <a:ext uri="{FF2B5EF4-FFF2-40B4-BE49-F238E27FC236}">
                <a16:creationId xmlns:a16="http://schemas.microsoft.com/office/drawing/2014/main" id="{C7094B13-F699-4785-845B-4DB18710A2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065487"/>
              </p:ext>
            </p:extLst>
          </p:nvPr>
        </p:nvGraphicFramePr>
        <p:xfrm>
          <a:off x="7962519" y="2249487"/>
          <a:ext cx="3084892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02665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A508-8767-E5B1-2E58-AC51065E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618B3-1BEF-DB29-D254-46235C67C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O Processo de Design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9251641-EEA4-4B3E-324E-664FE70EE8D3}"/>
              </a:ext>
            </a:extLst>
          </p:cNvPr>
          <p:cNvSpPr txBox="1"/>
          <p:nvPr/>
        </p:nvSpPr>
        <p:spPr>
          <a:xfrm>
            <a:off x="4507832" y="1539875"/>
            <a:ext cx="769242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prioridade deve ser sempre do cliente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Podem ser complexas e ambiciosas ou simplesmente disponibilizar informações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Alguns detalhes podem ser técnicos: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Desenvolvimento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Hospedagem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Manutenção ou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Aplicação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Já o processo de criação de protótipo pode ser resumido em três tarefas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Descoberta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Exploração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2948457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5BE62A68-92FB-4DA6-B1D6-FA043544A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3" name="Imagem 2">
            <a:extLst>
              <a:ext uri="{FF2B5EF4-FFF2-40B4-BE49-F238E27FC236}">
                <a16:creationId xmlns:a16="http://schemas.microsoft.com/office/drawing/2014/main" id="{10A6DFCC-5864-48A7-8196-CBCF038BB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dgm="http://schemas.openxmlformats.org/drawingml/2006/diagram" xmlns:a16="http://schemas.microsoft.com/office/drawing/2014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upo 94" hidden="1">
            <a:extLst>
              <a:ext uri="{FF2B5EF4-FFF2-40B4-BE49-F238E27FC236}">
                <a16:creationId xmlns:a16="http://schemas.microsoft.com/office/drawing/2014/main" id="{03CA880E-A155-41A2-B87D-21AC3CE33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AD179668-A46F-4D4C-8C75-2F3B4B578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0DB283C2-E19A-4A75-909F-450DB72DE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B674E08A-09B5-42AD-805C-43DAE1D0B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248B903F-D11E-41B4-A6F7-5ACF56D76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68B65942-DED3-475B-B28D-839E15541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54C02C20-8E50-4D5F-9E89-7266186B1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057C79DE-C22B-4732-B921-1EEF64DAD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21E55FE5-F856-4E6D-A505-4A5AA92FC2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564ACC84-D8A2-43FB-AB43-D7A892AC8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33DE6074-A243-4841-8A21-41739E524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6AD73007-A6A4-498E-8AF9-C3F7D61DC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541BFD40-70B0-48BA-9216-9C67411F4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7DFC59A5-0E43-4308-8BFB-F505CFB549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0852232F-7FE7-4B61-AC34-F29289DAC7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F2467A7F-F122-4464-A682-8C4DB1DA1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2178D569-0695-49D6-8261-1BF6E2E48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E289FFF1-2E96-4F4A-94D2-D1FED6AE8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F0509D92-D47A-49BC-899A-0C2AB53BC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606E419B-186B-4DA7-95FA-F921A2D3F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35DBBAC4-A0DC-44A6-A64F-3FF22BC30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45359546-A3CF-4560-869D-4C642B0F7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A9D2DDA1-3EE0-4B5E-8107-6000BCB2B4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6DA22C48-18EA-47BE-B75A-9594E025BE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411A5F9B-C5BD-4FE0-BEE1-5FA9B82FB3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AFFCFD60-FB34-408B-A2EA-311A1093D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72B9EBCA-3EF6-4296-80E0-CD849B27E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CC021197-0DB7-42B6-93BB-32252A937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A134327-4864-46BB-A57A-7055C9E3A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DESCOBERTA</a:t>
            </a:r>
          </a:p>
        </p:txBody>
      </p:sp>
      <p:sp useBgFill="1">
        <p:nvSpPr>
          <p:cNvPr id="124" name="Retângulo 6 com Canto Diagonal Arredondado">
            <a:extLst>
              <a:ext uri="{FF2B5EF4-FFF2-40B4-BE49-F238E27FC236}">
                <a16:creationId xmlns:a16="http://schemas.microsoft.com/office/drawing/2014/main" id="{7C30BDFE-E13B-4CD1-9371-FAEDFF80C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26" name="Grupo 125" hidden="1">
            <a:extLst>
              <a:ext uri="{FF2B5EF4-FFF2-40B4-BE49-F238E27FC236}">
                <a16:creationId xmlns:a16="http://schemas.microsoft.com/office/drawing/2014/main" id="{A847D4E2-EA7B-40EF-8062-D1FAF838F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F1549F3B-53A1-4D15-8E8E-4297D91B8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841347B2-F767-433C-946A-1B19B4C40E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B34A4847-B6CA-4001-8EB1-33B3854A4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EF334B32-D0A0-45DE-99CB-37A3E56EC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5D1098DF-5812-4A6F-A4B7-AFEBEDA98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2A72CC5D-2EA1-4ABD-B694-045401D7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47B8C57D-403F-4D5B-9724-24276E99B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4890E5D3-F793-4B6A-AA8F-1F6C03BD1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68A2FE4A-346D-4EA5-B377-EED451516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2F12D5D5-9BB1-4D89-B5B4-8F8353825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2E1682-54F0-9405-0F0C-11D52B24693B}"/>
              </a:ext>
            </a:extLst>
          </p:cNvPr>
          <p:cNvSpPr txBox="1"/>
          <p:nvPr/>
        </p:nvSpPr>
        <p:spPr>
          <a:xfrm>
            <a:off x="4507832" y="1539875"/>
            <a:ext cx="62585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Consiste em conhecer os clientes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Aprender sobre o que eles fazem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Pesquise sobre o negócio do cliente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Se ele não tiver um site, pesquise sobre a empresa dele ou sobre o setor em que ele atua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primeira reunião não é para impressionar o cliente, vender a si mesmo ou um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Faça anotações de tudo o que ele disser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Faça perguntas relacionadas à empresa e ao projeto</a:t>
            </a:r>
          </a:p>
        </p:txBody>
      </p:sp>
    </p:spTree>
    <p:extLst>
      <p:ext uri="{BB962C8B-B14F-4D97-AF65-F5344CB8AC3E}">
        <p14:creationId xmlns:p14="http://schemas.microsoft.com/office/powerpoint/2010/main" val="95663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EE742-85A3-A48E-69AC-366EE846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143E49BC-23E5-2969-153A-D4839E373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3" name="Imagem 2">
            <a:extLst>
              <a:ext uri="{FF2B5EF4-FFF2-40B4-BE49-F238E27FC236}">
                <a16:creationId xmlns:a16="http://schemas.microsoft.com/office/drawing/2014/main" id="{300D4446-DD22-D138-E0E3-F116F6ED4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a16="http://schemas.microsoft.com/office/drawing/2014/main" xmlns:dgm="http://schemas.openxmlformats.org/drawingml/2006/diagram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upo 94" hidden="1">
            <a:extLst>
              <a:ext uri="{FF2B5EF4-FFF2-40B4-BE49-F238E27FC236}">
                <a16:creationId xmlns:a16="http://schemas.microsoft.com/office/drawing/2014/main" id="{BD85A6AB-5A02-28F1-24DB-E0A88569D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8C13AB11-FD56-BAD5-F60B-43905521F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B8E21924-D6F7-80AC-A5B5-1A3ECE2D0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DFEC454C-9EC8-601D-A7BD-FE4C7B470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01F83C53-CEBF-8103-AE09-67B4ED3C4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B03B8232-A425-38A0-6334-20237D668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E3018A6D-6EA1-96F8-AA20-F6B5D9747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027567F0-3F62-6C0A-D9C7-95E8C73F6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2696BA87-2A68-698A-8D13-98DCBCB18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932825EF-04FF-EB8D-CEB3-552CE6337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5B58EDF3-BCE2-31AA-5D28-53AEE56FD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1C237034-21E8-AC15-DCA4-8B148BA39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9169A3F6-2CD0-8CD1-ED8D-E085DEEB19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13326291-EAC3-685F-0A82-E1C825874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04992AC6-767C-97EB-5557-6EBFB79AE7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035C0C09-0DB0-1A43-0F6B-29801D0AA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0F24BB77-A8AB-A37C-9EC8-257F2CB6FA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B3D4264C-BA04-2D6F-5830-935BC4378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A43C2C0A-7E92-C1B3-4920-13B145938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2C4256D9-0A3B-5D26-88E9-42DF5553C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2C438F0E-3D65-CF24-7E46-0513F80C9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D7B271A1-C4B9-E4E7-131E-D6393E41E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075C2654-4CB2-6496-5989-2CDD6542E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F16749AB-185C-09C8-7EB2-FBE662884B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687DD92F-6963-CA48-6DAE-ED71D3C60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BF828C07-18AA-6EA4-D435-256CFFA28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CFCD95ED-C858-6F24-ECC2-128F4811C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2E786E92-C2F6-945E-0148-40D6E5D74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5F71AD9-D08D-6C4B-451F-36751D52E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DESCOBERTA</a:t>
            </a:r>
          </a:p>
        </p:txBody>
      </p:sp>
      <p:sp useBgFill="1">
        <p:nvSpPr>
          <p:cNvPr id="124" name="Retângulo 6 com Canto Diagonal Arredondado">
            <a:extLst>
              <a:ext uri="{FF2B5EF4-FFF2-40B4-BE49-F238E27FC236}">
                <a16:creationId xmlns:a16="http://schemas.microsoft.com/office/drawing/2014/main" id="{C53E2156-3CBD-7349-68E6-9007F2BC0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26" name="Grupo 125" hidden="1">
            <a:extLst>
              <a:ext uri="{FF2B5EF4-FFF2-40B4-BE49-F238E27FC236}">
                <a16:creationId xmlns:a16="http://schemas.microsoft.com/office/drawing/2014/main" id="{466BFD99-B662-B73B-8A8E-A35949168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C2B9A5FA-09C0-269F-393B-5BD3DBD2B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BF12AA26-A6BD-D2A9-8780-8A7BFB08B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4A3206F7-6A56-3964-ED25-73B9816A5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66D3CE3A-CA4E-9D5A-535D-3FBF2452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543FEE4B-E69B-ADD5-D425-4BD2A6EE1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D05000AC-646F-0EF0-61FA-768969ADC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B03C8B6F-BBB1-2119-B132-2A2F2B70C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2D6E708F-003D-2425-DC9B-4500E10AE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A776B63F-822D-6913-21B0-598637FF2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1FD887D1-B9EE-67E6-1938-EE29D4125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9B981D-E013-1EC6-23C2-C1B930EFFB62}"/>
              </a:ext>
            </a:extLst>
          </p:cNvPr>
          <p:cNvSpPr txBox="1"/>
          <p:nvPr/>
        </p:nvSpPr>
        <p:spPr>
          <a:xfrm>
            <a:off x="4507832" y="1539875"/>
            <a:ext cx="62585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Exemplos de perguntas</a:t>
            </a:r>
          </a:p>
          <a:p>
            <a:r>
              <a:rPr lang="pt-BR" dirty="0"/>
              <a:t>■ O que a empresa faz?</a:t>
            </a:r>
          </a:p>
          <a:p>
            <a:r>
              <a:rPr lang="pt-BR" dirty="0"/>
              <a:t>■ Qual é o seu papel na empresa?</a:t>
            </a:r>
          </a:p>
          <a:p>
            <a:r>
              <a:rPr lang="pt-BR" dirty="0"/>
              <a:t>■ A empresa já possui um logotipo ou marca? </a:t>
            </a:r>
          </a:p>
          <a:p>
            <a:r>
              <a:rPr lang="pt-BR" dirty="0"/>
              <a:t>■ Qual é o seu objetivo ao desenvolver um site?</a:t>
            </a:r>
          </a:p>
          <a:p>
            <a:r>
              <a:rPr lang="pt-BR" dirty="0"/>
              <a:t>■ Quais informações você deseja fornecer online?</a:t>
            </a:r>
          </a:p>
          <a:p>
            <a:r>
              <a:rPr lang="pt-BR" dirty="0"/>
              <a:t>■ Quem compõe seu público-alvo? Os membros compartilham alguma característica demográfica em comum, como idade, sexo ou localização geográfica?</a:t>
            </a:r>
          </a:p>
          <a:p>
            <a:r>
              <a:rPr lang="pt-BR" dirty="0"/>
              <a:t>■ Quem são seus concorrentes e eles têm sites?</a:t>
            </a:r>
          </a:p>
          <a:p>
            <a:r>
              <a:rPr lang="pt-BR" dirty="0"/>
              <a:t>■ Você tem exemplos de sites que gosta ou não gosta?</a:t>
            </a:r>
          </a:p>
        </p:txBody>
      </p:sp>
    </p:spTree>
    <p:extLst>
      <p:ext uri="{BB962C8B-B14F-4D97-AF65-F5344CB8AC3E}">
        <p14:creationId xmlns:p14="http://schemas.microsoft.com/office/powerpoint/2010/main" val="2847196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2F6EF2-6BD8-F096-1392-4D51072E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B14AC283-A99F-D8FE-9D27-35E98793E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3" name="Imagem 2">
            <a:extLst>
              <a:ext uri="{FF2B5EF4-FFF2-40B4-BE49-F238E27FC236}">
                <a16:creationId xmlns:a16="http://schemas.microsoft.com/office/drawing/2014/main" id="{F1D97422-C42F-06B1-740F-65A763E7E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dgm="http://schemas.openxmlformats.org/drawingml/2006/diagram" xmlns:a16="http://schemas.microsoft.com/office/drawing/2014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upo 94" hidden="1">
            <a:extLst>
              <a:ext uri="{FF2B5EF4-FFF2-40B4-BE49-F238E27FC236}">
                <a16:creationId xmlns:a16="http://schemas.microsoft.com/office/drawing/2014/main" id="{D42AFC51-1CE1-B7E7-B8F0-B34318F27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B20C42FE-DF1C-3132-439A-7A294DAC9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53BF78A8-2CCE-17AD-3C39-5ED936210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81219807-4754-FF42-47C1-F9D8B592D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508BD29C-1278-343E-80A1-575660795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7F9FB036-750C-5665-C19F-E880AA859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AB9A1D96-7AB9-C111-A237-A2E37D9FD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1157B040-F002-E46D-6C18-08A5399BE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242F51D0-9EE0-4332-B34F-2859B1F6C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CDBCA63E-BE9E-911A-0FCE-FD637B895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88E30653-B314-63AD-CA9E-E03BF8057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D898DC79-6F00-DAFB-6E19-83C727DC3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40B71C9D-BD4A-816F-C948-667E55D8B9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928B0C32-9ED5-E4D4-2BC9-C02F183E9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5FEE1850-D163-4658-FF02-66095AF1B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F1034A7B-A2E9-C8BC-C06E-DE35812F8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050FABF7-D0BA-7B0F-C6FD-AAC2FF077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4DAC803E-8457-3FD5-1107-C5BFDE242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C575C2F4-CE9C-4676-26FD-2484A7C27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F9F139BF-D330-D346-44AF-08F4AF6C0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92A59CD4-0C44-C89D-9E6A-15B4C8006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9714D7A7-A48D-B05D-B59E-55A86564D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989CCFAF-01E7-2472-325C-05EC9DCFF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65F3C02A-0D3B-7461-3AE5-1C0C42D05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95D5D99B-B204-86DE-E9AB-AED87FF9D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D5FCA816-5080-14C8-A926-2C091AC04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DD424DD2-C3BB-57A7-13C8-AE7EF1551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6D7D7DD9-6352-3986-1E92-D9CB33AED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A446871-69D0-EA9E-B568-49AC7EC8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DESCOBERTA</a:t>
            </a:r>
          </a:p>
        </p:txBody>
      </p:sp>
      <p:sp useBgFill="1">
        <p:nvSpPr>
          <p:cNvPr id="124" name="Retângulo 6 com Canto Diagonal Arredondado">
            <a:extLst>
              <a:ext uri="{FF2B5EF4-FFF2-40B4-BE49-F238E27FC236}">
                <a16:creationId xmlns:a16="http://schemas.microsoft.com/office/drawing/2014/main" id="{2088F6C4-711A-59AB-7A1B-67626EE7D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26" name="Grupo 125" hidden="1">
            <a:extLst>
              <a:ext uri="{FF2B5EF4-FFF2-40B4-BE49-F238E27FC236}">
                <a16:creationId xmlns:a16="http://schemas.microsoft.com/office/drawing/2014/main" id="{05FC8023-8A90-2C18-C549-AC187C354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CB02FF42-726C-6226-C253-DFBC34F0C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9028D839-2896-DDBB-6335-B501C1957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AF486FE7-D46C-9662-310A-70ED8BF0E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D6889CC4-8882-DB1A-BE04-9911D29C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008BC6E7-6BE2-7DD1-384E-638241437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C1F5489A-DF17-CFD1-9C6C-7074F885D3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CE04EB44-52B8-70AE-6163-93EB838BD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27AB0453-BCBA-5E38-2188-E0306980F4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ACA96760-A0E5-793E-2179-73AE3D5BD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83683235-2505-E8F1-88CC-A11B670B1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B3B9ACEA-563F-38CB-79AF-D90AA7161C9C}"/>
              </a:ext>
            </a:extLst>
          </p:cNvPr>
          <p:cNvSpPr txBox="1"/>
          <p:nvPr/>
        </p:nvSpPr>
        <p:spPr>
          <a:xfrm>
            <a:off x="4507832" y="1539875"/>
            <a:ext cx="62585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Exemplos de perguntas</a:t>
            </a:r>
          </a:p>
          <a:p>
            <a:r>
              <a:rPr lang="pt-BR" dirty="0"/>
              <a:t>■ Qual o cronograma do projeto e qual o orçamento?</a:t>
            </a:r>
          </a:p>
          <a:p>
            <a:r>
              <a:rPr lang="pt-BR" dirty="0"/>
              <a:t>Se o projeto for a reformulação de um site existente, também pode-se perguntar:</a:t>
            </a:r>
          </a:p>
          <a:p>
            <a:r>
              <a:rPr lang="pt-BR" dirty="0"/>
              <a:t>■ O que seus visitantes geralmente procuram quando acessam seu site?</a:t>
            </a:r>
          </a:p>
          <a:p>
            <a:r>
              <a:rPr lang="pt-BR" dirty="0"/>
              <a:t>■ Quais são os problemas com o design atual?</a:t>
            </a:r>
          </a:p>
          <a:p>
            <a:r>
              <a:rPr lang="pt-BR" dirty="0"/>
              <a:t>■ O que você espera alcançar com a reformulação?</a:t>
            </a:r>
          </a:p>
          <a:p>
            <a:r>
              <a:rPr lang="pt-BR" dirty="0"/>
              <a:t>■ Há algum elemento do site atual que você deseja manter?</a:t>
            </a:r>
          </a:p>
          <a:p>
            <a:r>
              <a:rPr lang="pt-BR" dirty="0"/>
              <a:t>■ Como você acha que seus visitantes reagirão a um novo design de site?</a:t>
            </a:r>
          </a:p>
        </p:txBody>
      </p:sp>
    </p:spTree>
    <p:extLst>
      <p:ext uri="{BB962C8B-B14F-4D97-AF65-F5344CB8AC3E}">
        <p14:creationId xmlns:p14="http://schemas.microsoft.com/office/powerpoint/2010/main" val="4259346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F8ECD-419D-2332-3E84-02486D883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A8FF8EFE-732D-C259-D7DF-B037C5D2B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3" name="Imagem 2">
            <a:extLst>
              <a:ext uri="{FF2B5EF4-FFF2-40B4-BE49-F238E27FC236}">
                <a16:creationId xmlns:a16="http://schemas.microsoft.com/office/drawing/2014/main" id="{1FB61DCC-75EA-37E6-1234-4F99E9883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a16="http://schemas.microsoft.com/office/drawing/2014/main" xmlns:dgm="http://schemas.openxmlformats.org/drawingml/2006/diagram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upo 94" hidden="1">
            <a:extLst>
              <a:ext uri="{FF2B5EF4-FFF2-40B4-BE49-F238E27FC236}">
                <a16:creationId xmlns:a16="http://schemas.microsoft.com/office/drawing/2014/main" id="{6178B5F1-2C0C-605F-D71D-8B02162B8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BE2D7D14-55B6-7718-196F-14F2CC8FE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D095747D-DE3F-96BA-C255-6F501A774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EE72CDA6-A15E-1D1F-E388-14AAF82E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92947451-FE6A-E8D6-4AB5-38CDC441F0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8189A37E-E136-0F53-4EFC-94AC2CF47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0F989863-EAA4-D5E2-6C75-0477727995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53C29764-7C7A-DECD-CF58-CDC42ED75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2140E62B-C9B7-F2B7-A945-9CC5B4E77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FBAF4CD6-F09C-9DE2-1DF7-50CD36E03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D0BB37FA-23F2-506A-CC6E-0311D7D991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8BD7C4A1-5E62-9367-CFA4-532964372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EED64A4F-DF5E-060F-3C55-81D055E20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B44F2AE7-021F-BC93-EF7F-A54C36DE7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C51532D2-1DA0-4987-F884-C5A3052A5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5B578D51-B031-BE19-8AF1-C6085D97E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22DEBEA5-4AD0-A35F-908C-A469CAB2F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476DF5DE-2FBB-DF49-2257-43F87D70F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342ED5DF-D8B7-8E0C-F23B-91DD391D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76A7431B-344A-2F38-7437-72340486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24880B97-A0D4-4DD8-5A9C-2EF606D7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1C6ACA58-5CE6-00C8-64AA-032CA2D28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5EE11291-FC99-A74B-6C99-3262CFDAF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612330F0-4CD2-E9A3-0503-024C95880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6DDF9E40-5A06-5DE8-A3E8-2E2263947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ABCB8E3B-58ED-413A-AC43-51455FB87C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506F424F-D634-8275-2B0F-0523E6A16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3E6B9BF8-D95E-9E02-2F42-1AF3A0798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FD2A20E-CFC7-14D7-C4A6-DB6E828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DESCOBERTA</a:t>
            </a:r>
          </a:p>
        </p:txBody>
      </p:sp>
      <p:sp useBgFill="1">
        <p:nvSpPr>
          <p:cNvPr id="124" name="Retângulo 6 com Canto Diagonal Arredondado">
            <a:extLst>
              <a:ext uri="{FF2B5EF4-FFF2-40B4-BE49-F238E27FC236}">
                <a16:creationId xmlns:a16="http://schemas.microsoft.com/office/drawing/2014/main" id="{1224E758-4C17-3370-E12E-FECC0686F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26" name="Grupo 125" hidden="1">
            <a:extLst>
              <a:ext uri="{FF2B5EF4-FFF2-40B4-BE49-F238E27FC236}">
                <a16:creationId xmlns:a16="http://schemas.microsoft.com/office/drawing/2014/main" id="{23CAA225-DDEB-9BC8-9B9B-5E84D497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1D1D4954-14E1-5C48-7A2A-5C4E00411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141AA430-4AC1-7457-84B7-08B6356D6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C8E4F0D9-D9CD-C220-D792-C0DD05C9D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981F6F5B-BF78-28D8-04C4-04D4E8166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773ACD86-0C02-8EE5-A3C4-34D4C1AE3C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08D5A53E-51BE-A85B-6C70-F73D8435B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E0B86460-A788-D89A-2690-086DB5902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6357504D-389B-983B-9792-408221B23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C1A57C56-41C2-A40F-A504-022DFF43D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21A000DA-C7B2-8C84-11E6-2871A389B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361C0C-81CA-E98D-C243-FECFC4878C98}"/>
              </a:ext>
            </a:extLst>
          </p:cNvPr>
          <p:cNvSpPr txBox="1"/>
          <p:nvPr/>
        </p:nvSpPr>
        <p:spPr>
          <a:xfrm>
            <a:off x="4507832" y="1539875"/>
            <a:ext cx="6258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Evite jargões técnicos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Evite falar especificamente de design</a:t>
            </a:r>
          </a:p>
        </p:txBody>
      </p:sp>
    </p:spTree>
    <p:extLst>
      <p:ext uri="{BB962C8B-B14F-4D97-AF65-F5344CB8AC3E}">
        <p14:creationId xmlns:p14="http://schemas.microsoft.com/office/powerpoint/2010/main" val="2565105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FBFE6-1DD1-AB01-B92F-76779EB92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41D3FDE6-1974-2DE9-B935-D00726FE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3" name="Imagem 2">
            <a:extLst>
              <a:ext uri="{FF2B5EF4-FFF2-40B4-BE49-F238E27FC236}">
                <a16:creationId xmlns:a16="http://schemas.microsoft.com/office/drawing/2014/main" id="{5D0F0EAF-FA23-BCFE-C0D7-C2C052AB8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a16="http://schemas.microsoft.com/office/drawing/2014/main" xmlns:dgm="http://schemas.openxmlformats.org/drawingml/2006/diagram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upo 94" hidden="1">
            <a:extLst>
              <a:ext uri="{FF2B5EF4-FFF2-40B4-BE49-F238E27FC236}">
                <a16:creationId xmlns:a16="http://schemas.microsoft.com/office/drawing/2014/main" id="{F7D36595-C916-1A90-1175-6F05C58B5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952AEEB6-FA13-BF83-8420-A09CA7A8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7D824848-BC07-322C-05C3-3A3F126D8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02E18FE6-C047-2A95-FF62-DCC0B455A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1DB6B5EA-9902-0B8C-CB66-4E0B464146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D586AB0B-1C98-E1AA-C70A-23CE7B7A9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735E072E-6B6E-C2E8-A8D4-B51A347E7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05BA3F71-F869-0EC4-E272-84363342E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3BF36C3C-0753-3392-D344-6B6F04986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FB0965D2-CEF2-D1BF-CDAB-2E82DE5E3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06F828AD-2C72-2E05-9259-63D87E7A4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EFED1DC6-AD28-6EBA-944F-D289DAABC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45746287-0281-D818-61E3-1974F5CAC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9FA6D4D6-A71C-0C05-AAE5-0E17C8086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36D641F2-CA68-873B-196A-1DD25E9E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2D9D9AA5-A360-553A-136D-7382B4A99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AC0B9F2C-BC02-9E17-F919-FA6ADEE78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890ADE01-1ECA-6802-2204-5356E4586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6DE5A5FD-C51C-C084-B288-CC6798956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7AEB6224-1F6C-AD01-DB36-098E3763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47A12E87-3D66-6B1F-DE34-039C58496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33F7D99C-A947-E292-98D5-6EA2AF85D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5A54E848-61EF-7DD8-928B-32F88DB66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1A98C598-0E40-23E0-4226-428AAE003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9761C57F-664D-B142-8717-481848F7B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64BBAB87-200E-3CD6-E2F6-E15400F75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8942B07A-B405-0534-8944-545881C26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1F90A966-E3C9-FD9B-5249-33BAF1AD7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A678646-24E8-A473-2EFF-2ED80BCD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EXPLORAÇÃO</a:t>
            </a:r>
          </a:p>
        </p:txBody>
      </p:sp>
      <p:sp useBgFill="1">
        <p:nvSpPr>
          <p:cNvPr id="124" name="Retângulo 6 com Canto Diagonal Arredondado">
            <a:extLst>
              <a:ext uri="{FF2B5EF4-FFF2-40B4-BE49-F238E27FC236}">
                <a16:creationId xmlns:a16="http://schemas.microsoft.com/office/drawing/2014/main" id="{CC47DC06-2346-02D9-CFA6-06BF7E51B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26" name="Grupo 125" hidden="1">
            <a:extLst>
              <a:ext uri="{FF2B5EF4-FFF2-40B4-BE49-F238E27FC236}">
                <a16:creationId xmlns:a16="http://schemas.microsoft.com/office/drawing/2014/main" id="{95D39DD1-9C8E-0254-1D43-F38670C1A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23C80F85-EB30-A918-5194-42DF3BADC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D84884A1-6B2C-970C-CD19-0D1F0F27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9DFE160E-B9A3-32BF-8D6B-0901EC8A1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041C13C7-9E17-2075-438A-7AEEDAE0E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353E4B18-742A-31C1-5B65-F7282316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C254ECE2-EBCA-E2DF-7D59-5B56C08F9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A58C7159-B962-5092-E679-9F2A4E3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9849337F-B0BA-6028-2B1E-2A50DA4F5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FA1B7C06-96D4-90FF-F782-6143911E3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04810C4A-677E-EED0-5778-9B46A3FDE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0B96ECC6-5F12-577B-4013-48F2CB219CC7}"/>
              </a:ext>
            </a:extLst>
          </p:cNvPr>
          <p:cNvSpPr txBox="1"/>
          <p:nvPr/>
        </p:nvSpPr>
        <p:spPr>
          <a:xfrm>
            <a:off x="4507832" y="1539875"/>
            <a:ext cx="597311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Análise das informações, dissecação e experimentação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Domínio sólido de todas as informações, produtos e serviços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Organização das informações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Coloque-se no lugar do visitante do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Uso de papel e bloco de notas adesivas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Lista de todos os elementos do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Organize-os em grupos e subgrupos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Faça isso para cada página do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Tornar as informações o mais óbvias e fáceis de encontrar</a:t>
            </a:r>
          </a:p>
        </p:txBody>
      </p:sp>
    </p:spTree>
    <p:extLst>
      <p:ext uri="{BB962C8B-B14F-4D97-AF65-F5344CB8AC3E}">
        <p14:creationId xmlns:p14="http://schemas.microsoft.com/office/powerpoint/2010/main" val="825427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F3394-C3A2-D63F-500E-C934A5810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DD42B7E8-4047-1EB9-7B6B-C606963C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3" name="Imagem 2">
            <a:extLst>
              <a:ext uri="{FF2B5EF4-FFF2-40B4-BE49-F238E27FC236}">
                <a16:creationId xmlns:a16="http://schemas.microsoft.com/office/drawing/2014/main" id="{1F2CB9D9-B2A3-56A5-9DE5-8E44EA4A1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dgm="http://schemas.openxmlformats.org/drawingml/2006/diagram" xmlns:a16="http://schemas.microsoft.com/office/drawing/2014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upo 94" hidden="1">
            <a:extLst>
              <a:ext uri="{FF2B5EF4-FFF2-40B4-BE49-F238E27FC236}">
                <a16:creationId xmlns:a16="http://schemas.microsoft.com/office/drawing/2014/main" id="{2E220473-E0A4-0135-B505-BE8624DC9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F119AB4D-711F-1A00-38CF-C989FC895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B7CB6610-A896-1D27-5B87-337688C62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05C0C6DC-ADEC-8AFD-F035-DD4FA4F6B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C56452C7-9279-FBAB-21CB-4336DEA19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8CDD1624-69F9-ED0F-E0D4-3AD64F52C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B4B45CFB-2BFF-1518-40B2-919068448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CA83FF19-2627-1042-DA2D-7353C8872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A0AEB994-C1D8-7DC3-E061-73D114538E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B6F94906-144F-5DD1-4399-AE63627C9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F07ACD1C-E363-9E72-5FCC-0AC412D69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A2C27E20-D4E2-6D5D-1FA3-C035FC614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96131332-3864-A563-D326-3F718017D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609560D6-0F4D-977F-750F-A87071820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8604F9AC-6EEE-971A-0779-4D8C48E85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78CC379D-55E9-28B9-A158-1207DF4102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DE4A67B6-5FEE-8520-17C8-6ED06C972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3F12768A-CA95-D878-47AD-DCD3A52CB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58262DB7-640A-6F2B-07FD-37DF9E8EB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E0524097-317D-5299-A11C-E5ED637A6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3789E587-08D9-1A02-3FB5-7C5FE39B3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37C680B8-EE1A-60E9-FE84-2293B1B2E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B9943F3C-48DB-6E37-A5BA-B9421C48F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E8F97C4B-D353-FC36-1FD9-596D6A4AB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490BEE7D-A6B8-9483-C7CE-59B89D094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3D9C0D9C-2CD8-8BC7-D4A6-65D65DA28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9841E4F1-161D-D459-62BB-3F3B6B197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E19CCF4A-457C-BCDE-8033-C6CBBBB01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60BCFCA-76D8-3D92-6A0A-AC4A3E3FB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254035"/>
            <a:ext cx="3298507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implementação</a:t>
            </a:r>
          </a:p>
        </p:txBody>
      </p:sp>
      <p:sp useBgFill="1">
        <p:nvSpPr>
          <p:cNvPr id="124" name="Retângulo 6 com Canto Diagonal Arredondado">
            <a:extLst>
              <a:ext uri="{FF2B5EF4-FFF2-40B4-BE49-F238E27FC236}">
                <a16:creationId xmlns:a16="http://schemas.microsoft.com/office/drawing/2014/main" id="{E79CA148-9AE2-4E7A-B46F-41AEAB013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26" name="Grupo 125" hidden="1">
            <a:extLst>
              <a:ext uri="{FF2B5EF4-FFF2-40B4-BE49-F238E27FC236}">
                <a16:creationId xmlns:a16="http://schemas.microsoft.com/office/drawing/2014/main" id="{5DAE7F3A-E3EF-9ADA-7A6E-B3D79405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B87F53C7-C422-B727-FEB3-5C203CB0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D4EB187E-3216-4C39-F5A6-6D1AB6E917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139D88C6-7E24-4798-68A0-DF782B429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47D5199F-0E19-A705-6785-0A21FA2A4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C79B5660-2A8C-E2CC-BD30-CA6ED09D9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98AD3223-055F-9B92-2905-0F6C9337EE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C7F301DA-4EB9-EC6C-6B49-98A59C347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97F80168-A2CA-0204-A294-4F620A591D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85BC1460-5CBA-08BA-BA0B-A72B5B72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58C04F95-33F2-D760-C968-CB7216977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629DBB-E512-79B5-F5BB-E2415CCC2ED4}"/>
              </a:ext>
            </a:extLst>
          </p:cNvPr>
          <p:cNvSpPr txBox="1"/>
          <p:nvPr/>
        </p:nvSpPr>
        <p:spPr>
          <a:xfrm>
            <a:off x="4507832" y="1539875"/>
            <a:ext cx="610265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DESIGN É SOBRE COMUNICAÇÃO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Começa com a criação do 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É irrelevante o uso de ferramentas tecnológicas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Comece na folha de papel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Comece esboçando alguns layouts possíveis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Depois de produzir alguns, escolha um de que gosta e passe para um editor eletrônicos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Faça alterações de cores e posição de blocos até ter uma versão final para mostrar ao cliente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Princípios e convenções associadas ao design ajuda a entender a diferença entre o bom, o ruim e o feio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3209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CD9D8-9993-B021-F9D6-D78F3AC89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4619D4A6-F01F-1E56-62B7-B506FBA5C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3" name="Imagem 2">
            <a:extLst>
              <a:ext uri="{FF2B5EF4-FFF2-40B4-BE49-F238E27FC236}">
                <a16:creationId xmlns:a16="http://schemas.microsoft.com/office/drawing/2014/main" id="{ADB7A49C-7148-60E4-E77F-E3D3498B4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a16="http://schemas.microsoft.com/office/drawing/2014/main" xmlns:dgm="http://schemas.openxmlformats.org/drawingml/2006/diagram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upo 94" hidden="1">
            <a:extLst>
              <a:ext uri="{FF2B5EF4-FFF2-40B4-BE49-F238E27FC236}">
                <a16:creationId xmlns:a16="http://schemas.microsoft.com/office/drawing/2014/main" id="{F04FE988-B380-2C8A-6481-E7F5FE06E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E17C4462-43A4-CCCE-20A0-E2FA711E7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0C21D282-A88D-B490-DA19-BC8FF8E7B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7E88DF84-C1F3-7A5E-2EE4-F1C521024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408E3F35-0B8B-2B3D-1A44-F063DF674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C05B94C9-65A7-226D-6FED-65AE7AB74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09369A45-C04D-65A1-C5AF-81DB534CC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10F9C9AE-B622-A91B-4198-795D0044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0C9D1716-42AF-13B2-1CE4-04CCB96E4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0D280073-A00B-44E6-928E-3C8B1B05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6445D7B8-9373-C6B9-DDBE-F614A4F37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0160EFAF-7410-F33B-9691-B68E1DF86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51C412DB-20EE-0D8A-51F8-F1C28BCC3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8734B48D-BF99-9311-6ACA-A7120AC84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2CAB11A5-74D9-EC94-0993-8CC93AE0B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8C3592F1-E8A7-F449-9B0B-DC359BAA7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5D34D746-8E85-FFFE-EE8E-6C903B055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519BF6AC-6C24-280F-9E02-EF0E0A9FC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49A29D92-E096-863D-5ECF-1C78B50F4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26376A65-4AFB-6403-467C-6EB5CF889A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D763E270-151F-4462-36F8-4BAF18B02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8225F414-F55F-4040-4EC7-F27929821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7E67C77D-5454-1530-6D5B-ADAE21E0A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50211723-7733-4049-6D5C-8C95D3F8D4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D2D9D6AD-BE05-20F8-8BB0-A9CA925B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0ABF7278-D5BD-C606-7FA5-BDF6C5DE46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F304C579-1B9D-85C4-6575-574477D91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EEB73C28-0B53-3526-9564-073D883B5F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1711FBC-D23A-4B39-46B7-7183EFE79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254035"/>
            <a:ext cx="3298507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implementação</a:t>
            </a:r>
          </a:p>
        </p:txBody>
      </p:sp>
      <p:sp useBgFill="1">
        <p:nvSpPr>
          <p:cNvPr id="124" name="Retângulo 6 com Canto Diagonal Arredondado">
            <a:extLst>
              <a:ext uri="{FF2B5EF4-FFF2-40B4-BE49-F238E27FC236}">
                <a16:creationId xmlns:a16="http://schemas.microsoft.com/office/drawing/2014/main" id="{4C9DB897-9F42-F85C-1822-F8E3F04F9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26" name="Grupo 125" hidden="1">
            <a:extLst>
              <a:ext uri="{FF2B5EF4-FFF2-40B4-BE49-F238E27FC236}">
                <a16:creationId xmlns:a16="http://schemas.microsoft.com/office/drawing/2014/main" id="{7231055B-A8A2-5091-8605-EC7F3E22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276DBDE5-65B3-2E0D-0644-FCEBB957B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EEF27451-4555-70F0-019C-3D59552D9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5ABD0840-26AF-88AC-AA44-25EFA82F5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88AF72CB-9214-D984-C9F9-21AAA1131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4DE403B6-B8D9-816D-91C6-EA4B92CB7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13777F28-67A6-ED63-2CB1-2767C72B6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BB6252AA-7942-ABD6-F84E-4B9D8D2B6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5510E067-77A6-C704-341E-4220A9660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EFCB422F-EA54-5B8A-0BF6-51AE0823A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4301CDB9-85FC-70E4-76D1-7933C3CBC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0D667-9064-60F8-DB78-D4D25AC33C95}"/>
              </a:ext>
            </a:extLst>
          </p:cNvPr>
          <p:cNvSpPr txBox="1"/>
          <p:nvPr/>
        </p:nvSpPr>
        <p:spPr>
          <a:xfrm>
            <a:off x="4507832" y="1539875"/>
            <a:ext cx="61026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Definindo um bom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Dois pontos principais que determinam se o design de um site é bom ou ruim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Usabilidade: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/>
              <a:t>Que se concentra na funcionalidade, na apresentação eficaz das informações e na eficiência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Perspectiva puramente estética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/>
              <a:t>Se concentra no valor artístico e no apelo visual do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Alguns se prendem a usabilidade e se esquecem da estética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Enquanto outros se preocupam com a estética e esquecem a usabilidade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2708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7CC86-1768-BF64-CCF4-6C8B8496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ACBFA55D-5CDE-7C61-CDA4-53DC69470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3" name="Imagem 2">
            <a:extLst>
              <a:ext uri="{FF2B5EF4-FFF2-40B4-BE49-F238E27FC236}">
                <a16:creationId xmlns:a16="http://schemas.microsoft.com/office/drawing/2014/main" id="{C090CCEB-3AC6-DE31-6069-266681E97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a16="http://schemas.microsoft.com/office/drawing/2014/main" xmlns:dgm="http://schemas.openxmlformats.org/drawingml/2006/diagram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upo 94" hidden="1">
            <a:extLst>
              <a:ext uri="{FF2B5EF4-FFF2-40B4-BE49-F238E27FC236}">
                <a16:creationId xmlns:a16="http://schemas.microsoft.com/office/drawing/2014/main" id="{28D284C1-E308-F638-E357-D0761925A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B7894BE4-5AC2-E16B-B9D1-49899731D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4D3A5507-DFC7-3D0C-307E-B02F4E89B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97FFC10D-47CB-3FB8-BF7E-DAB2312BE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2304BC37-4261-F94E-87E7-A61157A0EE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FF558D13-70AF-DEF8-2B32-770731074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182C7BFF-58C7-B36B-E456-3053B08EE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84A98E6B-B3E2-1205-5AAE-FC8CAC7E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25A091A6-B3F7-C8E2-8B7B-239CD273DA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E464A25E-85A5-37E4-364A-D1DF16E79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5BAEC02E-F6B4-B17D-D350-2437D0EA8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DB305B4F-A441-E860-DBBA-18BF277B38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DD349346-C223-D191-84F2-4D3EB369D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714C1FDE-2ECA-8025-B33F-42BDA870D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1A490219-BF4A-5D77-3FFB-13C6900B9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23806495-7E7A-77E0-2FD2-CE6FC198B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98E8C588-CCAB-1846-810B-FF6207D42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7985E3CD-83E3-C6C5-ECDA-436BA903B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D70EF245-77D5-F7ED-C67B-568F0A46C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477498D6-A2F3-1E23-E8E2-E27396FE2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65B8B20E-73D7-E7B3-EAC0-E331EC2DF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B66686F6-5263-70DB-CA13-520E2BE07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0520B61B-5523-3BE8-B7C8-C2B0C8902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0E8D179B-2944-D1D9-299F-0FFDEBC88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B5160F79-FCFA-8704-275F-1547BB1C9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746041B6-6A07-F089-2B62-035C6F693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F8220C80-1A37-9172-63B7-45B5E5907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431B2F3E-3B8F-BA00-398A-1F834A5922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678502B-C269-BE9C-2CAC-197A9E74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254035"/>
            <a:ext cx="3298507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implementação</a:t>
            </a:r>
          </a:p>
        </p:txBody>
      </p:sp>
      <p:sp useBgFill="1">
        <p:nvSpPr>
          <p:cNvPr id="124" name="Retângulo 6 com Canto Diagonal Arredondado">
            <a:extLst>
              <a:ext uri="{FF2B5EF4-FFF2-40B4-BE49-F238E27FC236}">
                <a16:creationId xmlns:a16="http://schemas.microsoft.com/office/drawing/2014/main" id="{68F6D970-0E5A-790C-3EEE-A0797E672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26" name="Grupo 125" hidden="1">
            <a:extLst>
              <a:ext uri="{FF2B5EF4-FFF2-40B4-BE49-F238E27FC236}">
                <a16:creationId xmlns:a16="http://schemas.microsoft.com/office/drawing/2014/main" id="{CA054F50-173E-4822-A633-E568F834C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81BA9483-1ABD-F1D9-C4FB-B45F3CF373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7953DCE7-49E6-48A7-D979-49A230934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B4FF319D-F16D-5E47-99E5-534979BB00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B8BFE08C-A7E4-84BC-5B13-00304C1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44842C9A-CF12-1277-AFF8-552A789AD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2D57BC30-3FEB-228F-A58C-E6BC0F1E27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B2D9922E-F012-7C6A-8BA0-C88B0E75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E9ABE984-29E2-0F91-D717-745C6B5DD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04D840FA-7D48-A9E9-E9C1-962706671E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B20AB7BB-27BE-16E5-7B62-2C40A3A7C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a16="http://schemas.microsoft.com/office/drawing/2014/main" xmlns:dgm="http://schemas.openxmlformats.org/drawingml/2006/diagram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C8E625-0373-FFCA-6B95-1CACF7543394}"/>
              </a:ext>
            </a:extLst>
          </p:cNvPr>
          <p:cNvSpPr txBox="1"/>
          <p:nvPr/>
        </p:nvSpPr>
        <p:spPr>
          <a:xfrm>
            <a:off x="4507832" y="1539875"/>
            <a:ext cx="61026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Os usuários devem ficar satisfeitos com o design e também serem atraídos pelo conteúdo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Se você criar um site que funcione e apresente bem as informações, mas que seja feio ou não combine com a marca do cliente, ninguém vai querer usá-lo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Se você criar um site bonito, mas difícil de usar ou inacessível, as pessoas irão embora</a:t>
            </a:r>
          </a:p>
        </p:txBody>
      </p:sp>
    </p:spTree>
    <p:extLst>
      <p:ext uri="{BB962C8B-B14F-4D97-AF65-F5344CB8AC3E}">
        <p14:creationId xmlns:p14="http://schemas.microsoft.com/office/powerpoint/2010/main" val="222127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BDFE6-31E4-CFFF-5AD8-C006EC85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7452CCA0-3B36-F798-8510-35BBF49BA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3" name="Imagem 2">
            <a:extLst>
              <a:ext uri="{FF2B5EF4-FFF2-40B4-BE49-F238E27FC236}">
                <a16:creationId xmlns:a16="http://schemas.microsoft.com/office/drawing/2014/main" id="{0805A591-C1B1-6AC6-D0B8-450732797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dgm="http://schemas.openxmlformats.org/drawingml/2006/diagram" xmlns:a16="http://schemas.microsoft.com/office/drawing/2014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upo 94" hidden="1">
            <a:extLst>
              <a:ext uri="{FF2B5EF4-FFF2-40B4-BE49-F238E27FC236}">
                <a16:creationId xmlns:a16="http://schemas.microsoft.com/office/drawing/2014/main" id="{498F38E7-DCCE-A7C0-D1B3-0CD1B8D4C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9696DCE5-68AC-73C7-FEA5-70CF61EAF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64268BE5-B777-9698-541C-8826E3961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FF56CABB-EF94-202D-045F-03249C817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29EA8B1D-F5DF-4F56-06B8-C09CBB450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28E50096-3227-DAAF-1EE0-4EE26F5EA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71E8C019-D0EA-1DB0-3A21-5EEDB2BB2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D6733BEC-67C9-AF1E-00A6-FD0D93C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78861C76-4230-FA89-64E5-CE11C0586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600D9190-9B8A-942F-3C57-4435AB4F0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55C229AF-7BDE-C4F3-7F7A-A57A29D58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B32754DE-7E8B-2D47-5D15-CC587F999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9E75B13A-2AB1-559D-66B7-D6760F4982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317F0FB9-2565-8CA8-061C-48BD401F2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E91A8F33-0223-195B-C971-52D06F62A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2FAA7C75-28BA-EE02-E29F-A7834E0E2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CBDFA614-4313-226E-35C4-9A40DB451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6615405B-2A2C-2E09-1D08-C92AEEFAE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DC045EA2-870E-4D6B-00FD-D23957B8A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76CB6AC8-AEE7-0F14-5931-5A5B3A8BE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A7A38BDF-C297-FF3F-0DDA-45D110F0B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3425BA05-CDA4-2CAF-D38B-0D9F4F73FE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B57B2282-818B-2379-55DB-D1BD53BD9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B439853D-3F4C-1527-E95C-D6A538D4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EEF671D2-6A74-E586-F69A-D729F418B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A08B7CDD-94F8-A792-8896-438509832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3455E5AB-957A-0A51-C580-8D2DC3B7F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9B6BB526-0DB7-9D24-F14E-5DD01813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DAD6E2E-0972-B2B0-B75D-DEC28EDC1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254035"/>
            <a:ext cx="3298507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implementação</a:t>
            </a:r>
          </a:p>
        </p:txBody>
      </p:sp>
      <p:sp useBgFill="1">
        <p:nvSpPr>
          <p:cNvPr id="124" name="Retângulo 6 com Canto Diagonal Arredondado">
            <a:extLst>
              <a:ext uri="{FF2B5EF4-FFF2-40B4-BE49-F238E27FC236}">
                <a16:creationId xmlns:a16="http://schemas.microsoft.com/office/drawing/2014/main" id="{F8639E03-C28B-9622-C5B4-1D06C78C1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26" name="Grupo 125" hidden="1">
            <a:extLst>
              <a:ext uri="{FF2B5EF4-FFF2-40B4-BE49-F238E27FC236}">
                <a16:creationId xmlns:a16="http://schemas.microsoft.com/office/drawing/2014/main" id="{9D99ADAA-B62E-0404-5535-275CEFB23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2EFC3BBB-C1B9-4F9B-D269-424DEE4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6FCB8415-48C2-54E7-93FB-A0C131882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B1BCCC85-E1A4-02F2-1B51-F052DA84E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85AA0299-C5ED-35F0-D496-A4067ECAF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DF33A631-0C0E-263B-1443-17E95D0ECF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4822DF2F-B95E-81F2-2A24-6D914C6870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0F71EC9C-3609-ED76-9F53-34BAD2513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9902C58D-EC75-933E-D7D0-D18F9946E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DB8D600B-4287-A626-1440-BF53A35B1C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0F7109D3-D8D9-1B6C-7B2C-DD8E146BA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B8F9C839-BEDC-446A-FC6C-9C1CDA702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175" y="930062"/>
            <a:ext cx="6274995" cy="465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013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0F50-6784-6D32-8D0E-F1E0621D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7739341D-CF2A-122C-9DD9-F4728B9D8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3" name="Imagem 2">
            <a:extLst>
              <a:ext uri="{FF2B5EF4-FFF2-40B4-BE49-F238E27FC236}">
                <a16:creationId xmlns:a16="http://schemas.microsoft.com/office/drawing/2014/main" id="{1BB894BD-6E4F-CB6E-B19D-D5A07EDD3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dgm="http://schemas.openxmlformats.org/drawingml/2006/diagram" xmlns:a16="http://schemas.microsoft.com/office/drawing/2014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Grupo 94" hidden="1">
            <a:extLst>
              <a:ext uri="{FF2B5EF4-FFF2-40B4-BE49-F238E27FC236}">
                <a16:creationId xmlns:a16="http://schemas.microsoft.com/office/drawing/2014/main" id="{E537EFCA-8183-5E08-DC0C-83D4E46DE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D0D14EC6-30BC-6FA4-C649-3ED24015D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6">
              <a:extLst>
                <a:ext uri="{FF2B5EF4-FFF2-40B4-BE49-F238E27FC236}">
                  <a16:creationId xmlns:a16="http://schemas.microsoft.com/office/drawing/2014/main" id="{2372BCAF-3C23-E2C2-EA70-93A19340B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7">
              <a:extLst>
                <a:ext uri="{FF2B5EF4-FFF2-40B4-BE49-F238E27FC236}">
                  <a16:creationId xmlns:a16="http://schemas.microsoft.com/office/drawing/2014/main" id="{B895A095-AC83-48F3-B7A6-7C318BDB7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8">
              <a:extLst>
                <a:ext uri="{FF2B5EF4-FFF2-40B4-BE49-F238E27FC236}">
                  <a16:creationId xmlns:a16="http://schemas.microsoft.com/office/drawing/2014/main" id="{12A040DB-4551-0D40-4D00-152244DBA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9">
              <a:extLst>
                <a:ext uri="{FF2B5EF4-FFF2-40B4-BE49-F238E27FC236}">
                  <a16:creationId xmlns:a16="http://schemas.microsoft.com/office/drawing/2014/main" id="{DF47B29E-5871-A5F8-4E90-9A800FC4B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228511DF-1B04-6981-A41F-764C509BC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11">
              <a:extLst>
                <a:ext uri="{FF2B5EF4-FFF2-40B4-BE49-F238E27FC236}">
                  <a16:creationId xmlns:a16="http://schemas.microsoft.com/office/drawing/2014/main" id="{D915A5E7-B473-B5BD-2C31-6446F61EF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F438998F-A945-0382-398D-4CFD62ADB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DB8F9CB3-FF8E-E46C-801B-DEEFA639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F517E737-A762-6644-9F19-8839352FD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5">
              <a:extLst>
                <a:ext uri="{FF2B5EF4-FFF2-40B4-BE49-F238E27FC236}">
                  <a16:creationId xmlns:a16="http://schemas.microsoft.com/office/drawing/2014/main" id="{FF99075E-D349-2091-DC80-BFCB5E4E48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0D791015-3F01-A93C-4B4C-C517B4B05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8" name="Freeform 17">
              <a:extLst>
                <a:ext uri="{FF2B5EF4-FFF2-40B4-BE49-F238E27FC236}">
                  <a16:creationId xmlns:a16="http://schemas.microsoft.com/office/drawing/2014/main" id="{19E5B352-321D-7DC5-1D39-45EECC562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18">
              <a:extLst>
                <a:ext uri="{FF2B5EF4-FFF2-40B4-BE49-F238E27FC236}">
                  <a16:creationId xmlns:a16="http://schemas.microsoft.com/office/drawing/2014/main" id="{3314847A-A641-29FB-DC48-90B36D51F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19">
              <a:extLst>
                <a:ext uri="{FF2B5EF4-FFF2-40B4-BE49-F238E27FC236}">
                  <a16:creationId xmlns:a16="http://schemas.microsoft.com/office/drawing/2014/main" id="{913192DD-A018-AC04-E34D-F76B655D1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20">
              <a:extLst>
                <a:ext uri="{FF2B5EF4-FFF2-40B4-BE49-F238E27FC236}">
                  <a16:creationId xmlns:a16="http://schemas.microsoft.com/office/drawing/2014/main" id="{E95C3F37-6A47-2E44-DE8D-52987EB19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Rectangle 21">
              <a:extLst>
                <a:ext uri="{FF2B5EF4-FFF2-40B4-BE49-F238E27FC236}">
                  <a16:creationId xmlns:a16="http://schemas.microsoft.com/office/drawing/2014/main" id="{F3895B1C-628C-2396-B2F4-46D8062F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3" name="Freeform 22">
              <a:extLst>
                <a:ext uri="{FF2B5EF4-FFF2-40B4-BE49-F238E27FC236}">
                  <a16:creationId xmlns:a16="http://schemas.microsoft.com/office/drawing/2014/main" id="{681D71CD-9248-5850-7D8D-045CE41B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E595CF43-EECF-0AA4-9E52-2D8F23AE2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24">
              <a:extLst>
                <a:ext uri="{FF2B5EF4-FFF2-40B4-BE49-F238E27FC236}">
                  <a16:creationId xmlns:a16="http://schemas.microsoft.com/office/drawing/2014/main" id="{CE483A74-5FCC-D81A-EA3B-9EA7FEA2F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5">
              <a:extLst>
                <a:ext uri="{FF2B5EF4-FFF2-40B4-BE49-F238E27FC236}">
                  <a16:creationId xmlns:a16="http://schemas.microsoft.com/office/drawing/2014/main" id="{440480FD-42E8-B4DD-26BC-C8BF4A8D8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454C67C7-AEAC-4074-90B5-7C5E5FF5D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7164C6B2-3479-EB1E-9EC4-4F9A31A87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8">
              <a:extLst>
                <a:ext uri="{FF2B5EF4-FFF2-40B4-BE49-F238E27FC236}">
                  <a16:creationId xmlns:a16="http://schemas.microsoft.com/office/drawing/2014/main" id="{1A41D046-7DDE-095B-8213-A4ED0C73F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4311DD4B-F1D6-D964-66C0-393996C9D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30">
              <a:extLst>
                <a:ext uri="{FF2B5EF4-FFF2-40B4-BE49-F238E27FC236}">
                  <a16:creationId xmlns:a16="http://schemas.microsoft.com/office/drawing/2014/main" id="{5ADCCF75-E472-6B88-5081-1863A96DA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1519CEE0-B4CA-7719-D682-5B768B3CE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B2227-7B1D-3D6A-D85F-FEF178740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1254035"/>
            <a:ext cx="3298507" cy="4002222"/>
          </a:xfrm>
        </p:spPr>
        <p:txBody>
          <a:bodyPr rtlCol="0">
            <a:normAutofit/>
          </a:bodyPr>
          <a:lstStyle/>
          <a:p>
            <a:pPr algn="r" rtl="0"/>
            <a:r>
              <a:rPr lang="pt-BR" sz="3300" dirty="0">
                <a:solidFill>
                  <a:srgbClr val="FFFFFF"/>
                </a:solidFill>
              </a:rPr>
              <a:t>implementação</a:t>
            </a:r>
          </a:p>
        </p:txBody>
      </p:sp>
      <p:sp useBgFill="1">
        <p:nvSpPr>
          <p:cNvPr id="124" name="Retângulo 6 com Canto Diagonal Arredondado">
            <a:extLst>
              <a:ext uri="{FF2B5EF4-FFF2-40B4-BE49-F238E27FC236}">
                <a16:creationId xmlns:a16="http://schemas.microsoft.com/office/drawing/2014/main" id="{BE67A644-3085-6BBF-AE20-D27DED3D3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26" name="Grupo 125" hidden="1">
            <a:extLst>
              <a:ext uri="{FF2B5EF4-FFF2-40B4-BE49-F238E27FC236}">
                <a16:creationId xmlns:a16="http://schemas.microsoft.com/office/drawing/2014/main" id="{0E37D881-929E-0258-C006-658FB590A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674AA5AA-C99D-8E04-8855-168F5A6D9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1F23007C-D067-5066-53CC-8693EE1CC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A3B2D3CA-3872-7FEF-AA72-5FB0BA7A1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996DA796-E0F8-EA43-A72F-FA7A37B3C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36AC149E-1B4F-F82C-6758-2E990E727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A9C216B9-50B7-A850-92B5-FE25D19A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3A298CA9-B847-A796-D935-C68556D40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CBC6F35B-25D2-589D-AFC5-1A32D73A1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7B6C1107-8353-5E74-B898-9A5C157D9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AD9B58E7-E55E-D4DF-5806-CA779AEE2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dgm="http://schemas.openxmlformats.org/drawingml/2006/diagram" xmlns:a16="http://schemas.microsoft.com/office/drawing/2014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8D31E8-24CF-51D1-9942-DEC7B75B533C}"/>
              </a:ext>
            </a:extLst>
          </p:cNvPr>
          <p:cNvSpPr txBox="1"/>
          <p:nvPr/>
        </p:nvSpPr>
        <p:spPr>
          <a:xfrm>
            <a:off x="4507832" y="1539875"/>
            <a:ext cx="61026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Mesmo que haja uma diferença drástica entre o layout da página inicial e o restante do site, um tema ou estilo coeso deve existir em todas as páginas do site para ajudar a manter a unidade do design.</a:t>
            </a:r>
          </a:p>
        </p:txBody>
      </p:sp>
    </p:spTree>
    <p:extLst>
      <p:ext uri="{BB962C8B-B14F-4D97-AF65-F5344CB8AC3E}">
        <p14:creationId xmlns:p14="http://schemas.microsoft.com/office/powerpoint/2010/main" val="2223619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EC22A-E69B-B333-0AFD-BB79DA4BD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exploração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5881BAC-BD74-3177-909F-AC6F04BEC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338" y="618518"/>
            <a:ext cx="7031387" cy="579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4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91336-CF09-EA0C-7AC5-5285F536A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Anatomia de uma página web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2A5949-D31C-C0E8-9A99-232CEE861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Bloco de </a:t>
            </a:r>
            <a:r>
              <a:rPr lang="pt-BR" dirty="0" err="1"/>
              <a:t>Conteiner</a:t>
            </a:r>
            <a:endParaRPr lang="pt-BR" dirty="0"/>
          </a:p>
          <a:p>
            <a:pPr lvl="1"/>
            <a:r>
              <a:rPr lang="pt-BR" dirty="0"/>
              <a:t>Toda página web tem um contêiner</a:t>
            </a:r>
          </a:p>
          <a:p>
            <a:pPr lvl="1"/>
            <a:r>
              <a:rPr lang="pt-BR" dirty="0"/>
              <a:t>A largura do contêiner pode ser fluida ou fixa</a:t>
            </a:r>
          </a:p>
        </p:txBody>
      </p:sp>
    </p:spTree>
    <p:extLst>
      <p:ext uri="{BB962C8B-B14F-4D97-AF65-F5344CB8AC3E}">
        <p14:creationId xmlns:p14="http://schemas.microsoft.com/office/powerpoint/2010/main" val="2985819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12D4-2AC4-CC33-D082-141D8E9D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5BBD4-6FD3-61D8-83F5-4C5D8A82D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Anatomia de uma página web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839595-1BEC-C778-A3AC-E528E998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Logotipo</a:t>
            </a:r>
          </a:p>
          <a:p>
            <a:r>
              <a:rPr lang="pt-BR" dirty="0"/>
              <a:t>Quando os designers se referem a uma identidade, estão se referindo ao logotipo e às cores que existem nas diversas formas de marketing de uma empresa, como cartões de visita, papel timbrado, brochuras e assim por diante. </a:t>
            </a:r>
          </a:p>
          <a:p>
            <a:r>
              <a:rPr lang="pt-BR" dirty="0"/>
              <a:t>O bloco de identidade que aparece no site deve conter o logotipo ou nome da empresa e ficar no topo de cada página do site. </a:t>
            </a:r>
          </a:p>
          <a:p>
            <a:r>
              <a:rPr lang="pt-BR" dirty="0"/>
              <a:t>O bloqueio de identidade aumenta o reconhecimento da marca ao mesmo tempo que informa aos usuários que as páginas que estão visualizando fazem parte de um único site.</a:t>
            </a:r>
          </a:p>
        </p:txBody>
      </p:sp>
    </p:spTree>
    <p:extLst>
      <p:ext uri="{BB962C8B-B14F-4D97-AF65-F5344CB8AC3E}">
        <p14:creationId xmlns:p14="http://schemas.microsoft.com/office/powerpoint/2010/main" val="3635692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267D-278C-70C4-9536-1D4607DE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A0C63-ABF9-280F-FCEE-859780D4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Anatomia de uma página web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61CFE7-EF6A-ADE1-2173-B16CFED68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Navegação</a:t>
            </a:r>
          </a:p>
          <a:p>
            <a:r>
              <a:rPr lang="pt-BR" dirty="0"/>
              <a:t>É essencial que o sistema de navegação do site seja fácil de encontrar e usar. Os usuários esperam ver a navegação logo no topo da página. Se você planeja usar menus verticais na lateral da página ou um menu horizontal na página, a navegação deve ser o mais próximo possível do topo do layout. No mínimo, todos os itens principais de navegação devem aparecer “acima da dobra”.</a:t>
            </a:r>
          </a:p>
        </p:txBody>
      </p:sp>
    </p:spTree>
    <p:extLst>
      <p:ext uri="{BB962C8B-B14F-4D97-AF65-F5344CB8AC3E}">
        <p14:creationId xmlns:p14="http://schemas.microsoft.com/office/powerpoint/2010/main" val="3206772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31AC-7588-CAC2-261F-0B131DAB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08E5D-077D-45DD-1500-1FB0842AA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Anatomia de uma página web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84F848-0F87-1B07-7BA9-A1925C3FE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Acima da dobra</a:t>
            </a:r>
          </a:p>
          <a:p>
            <a:r>
              <a:rPr lang="pt-BR" dirty="0"/>
              <a:t>A dobra, como muitos designers a chamam, é onde o conteúdo de uma página termina antes que os usuários rolem para baixo.</a:t>
            </a:r>
          </a:p>
          <a:p>
            <a:r>
              <a:rPr lang="pt-BR" dirty="0"/>
              <a:t>Essa metáfora deriva da dobra em um jornal. Se você olhar para a capa de um jornal dobrado, a maioria das manchetes e das notícias mais importantes aparecem na metade superior, para que as notícias mais importantes possam ser vistas rapidamente quando o jornal está dobrado. A localização da dobra em uma página da web depende das dimensões do navegador e da resolução da tela do usuário.</a:t>
            </a:r>
          </a:p>
        </p:txBody>
      </p:sp>
    </p:spTree>
    <p:extLst>
      <p:ext uri="{BB962C8B-B14F-4D97-AF65-F5344CB8AC3E}">
        <p14:creationId xmlns:p14="http://schemas.microsoft.com/office/powerpoint/2010/main" val="182584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3B60-9668-3562-9DAD-9B52AA44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7B415-2CA9-3540-9338-01067BED1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Anatomia de uma página web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E835A8-22C8-E586-C04E-04BD2CACF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Conteúdo</a:t>
            </a:r>
          </a:p>
          <a:p>
            <a:r>
              <a:rPr lang="pt-BR" dirty="0"/>
              <a:t>O conteúdo é rei. O conteúdo consiste em qualquer texto, imagem ou vídeo encontrado em um site. Um visitante típico entra e sai de um site em questão de segundos. Se os visitantes não conseguirem encontrar o que procuram, certamente fecharão o navegador ou irão para outro site.</a:t>
            </a:r>
          </a:p>
          <a:p>
            <a:r>
              <a:rPr lang="pt-BR" dirty="0"/>
              <a:t>É importante manter o bloco de conteúdo principal como o ponto focal de um design, para que os visitantes possam examinar a página em busca das informações de que precisam.</a:t>
            </a:r>
          </a:p>
        </p:txBody>
      </p:sp>
    </p:spTree>
    <p:extLst>
      <p:ext uri="{BB962C8B-B14F-4D97-AF65-F5344CB8AC3E}">
        <p14:creationId xmlns:p14="http://schemas.microsoft.com/office/powerpoint/2010/main" val="3853950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CF40C-90E9-174F-0FA0-BB4E9538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F54AF-B759-D8AB-89F9-73328555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Anatomia de uma página web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BE019-6A13-0B0F-8E17-62A414044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Rodapé</a:t>
            </a:r>
          </a:p>
          <a:p>
            <a:r>
              <a:rPr lang="pt-BR" dirty="0"/>
              <a:t>Localizado na parte inferior da página, o rodapé geralmente contém informações sobre direitos autorais, contato e legais, bem como alguns links para as seções principais do site. Ao separar o conteúdo final da parte inferior da janela do navegador, o rodapé deve indicar aos usuários que eles estão na parte inferior da página.</a:t>
            </a:r>
          </a:p>
        </p:txBody>
      </p:sp>
    </p:spTree>
    <p:extLst>
      <p:ext uri="{BB962C8B-B14F-4D97-AF65-F5344CB8AC3E}">
        <p14:creationId xmlns:p14="http://schemas.microsoft.com/office/powerpoint/2010/main" val="2778955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7322F-24CA-6936-A462-9EB49B1F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36968-63A2-62AA-F30A-37C53DD0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Anatomia de uma página web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28DE91-672E-126D-DB12-8F943D49A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Espaço em branco</a:t>
            </a:r>
          </a:p>
          <a:p>
            <a:r>
              <a:rPr lang="pt-BR" dirty="0"/>
              <a:t>O termo de design gráfico espaço em branco (ou espaço negativo) refere-se literalmente a qualquer área de uma página sem texto ou ilustrações. Embora muitos web designers iniciantes (e a maioria dos clientes) sintam a </a:t>
            </a:r>
            <a:r>
              <a:rPr lang="pt-BR"/>
              <a:t>necessidade de </a:t>
            </a:r>
            <a:r>
              <a:rPr lang="pt-BR" dirty="0"/>
              <a:t>preencher cada centímetro de uma página da web com fotos, texto, tabelas e dados, o espaço vazio em uma página é tão importante quanto o conteúdo. Sem um espaço em branco cuidadosamente planejado, um design parecerá fechado, como uma sala lotada. O espaço em branco ajuda um design a respirar, guiando o olhar do usuário pela página, mas também ajuda a criar equilíbrio e unidade </a:t>
            </a:r>
          </a:p>
        </p:txBody>
      </p:sp>
    </p:spTree>
    <p:extLst>
      <p:ext uri="{BB962C8B-B14F-4D97-AF65-F5344CB8AC3E}">
        <p14:creationId xmlns:p14="http://schemas.microsoft.com/office/powerpoint/2010/main" val="2731958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1A2CA-41D6-10A0-4FC9-68F929FA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da grade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086F91-C1AD-8560-4DC9-382A71C26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essencial no design de sites</a:t>
            </a:r>
          </a:p>
          <a:p>
            <a:r>
              <a:rPr lang="pt-BR" dirty="0"/>
              <a:t>Usar uma grade é mais do que simplesmente deixar os elementos da página quadrados e alinhados: trata-se também de proporção</a:t>
            </a:r>
          </a:p>
          <a:p>
            <a:r>
              <a:rPr lang="pt-BR" dirty="0"/>
              <a:t>Proporção áurea -&gt; Φ (</a:t>
            </a:r>
            <a:r>
              <a:rPr lang="pt-BR" dirty="0" err="1"/>
              <a:t>phi</a:t>
            </a:r>
            <a:r>
              <a:rPr lang="pt-BR" dirty="0"/>
              <a:t>) = 1,618... São considerados esteticamente agradáveis</a:t>
            </a:r>
          </a:p>
          <a:p>
            <a:r>
              <a:rPr lang="pt-BR" dirty="0"/>
              <a:t>Usado para criar layouts de páginas, pôsteres e brochuras</a:t>
            </a:r>
          </a:p>
        </p:txBody>
      </p:sp>
    </p:spTree>
    <p:extLst>
      <p:ext uri="{BB962C8B-B14F-4D97-AF65-F5344CB8AC3E}">
        <p14:creationId xmlns:p14="http://schemas.microsoft.com/office/powerpoint/2010/main" val="912736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F5833-F9C1-B97B-8FFE-10B51BDAF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3708B-D926-F4C0-6FFA-4B545CE3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da grade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98ECB-5D56-6AEE-B700-A40953F4B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/>
          <a:lstStyle/>
          <a:p>
            <a:r>
              <a:rPr lang="pt-BR" dirty="0"/>
              <a:t>Este girassol é um exemplo da proporção áurea na natureza. O diâmetro do centro do girassol é o diâmetro total do girassol, incluindo as pétalas, dividido por Φ.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4B65601-6214-3852-81CE-B2EEEB563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621" y="1202528"/>
            <a:ext cx="4384542" cy="478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46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F44B9-B8DF-89EA-08DB-6D6CC1A4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regra dos terços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024FDD-DBC1-9D40-AA09-FBE9252CF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492301" cy="3541714"/>
          </a:xfrm>
        </p:spPr>
        <p:txBody>
          <a:bodyPr/>
          <a:lstStyle/>
          <a:p>
            <a:r>
              <a:rPr lang="pt-BR" dirty="0"/>
              <a:t>Desenhar um retângulo</a:t>
            </a:r>
          </a:p>
          <a:p>
            <a:r>
              <a:rPr lang="pt-BR" dirty="0"/>
              <a:t>Dividir em terços horizontal e verticalmente</a:t>
            </a:r>
          </a:p>
          <a:p>
            <a:r>
              <a:rPr lang="pt-BR" dirty="0"/>
              <a:t>Desenhar uma linha entre cada linha vertical para criar seis colunas para trabalhar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7B6976E-A5D6-DD59-6264-29850C16CA65}"/>
              </a:ext>
            </a:extLst>
          </p:cNvPr>
          <p:cNvSpPr/>
          <p:nvPr/>
        </p:nvSpPr>
        <p:spPr>
          <a:xfrm>
            <a:off x="6547449" y="2249486"/>
            <a:ext cx="5400000" cy="32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8CFDEAE-0C55-507C-0D50-A985A5F50A64}"/>
              </a:ext>
            </a:extLst>
          </p:cNvPr>
          <p:cNvCxnSpPr>
            <a:cxnSpLocks/>
          </p:cNvCxnSpPr>
          <p:nvPr/>
        </p:nvCxnSpPr>
        <p:spPr>
          <a:xfrm>
            <a:off x="6547449" y="3330000"/>
            <a:ext cx="54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3CFEB99-BBC6-8A95-3EC2-A9CC04DCE0D3}"/>
              </a:ext>
            </a:extLst>
          </p:cNvPr>
          <p:cNvCxnSpPr>
            <a:cxnSpLocks/>
          </p:cNvCxnSpPr>
          <p:nvPr/>
        </p:nvCxnSpPr>
        <p:spPr>
          <a:xfrm>
            <a:off x="6547449" y="4405762"/>
            <a:ext cx="54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8197D5B-7EAC-8929-80F1-163272833462}"/>
              </a:ext>
            </a:extLst>
          </p:cNvPr>
          <p:cNvCxnSpPr/>
          <p:nvPr/>
        </p:nvCxnSpPr>
        <p:spPr>
          <a:xfrm>
            <a:off x="8348400" y="224948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C0B2815-CE8C-7BF2-9477-945ADDD12F1D}"/>
              </a:ext>
            </a:extLst>
          </p:cNvPr>
          <p:cNvCxnSpPr/>
          <p:nvPr/>
        </p:nvCxnSpPr>
        <p:spPr>
          <a:xfrm>
            <a:off x="10148400" y="224948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B01B1B6-8EFC-4758-BAE9-4C84240919E9}"/>
              </a:ext>
            </a:extLst>
          </p:cNvPr>
          <p:cNvCxnSpPr/>
          <p:nvPr/>
        </p:nvCxnSpPr>
        <p:spPr>
          <a:xfrm>
            <a:off x="11047411" y="224948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C3B3FA1D-08A7-F911-AE16-8DBD6FD152FE}"/>
              </a:ext>
            </a:extLst>
          </p:cNvPr>
          <p:cNvCxnSpPr/>
          <p:nvPr/>
        </p:nvCxnSpPr>
        <p:spPr>
          <a:xfrm>
            <a:off x="9248400" y="224948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723DC533-495A-6948-0A93-D0BCA27E317E}"/>
              </a:ext>
            </a:extLst>
          </p:cNvPr>
          <p:cNvCxnSpPr/>
          <p:nvPr/>
        </p:nvCxnSpPr>
        <p:spPr>
          <a:xfrm>
            <a:off x="7448400" y="224948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05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6AF65-6AE1-128B-56FC-157F13A85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BCB78-1027-A363-0DB5-ADC9A50D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wireframes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772FB5-F187-5C2B-A4B9-0C1279D5D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492301" cy="3541714"/>
          </a:xfrm>
        </p:spPr>
        <p:txBody>
          <a:bodyPr/>
          <a:lstStyle/>
          <a:p>
            <a:r>
              <a:rPr lang="pt-BR" dirty="0"/>
              <a:t>Organizar os elementos dentro do terço</a:t>
            </a:r>
          </a:p>
          <a:p>
            <a:r>
              <a:rPr lang="pt-BR" dirty="0"/>
              <a:t>Criar blocos de conteúdo e seu posicionamento da página</a:t>
            </a:r>
          </a:p>
          <a:p>
            <a:r>
              <a:rPr lang="pt-BR" dirty="0"/>
              <a:t>Colocar primeiro o bloco maior representando o conteúdo</a:t>
            </a:r>
          </a:p>
          <a:p>
            <a:r>
              <a:rPr lang="pt-BR" dirty="0"/>
              <a:t>Colocar o bloco de navegação e o bloco de identidade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3E25898-3871-7633-DF66-FD691C4E55F7}"/>
              </a:ext>
            </a:extLst>
          </p:cNvPr>
          <p:cNvSpPr/>
          <p:nvPr/>
        </p:nvSpPr>
        <p:spPr>
          <a:xfrm>
            <a:off x="6547449" y="2249486"/>
            <a:ext cx="5400000" cy="32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D6BC02-6143-3477-1F90-1712CF59AE57}"/>
              </a:ext>
            </a:extLst>
          </p:cNvPr>
          <p:cNvCxnSpPr>
            <a:cxnSpLocks/>
          </p:cNvCxnSpPr>
          <p:nvPr/>
        </p:nvCxnSpPr>
        <p:spPr>
          <a:xfrm>
            <a:off x="6547449" y="3330000"/>
            <a:ext cx="54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3916E6F-938F-64FF-4148-5C29EA2F1A74}"/>
              </a:ext>
            </a:extLst>
          </p:cNvPr>
          <p:cNvCxnSpPr>
            <a:cxnSpLocks/>
          </p:cNvCxnSpPr>
          <p:nvPr/>
        </p:nvCxnSpPr>
        <p:spPr>
          <a:xfrm>
            <a:off x="6547449" y="4405762"/>
            <a:ext cx="54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D4DDBFE-9E75-BD6A-6FF5-CE4A6CDA807F}"/>
              </a:ext>
            </a:extLst>
          </p:cNvPr>
          <p:cNvCxnSpPr/>
          <p:nvPr/>
        </p:nvCxnSpPr>
        <p:spPr>
          <a:xfrm>
            <a:off x="8348400" y="224948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F2863DB6-53FD-0901-8384-0146D4F7E5EF}"/>
              </a:ext>
            </a:extLst>
          </p:cNvPr>
          <p:cNvCxnSpPr/>
          <p:nvPr/>
        </p:nvCxnSpPr>
        <p:spPr>
          <a:xfrm>
            <a:off x="10148400" y="224948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361ED767-1737-3736-9F96-76DC1B893B85}"/>
              </a:ext>
            </a:extLst>
          </p:cNvPr>
          <p:cNvCxnSpPr/>
          <p:nvPr/>
        </p:nvCxnSpPr>
        <p:spPr>
          <a:xfrm>
            <a:off x="11047411" y="224948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015A4BD4-DDA8-6304-950A-85507354744D}"/>
              </a:ext>
            </a:extLst>
          </p:cNvPr>
          <p:cNvCxnSpPr/>
          <p:nvPr/>
        </p:nvCxnSpPr>
        <p:spPr>
          <a:xfrm>
            <a:off x="9248400" y="224948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F7A6BEF-BCBD-9638-D62D-7A76CED18642}"/>
              </a:ext>
            </a:extLst>
          </p:cNvPr>
          <p:cNvCxnSpPr/>
          <p:nvPr/>
        </p:nvCxnSpPr>
        <p:spPr>
          <a:xfrm>
            <a:off x="7448400" y="224948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74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FF82-A693-7770-E457-6283D4DA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52FE4-A73D-0C3B-4EC1-6477012DD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wireframes</a:t>
            </a:r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5FB5D2B8-B858-411D-77CE-0BD49352C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E44C51E-64FE-635E-9822-1ED40FD29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19137"/>
            <a:ext cx="535305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26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263DA-80E5-95DA-5CC0-AE56AB72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equilíbrio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86338D-3B1E-D757-0449-06F42FA4E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Assim como os objetos físicos tem peso, os elementos de um layout também o têm.</a:t>
            </a:r>
          </a:p>
          <a:p>
            <a:r>
              <a:rPr lang="pt-BR" dirty="0"/>
              <a:t>Se os elementos em ambos os lados de um layout tiverem o mesmo peso, eles se equilibram</a:t>
            </a:r>
          </a:p>
          <a:p>
            <a:r>
              <a:rPr lang="pt-BR" dirty="0"/>
              <a:t>Equilíbrio visual simétrico e assimétrico</a:t>
            </a:r>
          </a:p>
        </p:txBody>
      </p:sp>
    </p:spTree>
    <p:extLst>
      <p:ext uri="{BB962C8B-B14F-4D97-AF65-F5344CB8AC3E}">
        <p14:creationId xmlns:p14="http://schemas.microsoft.com/office/powerpoint/2010/main" val="22560890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34B4-6BF6-AB53-379B-AEBFF849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EF742-9FC6-7297-74F0-5CA16E97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Equilíbrio simétrico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4C26E5-1884-E1F9-7502-97116218A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255" y="1824037"/>
            <a:ext cx="4579517" cy="3541714"/>
          </a:xfrm>
        </p:spPr>
        <p:txBody>
          <a:bodyPr/>
          <a:lstStyle/>
          <a:p>
            <a:r>
              <a:rPr lang="pt-BR" dirty="0"/>
              <a:t>Os elementos de uma composição são iguais em ambos os lados de uma linha de eixo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FA9A74-7852-674D-CA6A-870B15506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4" y="1824037"/>
            <a:ext cx="5113759" cy="338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08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D9E0-0DA9-BC55-91EB-7F51E5FD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25DAB-FBDE-A081-46E4-6177871B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Equilíbrio simétrico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E0E6870-1B5C-E2D5-99CB-BDD73BC5F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255" y="1824037"/>
            <a:ext cx="4579517" cy="3541714"/>
          </a:xfrm>
        </p:spPr>
        <p:txBody>
          <a:bodyPr/>
          <a:lstStyle/>
          <a:p>
            <a:r>
              <a:rPr lang="pt-BR" dirty="0"/>
              <a:t>Observe como as figuras masculina e feminina são semelhantes em posição e proporção. Até mesmo as caixas sombreadas do fundo são imagens espelhadas uma da outra.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33905CF-DA47-F583-0817-0F54088A2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824037"/>
            <a:ext cx="46672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11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8E83E-7878-128C-1188-9F57499D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Equilíbrio assimétrico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6CA818-DEBE-76A3-97F1-757EBC46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255" y="1733549"/>
            <a:ext cx="4836695" cy="4415445"/>
          </a:xfrm>
        </p:spPr>
        <p:txBody>
          <a:bodyPr>
            <a:normAutofit fontScale="92500" lnSpcReduction="10000"/>
          </a:bodyPr>
          <a:lstStyle/>
          <a:p>
            <a:r>
              <a:rPr lang="pt-BR" sz="1800" dirty="0"/>
              <a:t>Exemplo de equilíbrio assimétrico é mostrado na figura ao lado. </a:t>
            </a:r>
          </a:p>
          <a:p>
            <a:r>
              <a:rPr lang="pt-BR" sz="1800" dirty="0"/>
              <a:t>Em vez de imagens espelhadas em ambos os lados do layout, o equilíbrio assimétrico envolve objetos de tamanho, forma, tom ou posicionamento diferentes. </a:t>
            </a:r>
          </a:p>
          <a:p>
            <a:r>
              <a:rPr lang="pt-BR" sz="1800" dirty="0"/>
              <a:t>Esses objetos são organizados de forma que, apesar de suas diferenças, eles equalizem o peso da página;</a:t>
            </a:r>
          </a:p>
          <a:p>
            <a:r>
              <a:rPr lang="pt-BR" sz="1800" dirty="0"/>
              <a:t>Por exemplo, se você tiver um objeto grande de um lado da página e o combinar com vários itens menores do outro lado, a composição ainda pode parecer equilibrada.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3D70CEF-40C3-A986-D05F-310C1B585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49" y="1733549"/>
            <a:ext cx="4753919" cy="326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76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923F-FAD9-6552-18DC-FDCE07F8A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6F7191-F457-7364-46D7-90D62D86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Equilíbrio assimétrico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2BCB69-106C-AC81-9789-8C07EEB79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255" y="1733549"/>
            <a:ext cx="4836695" cy="4415445"/>
          </a:xfrm>
        </p:spPr>
        <p:txBody>
          <a:bodyPr>
            <a:normAutofit/>
          </a:bodyPr>
          <a:lstStyle/>
          <a:p>
            <a:r>
              <a:rPr lang="pt-BR" dirty="0"/>
              <a:t>Observe essas pedras ao lado</a:t>
            </a:r>
          </a:p>
          <a:p>
            <a:r>
              <a:rPr lang="pt-BR" dirty="0"/>
              <a:t>Se você usasse um pedaço de papel para cobrir qualquer uma das três pedras abaixo, toda a fotografia pareceria desequilibrada e incompleta. </a:t>
            </a:r>
            <a:endParaRPr lang="pt-BR" sz="1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6508BAE-FEE8-1D2E-4AF8-BBCFF4C14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7" y="1905000"/>
            <a:ext cx="5052391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11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2CA98-16BC-5869-39CD-463B57F4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5E352E-DC90-10FF-F364-EECF57DC2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teoria do design descreve a unidade como a forma como os diferentes elementos de uma composição interagem entre si</a:t>
            </a:r>
          </a:p>
          <a:p>
            <a:r>
              <a:rPr lang="pt-BR" dirty="0"/>
              <a:t>É aquele que funciona como um todo, em vez de ser identificado como peças separadas</a:t>
            </a:r>
          </a:p>
          <a:p>
            <a:r>
              <a:rPr lang="pt-BR" dirty="0"/>
              <a:t>A semelhança de suas formas permite que sejam reconhecidos como um grupo, em vez de quatro elementos distintos</a:t>
            </a:r>
          </a:p>
          <a:p>
            <a:r>
              <a:rPr lang="pt-BR" dirty="0"/>
              <a:t>É importante que a unidade exista não apenas dentro de cada elemento de uma página web, mas em toda a página — a própria página deve funcionar como uma unidade. </a:t>
            </a:r>
          </a:p>
        </p:txBody>
      </p:sp>
    </p:spTree>
    <p:extLst>
      <p:ext uri="{BB962C8B-B14F-4D97-AF65-F5344CB8AC3E}">
        <p14:creationId xmlns:p14="http://schemas.microsoft.com/office/powerpoint/2010/main" val="1359919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CD33-F0C9-9A22-C193-3312ADBEB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448F8-7C33-2535-1C33-139895B8A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3AEEEC-7CAE-2583-16C0-D7F74C969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5919129" cy="4722977"/>
          </a:xfrm>
        </p:spPr>
        <p:txBody>
          <a:bodyPr/>
          <a:lstStyle/>
          <a:p>
            <a:r>
              <a:rPr lang="pt-BR" dirty="0"/>
              <a:t>É importante que a unidade exista não apenas dentro de cada elemento de uma página web, mas em toda a página — a própria página deve funcionar como uma unidade. </a:t>
            </a:r>
          </a:p>
          <a:p>
            <a:r>
              <a:rPr lang="pt-BR" dirty="0"/>
              <a:t>Podemos usar duas abordagens</a:t>
            </a:r>
          </a:p>
          <a:p>
            <a:pPr lvl="1"/>
            <a:r>
              <a:rPr lang="pt-BR" dirty="0"/>
              <a:t>Proximidade e</a:t>
            </a:r>
          </a:p>
          <a:p>
            <a:pPr lvl="1"/>
            <a:r>
              <a:rPr lang="pt-BR" dirty="0"/>
              <a:t>Repetição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34C29A-3E83-227B-4A58-1CB124668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541" y="1847760"/>
            <a:ext cx="49720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582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D781B-E991-9DFD-75E2-14CD35A4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E6B44-74E6-18D9-538C-9A734F5A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670895-5618-2B62-52E7-47512054E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35469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sz="2800" dirty="0"/>
              <a:t>Proximidade</a:t>
            </a:r>
          </a:p>
          <a:p>
            <a:r>
              <a:rPr lang="pt-BR" dirty="0"/>
              <a:t>Colocar objetos próximos uns dos outros em um layout cria um ponto focal para o qual o olhar será atraído</a:t>
            </a:r>
          </a:p>
          <a:p>
            <a:r>
              <a:rPr lang="pt-BR" dirty="0"/>
              <a:t>Praticamos o conceito de proximidade na Web quando começamos a definir margens e preenchimento para elementos</a:t>
            </a:r>
          </a:p>
          <a:p>
            <a:r>
              <a:rPr lang="pt-BR" dirty="0"/>
              <a:t>Por exemplo, quando defino as regras de estilo CSS para sites, geralmente altero a margem padrão que existe entre elementos HTML comuns, como títulos (h1, h2, h3…), parágrafos, citações em bloco e até imagens. Ao alterar esses valores, posso fazer com que mais ou menos espaço apareça entre os elementos, criando assim grupos.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5327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B8A-61DE-0FED-50BF-BD2DDCD2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B8606-6468-ACB1-EACD-CFA4ED9B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7612E4-5DE1-2843-0D79-15679B05F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760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Proximidade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C9B401-F47A-1481-3BD3-26D49789C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451" y="1828800"/>
            <a:ext cx="878205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05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F92D-8C91-1AA6-F63A-DDF3AA92A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38B29-24DF-5298-ED14-F1C4DDDE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9D5287-4B87-AF29-2DA4-86EA5869D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760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Proximidade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39CFAF0-4853-4EC8-480D-9DBB6AD8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09" y="1636053"/>
            <a:ext cx="9267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62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AC5B-F23C-6479-32F0-6A798D172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C3B4C-3595-1EC6-221D-57716578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E1DE98-D8EB-80FE-8824-8A83B1607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10530128" cy="4797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Repetição</a:t>
            </a:r>
          </a:p>
          <a:p>
            <a:r>
              <a:rPr lang="pt-BR" dirty="0"/>
              <a:t>A repetição de cores, formas, texturas ou objetos semelhantes ajuda a unir o design de uma página da web, fazendo com que pareça uma unidade coesa</a:t>
            </a:r>
          </a:p>
          <a:p>
            <a:r>
              <a:rPr lang="pt-BR" dirty="0"/>
              <a:t>A repetição é frequentemente usada em designs de sites para unificar elementos do layout</a:t>
            </a:r>
          </a:p>
          <a:p>
            <a:r>
              <a:rPr lang="pt-BR" dirty="0"/>
              <a:t>O marcador que precede cada item da lista é um indicador visual de que os itens com marcadores fazem parte de um todo</a:t>
            </a:r>
          </a:p>
          <a:p>
            <a:r>
              <a:rPr lang="pt-BR" dirty="0"/>
              <a:t>Padrões e texturas repetidos também podem ajudar a unificar um design</a:t>
            </a:r>
          </a:p>
        </p:txBody>
      </p:sp>
    </p:spTree>
    <p:extLst>
      <p:ext uri="{BB962C8B-B14F-4D97-AF65-F5344CB8AC3E}">
        <p14:creationId xmlns:p14="http://schemas.microsoft.com/office/powerpoint/2010/main" val="8179691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4235-6EE6-F7E8-3D59-FBB3ED89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D04AB-9763-C707-6A9E-67591E20F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114D88-ACE5-37C0-953F-1B042E5C3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7519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Repetição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4F88DA6-6507-424C-74A7-595DD26A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888541"/>
            <a:ext cx="89916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57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44D5-0E97-EC18-7BA0-A005B1EF3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D267D-8072-0112-B84C-E298E746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3DED74-B28F-CEB5-DF92-238B479C4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10530128" cy="4797737"/>
          </a:xfrm>
        </p:spPr>
        <p:txBody>
          <a:bodyPr>
            <a:normAutofit/>
          </a:bodyPr>
          <a:lstStyle/>
          <a:p>
            <a:r>
              <a:rPr lang="pt-BR" dirty="0"/>
              <a:t>Em vez de focar na combinação dos vários elementos de um design, a ênfase consiste em fazer com que um recurso específico atraia a atenção do observador</a:t>
            </a:r>
          </a:p>
          <a:p>
            <a:r>
              <a:rPr lang="pt-BR" dirty="0"/>
              <a:t>Ao projetar o layout de uma página da web, você frequentemente identifica um item no conteúdo, ou no próprio layout, que deseja destacar</a:t>
            </a:r>
          </a:p>
          <a:p>
            <a:r>
              <a:rPr lang="pt-BR" dirty="0"/>
              <a:t>Pode ser um botão para clicar ou uma mensagem de erro para lerem</a:t>
            </a:r>
          </a:p>
          <a:p>
            <a:r>
              <a:rPr lang="pt-BR" dirty="0"/>
              <a:t>Um método para alcançar essa ênfase é transformar esse elemento em um ponto focal</a:t>
            </a:r>
          </a:p>
          <a:p>
            <a:r>
              <a:rPr lang="pt-BR" dirty="0"/>
              <a:t>Assim como com a unidade, existem alguns métodos comprovados para alcançar um ponto focal</a:t>
            </a:r>
          </a:p>
        </p:txBody>
      </p:sp>
    </p:spTree>
    <p:extLst>
      <p:ext uri="{BB962C8B-B14F-4D97-AF65-F5344CB8AC3E}">
        <p14:creationId xmlns:p14="http://schemas.microsoft.com/office/powerpoint/2010/main" val="839320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A2BEA-C132-07DF-6BA6-518981E5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3F7BE-B9B0-9056-5F0B-A86585A2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7222C5-16B5-5414-0B67-1DBEBAE6B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10530128" cy="4797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Posicionamento</a:t>
            </a:r>
          </a:p>
          <a:p>
            <a:r>
              <a:rPr lang="pt-BR" dirty="0"/>
              <a:t>O centro exato de uma composição é o ponto para o qual os usuários olham primeiro e, normalmente, é o local mais forte para produzir ênfase</a:t>
            </a:r>
          </a:p>
          <a:p>
            <a:r>
              <a:rPr lang="pt-BR" dirty="0"/>
              <a:t>Quanto mais distante do centro um elemento estiver, menor a probabilidade de ser notado primeiro</a:t>
            </a:r>
          </a:p>
          <a:p>
            <a:r>
              <a:rPr lang="pt-BR" dirty="0"/>
              <a:t>O canto superior esquerdo da página também tende a exigir muita atenção daqueles que leem da esquerda para a direita e percorrem a página de cima para baixo</a:t>
            </a:r>
          </a:p>
        </p:txBody>
      </p:sp>
    </p:spTree>
    <p:extLst>
      <p:ext uri="{BB962C8B-B14F-4D97-AF65-F5344CB8AC3E}">
        <p14:creationId xmlns:p14="http://schemas.microsoft.com/office/powerpoint/2010/main" val="13880403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FFAF-C364-4EE6-A21B-C3FFA658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E618E-AD09-5870-2A2D-86C7B7E6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E8EFD5-D820-8A02-11B1-4D1CB490D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1925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Continuidade</a:t>
            </a:r>
          </a:p>
          <a:p>
            <a:r>
              <a:rPr lang="pt-BR" dirty="0"/>
              <a:t>Quando nossos olhos começam a se mover em uma direção, eles tendem a continuar nesse caminho até que um elemento mais dominante apareça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96E551-9181-9A08-42A0-37B984A87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399" y="2794958"/>
            <a:ext cx="78200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932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F5E1D-EC85-98C5-62AE-92C74CCA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40515-9BC0-3306-E3E0-7264EA39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CF58DE-23EA-2CB0-4B75-177008EF1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5315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Continuidade</a:t>
            </a:r>
          </a:p>
          <a:p>
            <a:r>
              <a:rPr lang="pt-BR" dirty="0"/>
              <a:t>A borda esquerda dos títulos, textos e imagens colocados em uma página da web forma uma linha vertical na lateral esquerda da página antes que qualquer estilo seja aplicado</a:t>
            </a:r>
          </a:p>
          <a:p>
            <a:r>
              <a:rPr lang="pt-BR" dirty="0"/>
              <a:t>Uma maneira simples de aproveitar ainda mais esse conceito é alinhar os elementos às linhas da sua grade</a:t>
            </a:r>
          </a:p>
        </p:txBody>
      </p:sp>
    </p:spTree>
    <p:extLst>
      <p:ext uri="{BB962C8B-B14F-4D97-AF65-F5344CB8AC3E}">
        <p14:creationId xmlns:p14="http://schemas.microsoft.com/office/powerpoint/2010/main" val="40331181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B6576-888D-4E21-D4AC-FEA04A0AE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EFB23-6C35-AAA4-B954-26B81411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610092-E71D-6BFE-FFA0-B0A963BB0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665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Continuidade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09B64DE-9CA1-C3C9-D0A2-D41241294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505" y="1664179"/>
            <a:ext cx="8026990" cy="4676236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86AC591-809D-D64B-4E29-6BDED03C6928}"/>
              </a:ext>
            </a:extLst>
          </p:cNvPr>
          <p:cNvCxnSpPr/>
          <p:nvPr/>
        </p:nvCxnSpPr>
        <p:spPr>
          <a:xfrm>
            <a:off x="1561381" y="3062389"/>
            <a:ext cx="9290649" cy="0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4B9BB61-A7E1-FCA4-166B-437C26414154}"/>
              </a:ext>
            </a:extLst>
          </p:cNvPr>
          <p:cNvCxnSpPr/>
          <p:nvPr/>
        </p:nvCxnSpPr>
        <p:spPr>
          <a:xfrm>
            <a:off x="1561381" y="4482873"/>
            <a:ext cx="9290649" cy="0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31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A6E2-60B2-A712-39F6-431CD7BCF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7414D-E16E-F980-856A-4A60C17B7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D61AA3-03C9-27E4-1F73-3AC0EC6AA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1899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Isolamento</a:t>
            </a:r>
          </a:p>
          <a:p>
            <a:r>
              <a:rPr lang="pt-BR" dirty="0"/>
              <a:t>Um item que se destaca do seu entorno tende a chamar a atenção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2688B7-9BAA-B6DF-25C7-5E3A89B80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79" y="2590619"/>
            <a:ext cx="3971186" cy="291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15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5621E-1F5E-CA79-90F7-C459DC15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9B425-92C6-E703-B9C4-3E312D7B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4AB7F7-1B3F-705D-C428-DF1E64F9A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5315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Contraste</a:t>
            </a:r>
          </a:p>
          <a:p>
            <a:r>
              <a:rPr lang="pt-BR" dirty="0"/>
              <a:t>É definido como a justaposição de elementos gráficos diferentes e é o método mais comum usado para criar ênfase em um layout</a:t>
            </a:r>
          </a:p>
          <a:p>
            <a:r>
              <a:rPr lang="pt-BR" dirty="0"/>
              <a:t>Quanto maior a diferença entre um elemento gráfico e seu entorno, mais esse elemento se destacará</a:t>
            </a:r>
          </a:p>
          <a:p>
            <a:r>
              <a:rPr lang="pt-BR" dirty="0"/>
              <a:t>O contraste pode ser criado usando diferenças de cor, tamanho e forma</a:t>
            </a:r>
          </a:p>
        </p:txBody>
      </p:sp>
    </p:spTree>
    <p:extLst>
      <p:ext uri="{BB962C8B-B14F-4D97-AF65-F5344CB8AC3E}">
        <p14:creationId xmlns:p14="http://schemas.microsoft.com/office/powerpoint/2010/main" val="20799243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A7E23-7EB7-8F34-96CC-6C187713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94828-0128-98A0-1EEF-69D7B86D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CC414-F984-0964-E8FF-09D1DC105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717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Contraste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B000F0-0A06-BFEF-9370-87D49E735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27" y="1597324"/>
            <a:ext cx="8979369" cy="493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598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3F26-A2E0-A375-34E8-9F0F0F3E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52FAB-B4BE-2294-FF99-6622A39B2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3B1856-AB46-A842-2F3B-66A34A425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5315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Proporção</a:t>
            </a:r>
          </a:p>
          <a:p>
            <a:r>
              <a:rPr lang="pt-BR" dirty="0"/>
              <a:t>É um princípio de design que tem a ver com as diferenças na escala dos objetos</a:t>
            </a:r>
          </a:p>
          <a:p>
            <a:r>
              <a:rPr lang="pt-BR" dirty="0"/>
              <a:t>Se colocarmos um objeto em um ambiente de escala menor do que o próprio objeto, ele parecerá maior do que na vida real, e vice-versa</a:t>
            </a:r>
          </a:p>
          <a:p>
            <a:r>
              <a:rPr lang="pt-BR" dirty="0"/>
              <a:t>Essa diferença de proporção chama a atenção do observador para o objeto, pois ele parece deslocado naquele contexto</a:t>
            </a:r>
          </a:p>
        </p:txBody>
      </p:sp>
    </p:spTree>
    <p:extLst>
      <p:ext uri="{BB962C8B-B14F-4D97-AF65-F5344CB8AC3E}">
        <p14:creationId xmlns:p14="http://schemas.microsoft.com/office/powerpoint/2010/main" val="2153860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D53F-68D1-4510-8F66-285176D2A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C32BB3-E710-3769-8FAD-9E9DCA131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FCC96C-DB08-0C47-6A5E-83061ACD2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657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Proporção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106C6B-48B8-4DFB-277A-25987E9CB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007" y="1619070"/>
            <a:ext cx="8102810" cy="479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642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098F-6D6E-A587-46BA-D1B9E6007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6A7E7-F060-AF2E-AA25-513E86440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ênfase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0D9CF8-E3D8-2071-6FE9-67B72BA02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10530128" cy="5315322"/>
          </a:xfrm>
        </p:spPr>
        <p:txBody>
          <a:bodyPr>
            <a:normAutofit/>
          </a:bodyPr>
          <a:lstStyle/>
          <a:p>
            <a:r>
              <a:rPr lang="pt-BR" dirty="0"/>
              <a:t>Criar ênfase no seu design não é apenas a chave para fazer com que sua chamada para ação se destaque. É também como guiamos o olhar do visitante pela página</a:t>
            </a:r>
          </a:p>
          <a:p>
            <a:r>
              <a:rPr lang="pt-BR" dirty="0"/>
              <a:t>Você pode sugerir uma ordem a ser seguida pelos visitantes</a:t>
            </a:r>
          </a:p>
          <a:p>
            <a:r>
              <a:rPr lang="pt-BR" dirty="0"/>
              <a:t>Por exemplo, ao combinar as </a:t>
            </a:r>
            <a:r>
              <a:rPr lang="pt-BR" i="1" dirty="0" err="1"/>
              <a:t>tags</a:t>
            </a:r>
            <a:r>
              <a:rPr lang="pt-BR" dirty="0"/>
              <a:t> de título h1 a h6 com um nível respectivo de ênfase visual, você pode fornecer uma visão semelhante do que é visualmente importante na página para mecanismos de busca e visitantes com deficiência visual</a:t>
            </a:r>
          </a:p>
        </p:txBody>
      </p:sp>
    </p:spTree>
    <p:extLst>
      <p:ext uri="{BB962C8B-B14F-4D97-AF65-F5344CB8AC3E}">
        <p14:creationId xmlns:p14="http://schemas.microsoft.com/office/powerpoint/2010/main" val="865915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3B27A-DA49-C952-E5B8-C4DD4A52E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Layouts básicos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4FF3E1-3C24-2933-AEDB-B93EE112C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possibilidades de layouts são infinitas</a:t>
            </a:r>
          </a:p>
          <a:p>
            <a:r>
              <a:rPr lang="pt-BR" dirty="0"/>
              <a:t>Dependendo dos objetivos, somente algumas fazem sentido</a:t>
            </a:r>
          </a:p>
          <a:p>
            <a:r>
              <a:rPr lang="pt-BR" dirty="0"/>
              <a:t>Por isso vemos configurações de identidade, navegação e conteúdo repetidamente</a:t>
            </a:r>
          </a:p>
          <a:p>
            <a:r>
              <a:rPr lang="pt-BR" dirty="0"/>
              <a:t>Veremos três layouts comuns e suas vantagens e desvantagens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48233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38C6-5256-E353-C00C-C413B729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97330-9487-95E7-7604-2CA225FE5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Layouts básicos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61D81D-2BB8-C849-06C7-A75D2A393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Navegação na coluna da esquerda</a:t>
            </a:r>
          </a:p>
          <a:p>
            <a:r>
              <a:rPr lang="pt-BR" dirty="0"/>
              <a:t>Padrão consagrado</a:t>
            </a:r>
          </a:p>
          <a:p>
            <a:r>
              <a:rPr lang="pt-BR" dirty="0"/>
              <a:t>Nem sempre é o bloco de navegação principal</a:t>
            </a:r>
          </a:p>
          <a:p>
            <a:r>
              <a:rPr lang="pt-BR" dirty="0"/>
              <a:t>Divide o layout abaixo do cabeçalho em uma coluna da esquerda estreita e uma coluna da direita larga</a:t>
            </a:r>
          </a:p>
          <a:p>
            <a:r>
              <a:rPr lang="pt-BR" dirty="0"/>
              <a:t>Escolha segura para a maioria dos projetos</a:t>
            </a:r>
          </a:p>
          <a:p>
            <a:r>
              <a:rPr lang="pt-BR" dirty="0"/>
              <a:t>Podem parecer pouco criativos (tendem a fica parecidos)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31174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89CB2-57E8-F15E-1F24-86BC1C55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76109-A75A-BCC5-FB73-D248E53F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Layouts básicos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1C42173-0C0D-41C7-DDE2-ABAC6FCCB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637" y="1246067"/>
            <a:ext cx="935355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692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54C7-2966-253E-C71E-7C84F859F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D89CA-3BB6-338B-3B5C-BB268998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Layouts básicos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C1C3E8-A352-A607-F90E-57446F3C5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Navegação na coluna da direita</a:t>
            </a:r>
          </a:p>
          <a:p>
            <a:r>
              <a:rPr lang="pt-BR" dirty="0"/>
              <a:t>O mais comum é colocar a publicidade e o conteúdo secundário à direita</a:t>
            </a:r>
          </a:p>
          <a:p>
            <a:r>
              <a:rPr lang="pt-BR" dirty="0"/>
              <a:t>No exemplo da imagem a seguir a navegação secundária está à direita, mas a quatro cliques da página inicial.</a:t>
            </a:r>
          </a:p>
          <a:p>
            <a:r>
              <a:rPr lang="pt-BR" dirty="0"/>
              <a:t>À esquerda ou à direita depende da quantidade e do tipo de conteúdo</a:t>
            </a:r>
          </a:p>
          <a:p>
            <a:r>
              <a:rPr lang="pt-BR" dirty="0"/>
              <a:t>Os visitantes cada vez mais procuram o conteúdo à esquerda</a:t>
            </a:r>
          </a:p>
        </p:txBody>
      </p:sp>
    </p:spTree>
    <p:extLst>
      <p:ext uri="{BB962C8B-B14F-4D97-AF65-F5344CB8AC3E}">
        <p14:creationId xmlns:p14="http://schemas.microsoft.com/office/powerpoint/2010/main" val="59496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EC60-6639-884B-8630-A5675690A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F3746-D29E-38F5-6512-81F41F73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Layouts básicos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ADE1EB9-DFCA-A329-ED1C-D432E331B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82" y="1187120"/>
            <a:ext cx="7285996" cy="479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329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4AF55-B98F-E93A-8E6B-44534DBA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5EDDE2D-0146-0868-1C44-C9E5CA2D2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091" y="3213788"/>
            <a:ext cx="5162550" cy="31908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2F72A4F-A10D-ADF4-2320-7FA2962B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Layouts básicos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3F5831-67AA-BFA8-ADBC-51810DE1A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Navegação em três colunas</a:t>
            </a:r>
          </a:p>
          <a:p>
            <a:r>
              <a:rPr lang="pt-BR" dirty="0"/>
              <a:t>Nesse caso, o espaço em branco é essencial para não deixar o layout confuso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FB49CB0-E511-4E42-4E6C-9E33FED7C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2" y="2161636"/>
            <a:ext cx="55911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705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Vetores de Codigo cor gradiente - Baixe vetores grátis de alta qualidade do  Freepik | Freepik">
            <a:extLst>
              <a:ext uri="{FF2B5EF4-FFF2-40B4-BE49-F238E27FC236}">
                <a16:creationId xmlns:a16="http://schemas.microsoft.com/office/drawing/2014/main" id="{71DF606C-6B3A-15F0-3419-748F1FA60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34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ECBA7C2-2739-644D-DE2A-F288AF3EC4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dirty="0"/>
              <a:t>cores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8EB3B0-8AE1-76A4-70BF-3E23CF9A2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4286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96C54-9B69-E5AD-E70D-60AF8A6B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5AFA55-EBBC-0B56-F9FE-EC7AFF618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erro pode ser fatal</a:t>
            </a:r>
          </a:p>
          <a:p>
            <a:r>
              <a:rPr lang="pt-BR" dirty="0"/>
              <a:t>Não é uma tarefa fácil</a:t>
            </a:r>
          </a:p>
          <a:p>
            <a:r>
              <a:rPr lang="pt-BR" dirty="0"/>
              <a:t>Considerações estéticas, de identidade e de usabilidade</a:t>
            </a:r>
          </a:p>
          <a:p>
            <a:r>
              <a:rPr lang="pt-BR" dirty="0"/>
              <a:t>Monitores modernos conseguem exibir mais de 16M de cores</a:t>
            </a:r>
          </a:p>
          <a:p>
            <a:r>
              <a:rPr lang="pt-BR" dirty="0"/>
              <a:t>Não existe cor errada para usar</a:t>
            </a:r>
          </a:p>
          <a:p>
            <a:r>
              <a:rPr lang="pt-BR"/>
              <a:t>O sucesso de um esquema de cores depende da harmonia que existe entre todas as cores que você escolher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38085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5190D-2DBC-9258-1BEC-7FD9650C5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7DD9C-9B3B-531C-D070-86D6BF1D5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psicologia das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7EBC22-0A5D-A910-A15B-2C01C0FB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Estudo dedicado à análise dos efeitos emocionais e comportamentais produzidos pelas cores e suas combinações</a:t>
            </a:r>
          </a:p>
          <a:p>
            <a:r>
              <a:rPr lang="pt-BR" dirty="0"/>
              <a:t>Como fazer visitantes do site gastar mais dinheiro</a:t>
            </a:r>
          </a:p>
          <a:p>
            <a:r>
              <a:rPr lang="pt-BR" dirty="0"/>
              <a:t>Como transformar um quarto num refúgio zen</a:t>
            </a:r>
          </a:p>
          <a:p>
            <a:r>
              <a:rPr lang="pt-BR" dirty="0"/>
              <a:t>Como pedir uma porção extra grande</a:t>
            </a:r>
          </a:p>
          <a:p>
            <a:r>
              <a:rPr lang="pt-BR" dirty="0"/>
              <a:t>Definidas por experiência individual</a:t>
            </a:r>
          </a:p>
          <a:p>
            <a:r>
              <a:rPr lang="pt-BR" dirty="0"/>
              <a:t>Muitas culturas tem associações e interpretações diferentes</a:t>
            </a:r>
          </a:p>
        </p:txBody>
      </p:sp>
    </p:spTree>
    <p:extLst>
      <p:ext uri="{BB962C8B-B14F-4D97-AF65-F5344CB8AC3E}">
        <p14:creationId xmlns:p14="http://schemas.microsoft.com/office/powerpoint/2010/main" val="14837512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5AD3-C4B5-D2EC-017A-B535E725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80569-2A9E-EE01-E13D-228094E2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1F851B-BB7E-C7D8-6098-82BE75C88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276217" cy="4722977"/>
          </a:xfrm>
        </p:spPr>
        <p:txBody>
          <a:bodyPr>
            <a:normAutofit fontScale="92500"/>
          </a:bodyPr>
          <a:lstStyle/>
          <a:p>
            <a:r>
              <a:rPr lang="pt-BR" dirty="0"/>
              <a:t>VERMELHO</a:t>
            </a:r>
          </a:p>
          <a:p>
            <a:r>
              <a:rPr lang="pt-BR" dirty="0"/>
              <a:t>Tem a reputação de estimular a adrenalina e a pressão arterial, além de ser conhecida por acelerar o metabolismo humano</a:t>
            </a:r>
          </a:p>
          <a:p>
            <a:r>
              <a:rPr lang="pt-BR" dirty="0"/>
              <a:t>Também é a cor da paixão</a:t>
            </a:r>
          </a:p>
          <a:p>
            <a:r>
              <a:rPr lang="pt-BR" dirty="0"/>
              <a:t>Tons mais escuros de vermelho, como o bordô e o marrom-avermelhado, transmitem uma sensação de requinte e indulgência</a:t>
            </a:r>
          </a:p>
          <a:p>
            <a:r>
              <a:rPr lang="pt-BR" dirty="0"/>
              <a:t>Considere essas cores ao projetar qualquer coisa para entusiastas de vinho ou apreciadores do bom gosto.</a:t>
            </a:r>
          </a:p>
          <a:p>
            <a:r>
              <a:rPr lang="pt-BR" dirty="0"/>
              <a:t>Os tons terrosos de vermelho são associados ao outono e à época da colheita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953D224-A826-B130-AC28-83A0953D9B50}"/>
              </a:ext>
            </a:extLst>
          </p:cNvPr>
          <p:cNvSpPr/>
          <p:nvPr/>
        </p:nvSpPr>
        <p:spPr>
          <a:xfrm>
            <a:off x="10417629" y="0"/>
            <a:ext cx="1774371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6277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3891B-96EE-50AC-C982-11A81AAA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28AB4-BE76-2142-43C7-F8BB055B1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F55839-B27F-2019-2D05-F611F672A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276217" cy="5446876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LARANJA</a:t>
            </a:r>
          </a:p>
          <a:p>
            <a:r>
              <a:rPr lang="pt-BR" dirty="0"/>
              <a:t>O laranja é uma cor ativa e energética</a:t>
            </a:r>
          </a:p>
          <a:p>
            <a:r>
              <a:rPr lang="pt-BR" dirty="0"/>
              <a:t>Promove a felicidade e represente o sol, o entusiasmo e a criatividade</a:t>
            </a:r>
          </a:p>
          <a:p>
            <a:r>
              <a:rPr lang="pt-BR" dirty="0"/>
              <a:t>É mais informal e menos corporativa do que o vermelho</a:t>
            </a:r>
          </a:p>
          <a:p>
            <a:r>
              <a:rPr lang="pt-BR" dirty="0"/>
              <a:t>É relativamente rara na natureza, ela tende a chamar a nossa atenção quando a vemos</a:t>
            </a:r>
          </a:p>
          <a:p>
            <a:r>
              <a:rPr lang="pt-BR" dirty="0"/>
              <a:t>É frequentemente usada em objetos que exigem alta visibilidade, como coletes salva-vidas, cones de trânsito e coletes de caça</a:t>
            </a:r>
          </a:p>
          <a:p>
            <a:r>
              <a:rPr lang="pt-BR" dirty="0"/>
              <a:t>Também estimula o metabolismo e o apetite. Ótima cor para promover alimentos e culinária</a:t>
            </a:r>
          </a:p>
          <a:p>
            <a:r>
              <a:rPr lang="pt-BR" dirty="0"/>
              <a:t>Provavelmente é por isso que a imagem de uma tangerina está lhe dando fome, mesmo que você não goste de frutas cítricas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1ACF381-55F3-900F-38A1-AFB590EDBB65}"/>
              </a:ext>
            </a:extLst>
          </p:cNvPr>
          <p:cNvSpPr/>
          <p:nvPr/>
        </p:nvSpPr>
        <p:spPr>
          <a:xfrm>
            <a:off x="10417629" y="0"/>
            <a:ext cx="1774371" cy="68580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Muda de Tangerina Dekopon – Frutos Gigantes">
            <a:extLst>
              <a:ext uri="{FF2B5EF4-FFF2-40B4-BE49-F238E27FC236}">
                <a16:creationId xmlns:a16="http://schemas.microsoft.com/office/drawing/2014/main" id="{E547D8F1-FCE6-5B41-8F8D-4BFC1C6C656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24220" y="-665666"/>
            <a:ext cx="3467780" cy="346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146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7CABD-1D84-A174-4437-3C12FF4E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086A6-1321-46F4-E501-17EADD27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5EB0EF-1CFD-6183-FA30-69745E515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276217" cy="5446876"/>
          </a:xfrm>
        </p:spPr>
        <p:txBody>
          <a:bodyPr>
            <a:normAutofit/>
          </a:bodyPr>
          <a:lstStyle/>
          <a:p>
            <a:r>
              <a:rPr lang="pt-BR" dirty="0"/>
              <a:t>AMARELO</a:t>
            </a:r>
          </a:p>
          <a:p>
            <a:r>
              <a:rPr lang="pt-BR" dirty="0"/>
              <a:t>É uma cor ativa e, por ser altamente visível, é frequentemente usado em táxis e placas de advertência</a:t>
            </a:r>
          </a:p>
          <a:p>
            <a:r>
              <a:rPr lang="pt-BR" dirty="0"/>
              <a:t>Está associado à felicidade</a:t>
            </a:r>
          </a:p>
          <a:p>
            <a:r>
              <a:rPr lang="pt-BR" dirty="0"/>
              <a:t>Os sabores originais de laranja e limão-lima da Gatorade ainda são os produtos mais vendidos da marca; isso provavelmente se deve — pelo menos em parte — às características energéticas associadas às cores laranja e amarelo.</a:t>
            </a:r>
          </a:p>
          <a:p>
            <a:r>
              <a:rPr lang="pt-BR" dirty="0"/>
              <a:t>Amarelo em excesso pode ser opressivo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4433731-6050-9ED1-6931-8CE9B6C18FB6}"/>
              </a:ext>
            </a:extLst>
          </p:cNvPr>
          <p:cNvSpPr/>
          <p:nvPr/>
        </p:nvSpPr>
        <p:spPr>
          <a:xfrm>
            <a:off x="10417629" y="0"/>
            <a:ext cx="1774371" cy="68580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5847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178CD-B7D1-0698-4648-A59B27616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47931-EA58-B6E8-8552-42C47812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C48D6F-43B2-C1D5-84C3-65E4041C9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276217" cy="5446876"/>
          </a:xfrm>
        </p:spPr>
        <p:txBody>
          <a:bodyPr>
            <a:normAutofit/>
          </a:bodyPr>
          <a:lstStyle/>
          <a:p>
            <a:r>
              <a:rPr lang="pt-BR" dirty="0"/>
              <a:t>VERDE</a:t>
            </a:r>
          </a:p>
          <a:p>
            <a:r>
              <a:rPr lang="pt-BR" dirty="0"/>
              <a:t>É mais comumente associado à natureza</a:t>
            </a:r>
          </a:p>
          <a:p>
            <a:r>
              <a:rPr lang="pt-BR" dirty="0"/>
              <a:t>Cor calmante que simboliza crescimento, frescor e esperança</a:t>
            </a:r>
          </a:p>
          <a:p>
            <a:r>
              <a:rPr lang="pt-BR" dirty="0"/>
              <a:t>Visualmente, o verde é muito mais agradável aos olhos </a:t>
            </a:r>
          </a:p>
          <a:p>
            <a:r>
              <a:rPr lang="pt-BR" dirty="0"/>
              <a:t>É uma cor versátil que também pode representar riqueza, estabilidade e educação</a:t>
            </a:r>
          </a:p>
          <a:p>
            <a:r>
              <a:rPr lang="pt-BR" dirty="0"/>
              <a:t>Quando o verde brilhante é colocado sobre um fundo preto, ele realmente se destaca, dando ao design um toque tecnológico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5B6A5D6-69E9-719F-9968-FE093E4DCF52}"/>
              </a:ext>
            </a:extLst>
          </p:cNvPr>
          <p:cNvSpPr/>
          <p:nvPr/>
        </p:nvSpPr>
        <p:spPr>
          <a:xfrm>
            <a:off x="10417629" y="0"/>
            <a:ext cx="1774371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0844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855B8-DE2F-0531-8F8C-360A66733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9AB29-CB76-A14D-429E-8D3ED3842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E80C51-9CE9-8787-AEC3-616C58C48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276217" cy="544687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AZUL</a:t>
            </a:r>
          </a:p>
          <a:p>
            <a:r>
              <a:rPr lang="pt-BR" dirty="0"/>
              <a:t>Frequentemente citado como uma cor universalmente amada</a:t>
            </a:r>
          </a:p>
          <a:p>
            <a:r>
              <a:rPr lang="pt-BR" dirty="0"/>
              <a:t>Em um nível sensorial, o azul simboliza abertura, inteligência e fé, e foi constatado que possui efeitos calmantes</a:t>
            </a:r>
          </a:p>
          <a:p>
            <a:r>
              <a:rPr lang="pt-BR" dirty="0"/>
              <a:t>Também foi constatado que o azul reduz o apetite</a:t>
            </a:r>
          </a:p>
          <a:p>
            <a:r>
              <a:rPr lang="pt-BR" dirty="0"/>
              <a:t>As vezes é visto como um símbolo de azar e problemas</a:t>
            </a:r>
          </a:p>
          <a:p>
            <a:r>
              <a:rPr lang="pt-BR" dirty="0"/>
              <a:t>Tem apelo universal devido à sua associação com o céu e o mar</a:t>
            </a:r>
          </a:p>
          <a:p>
            <a:r>
              <a:rPr lang="pt-BR" dirty="0"/>
              <a:t>Essa conexão visual torna o azul uma escolha óbvia para sites associados a companhias aéreas, ar-condicionado, filtros de piscina e cruzeiros</a:t>
            </a:r>
          </a:p>
          <a:p>
            <a:r>
              <a:rPr lang="pt-BR" dirty="0"/>
              <a:t>Também transmite uma sensação de estabilidade e clareza de propósito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6C2649D-36B3-9094-E1E9-77572AA8587B}"/>
              </a:ext>
            </a:extLst>
          </p:cNvPr>
          <p:cNvSpPr/>
          <p:nvPr/>
        </p:nvSpPr>
        <p:spPr>
          <a:xfrm>
            <a:off x="10417629" y="0"/>
            <a:ext cx="1774371" cy="6858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6030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AECD9-4FF5-9F8C-E25F-2A6B9CE48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4D20A-0606-2C88-AD0B-42E4AC98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041131-5EBF-DA03-FF39-CFCEBB59B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276217" cy="5446876"/>
          </a:xfrm>
        </p:spPr>
        <p:txBody>
          <a:bodyPr>
            <a:normAutofit/>
          </a:bodyPr>
          <a:lstStyle/>
          <a:p>
            <a:r>
              <a:rPr lang="pt-BR" dirty="0"/>
              <a:t>ROXO</a:t>
            </a:r>
          </a:p>
          <a:p>
            <a:r>
              <a:rPr lang="pt-BR" dirty="0"/>
              <a:t>Historicamente, a cor roxa tem sido associada à realeza e ao poder</a:t>
            </a:r>
          </a:p>
          <a:p>
            <a:r>
              <a:rPr lang="pt-BR" dirty="0"/>
              <a:t>O roxo é frequentemente associado a flores, pedras preciosas e vinho</a:t>
            </a:r>
          </a:p>
          <a:p>
            <a:r>
              <a:rPr lang="pt-BR" dirty="0"/>
              <a:t>Ele equilibra a estimulação do vermelho e os efeitos calmantes do azul</a:t>
            </a:r>
          </a:p>
          <a:p>
            <a:r>
              <a:rPr lang="pt-BR" dirty="0"/>
              <a:t>O roxo é uma das cores menos usadas no design de sites</a:t>
            </a:r>
          </a:p>
          <a:p>
            <a:r>
              <a:rPr lang="pt-BR" dirty="0"/>
              <a:t>Se você está tentando criar um design de site que se destaque, considere usar um tom rico de roxo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342DFD-F204-9E53-1394-76ADCA87734F}"/>
              </a:ext>
            </a:extLst>
          </p:cNvPr>
          <p:cNvSpPr/>
          <p:nvPr/>
        </p:nvSpPr>
        <p:spPr>
          <a:xfrm>
            <a:off x="10417629" y="0"/>
            <a:ext cx="1774371" cy="685800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1480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93D50-1D7F-D2A1-E528-743E717FC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C8502A-989A-43CA-F9DB-95CF1199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612A59-524E-E14E-F20F-C9642C52B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276217" cy="5446876"/>
          </a:xfrm>
        </p:spPr>
        <p:txBody>
          <a:bodyPr>
            <a:normAutofit/>
          </a:bodyPr>
          <a:lstStyle/>
          <a:p>
            <a:r>
              <a:rPr lang="pt-BR" dirty="0"/>
              <a:t>BRANCO</a:t>
            </a:r>
          </a:p>
          <a:p>
            <a:r>
              <a:rPr lang="pt-BR" dirty="0"/>
              <a:t>Nas culturas ocidentais, o branco é considerado a cor da perfeição, da luz e da pureza</a:t>
            </a:r>
          </a:p>
          <a:p>
            <a:r>
              <a:rPr lang="pt-BR" dirty="0"/>
              <a:t>Na cultura chinesa, o branco é uma cor tradicionalmente associada à morte e ao luto</a:t>
            </a:r>
          </a:p>
          <a:p>
            <a:r>
              <a:rPr lang="pt-BR" dirty="0"/>
              <a:t>Tente usar um fundo escuro com texto branco ou coloque um bloco de fundo branco em uma tela quase branca para destacá-lo. Usar cores de maneiras inesperadas pode criar um impacto ousado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32B28D-23BD-6F0C-D03B-855DC97E84C7}"/>
              </a:ext>
            </a:extLst>
          </p:cNvPr>
          <p:cNvSpPr/>
          <p:nvPr/>
        </p:nvSpPr>
        <p:spPr>
          <a:xfrm>
            <a:off x="10417629" y="0"/>
            <a:ext cx="1774371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19513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C06EA-ED7D-1A36-6B00-E2FBCFF3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0EC5C7D-476F-C255-C7E1-91E89D30A7E0}"/>
              </a:ext>
            </a:extLst>
          </p:cNvPr>
          <p:cNvSpPr/>
          <p:nvPr/>
        </p:nvSpPr>
        <p:spPr>
          <a:xfrm>
            <a:off x="-3176" y="999858"/>
            <a:ext cx="10420806" cy="58581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450EA3-2EDD-1368-6804-409E6827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29777-A2D5-DEEA-2AB2-799DE73C6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276217" cy="544687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PRETO</a:t>
            </a:r>
          </a:p>
          <a:p>
            <a:r>
              <a:rPr lang="pt-BR" dirty="0">
                <a:solidFill>
                  <a:schemeClr val="bg1"/>
                </a:solidFill>
              </a:rPr>
              <a:t>Frequentemente sofra com conotações negativas, como morte e maldade</a:t>
            </a:r>
          </a:p>
          <a:p>
            <a:r>
              <a:rPr lang="pt-BR" dirty="0">
                <a:solidFill>
                  <a:schemeClr val="bg1"/>
                </a:solidFill>
              </a:rPr>
              <a:t>Também pode ser uma cor de poder, elegância e força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4BE032A-87D3-DE09-298A-AAED7A464236}"/>
              </a:ext>
            </a:extLst>
          </p:cNvPr>
          <p:cNvSpPr/>
          <p:nvPr/>
        </p:nvSpPr>
        <p:spPr>
          <a:xfrm>
            <a:off x="10417629" y="0"/>
            <a:ext cx="177437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5955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ADAB6-8745-387D-B13B-153AF712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TEMPERATURA DAS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BEF438-3E3C-FB8B-272E-03410E220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a cor da tubulação que fornece água?</a:t>
            </a:r>
          </a:p>
          <a:p>
            <a:r>
              <a:rPr lang="pt-BR" dirty="0"/>
              <a:t>Qual cor você associa ao gelo?</a:t>
            </a:r>
          </a:p>
          <a:p>
            <a:r>
              <a:rPr lang="pt-BR" dirty="0"/>
              <a:t>Por quê?</a:t>
            </a:r>
          </a:p>
        </p:txBody>
      </p:sp>
    </p:spTree>
    <p:extLst>
      <p:ext uri="{BB962C8B-B14F-4D97-AF65-F5344CB8AC3E}">
        <p14:creationId xmlns:p14="http://schemas.microsoft.com/office/powerpoint/2010/main" val="30106307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DA60C-3F6C-A965-67A5-4E7B5DBC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BBCC5-A7CB-8315-8401-83914106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CORES QUENTES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6A25C3-CE04-BC21-E34E-7D54C9E0F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as cores do vermelho ao amarelo, incluindo laranja, rosa, marrom e bordô.</a:t>
            </a:r>
          </a:p>
          <a:p>
            <a:r>
              <a:rPr lang="pt-BR" dirty="0"/>
              <a:t>Devido à sua associação com sol e fogo</a:t>
            </a:r>
          </a:p>
          <a:p>
            <a:r>
              <a:rPr lang="pt-BR" dirty="0"/>
              <a:t>Representam o calor e o movimento</a:t>
            </a:r>
          </a:p>
          <a:p>
            <a:r>
              <a:rPr lang="pt-BR" dirty="0"/>
              <a:t>Quando colocadas perto de uma cor fria, tende a se destacar, dominar e produzir ênfase visual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25F71C-C679-EC81-A131-A1A5654EA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819" y="4282104"/>
            <a:ext cx="8360592" cy="218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09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9EB5-EBD5-5754-9B56-276ABC38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BD08B-774D-2B9E-B760-282792BC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CORES FRIAS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BDC757-98A9-3B89-9BB9-E65724D6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as cores do verde ao azul e podem incluir alguns tons de violeta</a:t>
            </a:r>
          </a:p>
          <a:p>
            <a:r>
              <a:rPr lang="pt-BR" dirty="0"/>
              <a:t>Violeta é intermediário entre vermelho e azul</a:t>
            </a:r>
          </a:p>
          <a:p>
            <a:r>
              <a:rPr lang="pt-BR" dirty="0"/>
              <a:t>São cores calmantes e podem reduzir a tensão</a:t>
            </a:r>
          </a:p>
          <a:p>
            <a:r>
              <a:rPr lang="pt-BR" dirty="0"/>
              <a:t>Ótimas para fundos e elementos maiores em uma página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EC205D6-8AC0-EDA7-A7B2-187DA1100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736" y="3859393"/>
            <a:ext cx="8968587" cy="231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512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BD2F3-219A-00A7-C6AF-E8A41805A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VALORES CROMÁTICOS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DE72B3-939D-CFDB-09B8-1DE70A644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10843759" cy="4722977"/>
          </a:xfrm>
        </p:spPr>
        <p:txBody>
          <a:bodyPr/>
          <a:lstStyle/>
          <a:p>
            <a:r>
              <a:rPr lang="pt-BR" dirty="0"/>
              <a:t>É a medida da luminosidade ou escuridão de uma cor</a:t>
            </a:r>
          </a:p>
          <a:p>
            <a:r>
              <a:rPr lang="pt-BR" dirty="0"/>
              <a:t>Adicionar branco a uma cor cria um matiz dessa cor</a:t>
            </a:r>
          </a:p>
          <a:p>
            <a:r>
              <a:rPr lang="pt-BR" dirty="0"/>
              <a:t>Da mesma forma uma sombra é produzida adicionando preto</a:t>
            </a:r>
          </a:p>
          <a:p>
            <a:r>
              <a:rPr lang="pt-BR" dirty="0"/>
              <a:t>Adicionar uma cor complementar produzirá uma sombra mais realista</a:t>
            </a:r>
          </a:p>
          <a:p>
            <a:r>
              <a:rPr lang="pt-BR" dirty="0"/>
              <a:t>O valor cromático das cores pode impactar a conexão psicológica</a:t>
            </a:r>
          </a:p>
          <a:p>
            <a:r>
              <a:rPr lang="pt-BR" dirty="0"/>
              <a:t>Em um site sobre vida noturna, quais cores você usaria?</a:t>
            </a:r>
          </a:p>
          <a:p>
            <a:r>
              <a:rPr lang="pt-BR" dirty="0"/>
              <a:t>Os matizes tendem a ser associados à luz do dia, à primavera e à infância</a:t>
            </a:r>
          </a:p>
          <a:p>
            <a:pPr lvl="1"/>
            <a:r>
              <a:rPr lang="pt-BR" dirty="0"/>
              <a:t>Pense em: nascer do sol, roupas de bebê e Ursinhos Carinhosos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280334-22DB-F4E1-4E86-6F9065DA73AE}"/>
              </a:ext>
            </a:extLst>
          </p:cNvPr>
          <p:cNvSpPr txBox="1"/>
          <p:nvPr/>
        </p:nvSpPr>
        <p:spPr>
          <a:xfrm>
            <a:off x="1141411" y="5568042"/>
            <a:ext cx="1084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Matiz:</a:t>
            </a:r>
          </a:p>
          <a:p>
            <a:r>
              <a:rPr lang="pt-BR" b="1" dirty="0"/>
              <a:t>Na Cor (Colorimetria):</a:t>
            </a:r>
            <a:r>
              <a:rPr lang="pt-BR" dirty="0"/>
              <a:t> Refere-se à cor na sua forma mais vibrante e pura. É uma das três propriedades da cor, junto com a saturação (intensidade) e a luminosidade (brilho).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F9D003-0CB3-0460-C7AF-569B0CD34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089" y="1066799"/>
            <a:ext cx="93345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506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35B4A-00CC-1894-515C-D91F57F2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4A8FB-9FE9-4300-B5F8-4C950946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SATURAÇÃO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698E9F-8B41-EF81-9F46-21599F698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10843759" cy="4722977"/>
          </a:xfrm>
        </p:spPr>
        <p:txBody>
          <a:bodyPr/>
          <a:lstStyle/>
          <a:p>
            <a:r>
              <a:rPr lang="pt-BR" dirty="0"/>
              <a:t>Ou intensidade de uma cor é descrita como a força ou pureza dessa cor.</a:t>
            </a:r>
          </a:p>
          <a:p>
            <a:r>
              <a:rPr lang="pt-BR" dirty="0"/>
              <a:t>Quando adicionamos cinza (preto e branco) a uma cor, ela se torna opaca e sem brilho</a:t>
            </a:r>
          </a:p>
          <a:p>
            <a:r>
              <a:rPr lang="pt-BR" dirty="0"/>
              <a:t>cores opacas ajudam a reduzir a tensão, dando às composições um clima meditativo e onírico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04372C6-049A-4B53-53A8-C601A4E3C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853" y="3429000"/>
            <a:ext cx="6347959" cy="285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007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C902C-44C7-6C08-C2F3-0F406C451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DAS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562214-2B0A-7A29-03E9-E1041E1EF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 </a:t>
            </a:r>
            <a:r>
              <a:rPr lang="pt-BR" b="1" dirty="0"/>
              <a:t>teoria das cores</a:t>
            </a:r>
            <a:r>
              <a:rPr lang="pt-BR" dirty="0"/>
              <a:t> é um conjunto de princípios e diretrizes que ajudam designers e artistas a entenderem como as cores interagem entre si e como podem ser aplicadas de forma harmoniosa para criar efeitos visuais impactantes.</a:t>
            </a:r>
          </a:p>
          <a:p>
            <a:r>
              <a:rPr lang="pt-BR" dirty="0"/>
              <a:t>RGB (</a:t>
            </a:r>
            <a:r>
              <a:rPr lang="pt-BR" dirty="0" err="1"/>
              <a:t>red</a:t>
            </a:r>
            <a:r>
              <a:rPr lang="pt-BR" dirty="0"/>
              <a:t>, </a:t>
            </a:r>
            <a:r>
              <a:rPr lang="pt-BR" dirty="0" err="1"/>
              <a:t>green</a:t>
            </a:r>
            <a:r>
              <a:rPr lang="pt-BR" dirty="0"/>
              <a:t>, blue) </a:t>
            </a:r>
          </a:p>
          <a:p>
            <a:pPr lvl="1"/>
            <a:r>
              <a:rPr lang="pt-BR" dirty="0"/>
              <a:t>Computadores</a:t>
            </a:r>
          </a:p>
          <a:p>
            <a:pPr lvl="1"/>
            <a:r>
              <a:rPr lang="pt-BR" dirty="0"/>
              <a:t>Modelo aditivo</a:t>
            </a:r>
          </a:p>
          <a:p>
            <a:pPr lvl="1"/>
            <a:r>
              <a:rPr lang="pt-BR" dirty="0"/>
              <a:t>Se colocarmos 100% de cada uma temos o branco</a:t>
            </a:r>
          </a:p>
          <a:p>
            <a:r>
              <a:rPr lang="pt-BR" dirty="0"/>
              <a:t>CMYK (ciano, magenta, amarelo e preto)</a:t>
            </a:r>
          </a:p>
          <a:p>
            <a:pPr lvl="1"/>
            <a:r>
              <a:rPr lang="pt-BR" dirty="0"/>
              <a:t>Impressoras</a:t>
            </a:r>
          </a:p>
          <a:p>
            <a:pPr lvl="1"/>
            <a:r>
              <a:rPr lang="pt-BR" dirty="0"/>
              <a:t>Modelo subtrativo</a:t>
            </a:r>
          </a:p>
          <a:p>
            <a:pPr lvl="1"/>
            <a:r>
              <a:rPr lang="pt-BR" dirty="0"/>
              <a:t>Não é possível obter o preto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46B3449-5B9E-543F-8EDD-8BF7B2859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627" y="2403803"/>
            <a:ext cx="2228962" cy="208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25DF83F-66B0-BE5D-666B-02F522E3F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233" y="4352900"/>
            <a:ext cx="2303073" cy="2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82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942A5-AAE9-695B-9854-C57E5ABB6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0593D-E4F2-9C59-DA9E-61C76D63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DAS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EA0017-482A-8680-8BCC-9FD84E100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948E48CD-FB92-49A3-EE8C-ADE22A4C5A73}"/>
              </a:ext>
            </a:extLst>
          </p:cNvPr>
          <p:cNvGrpSpPr/>
          <p:nvPr/>
        </p:nvGrpSpPr>
        <p:grpSpPr>
          <a:xfrm>
            <a:off x="967861" y="1413003"/>
            <a:ext cx="10250605" cy="4031992"/>
            <a:chOff x="967861" y="1413003"/>
            <a:chExt cx="10250605" cy="4031992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40C3604F-0FAD-5F24-AE0A-3373270B1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7861" y="1413004"/>
              <a:ext cx="4079991" cy="4031991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17590D0-0225-2A9C-059F-F1E565909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7852" y="1413003"/>
              <a:ext cx="6170614" cy="4031991"/>
            </a:xfrm>
            <a:prstGeom prst="rect">
              <a:avLst/>
            </a:prstGeom>
          </p:spPr>
        </p:pic>
      </p:grpSp>
      <p:sp>
        <p:nvSpPr>
          <p:cNvPr id="8" name="Trapezoide 7">
            <a:extLst>
              <a:ext uri="{FF2B5EF4-FFF2-40B4-BE49-F238E27FC236}">
                <a16:creationId xmlns:a16="http://schemas.microsoft.com/office/drawing/2014/main" id="{5B60584C-997B-D4EB-03B2-0F425B5F1EDB}"/>
              </a:ext>
            </a:extLst>
          </p:cNvPr>
          <p:cNvSpPr/>
          <p:nvPr/>
        </p:nvSpPr>
        <p:spPr>
          <a:xfrm rot="10800000">
            <a:off x="6680073" y="1757417"/>
            <a:ext cx="596835" cy="552091"/>
          </a:xfrm>
          <a:prstGeom prst="trapezoid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rapezoide 10">
            <a:extLst>
              <a:ext uri="{FF2B5EF4-FFF2-40B4-BE49-F238E27FC236}">
                <a16:creationId xmlns:a16="http://schemas.microsoft.com/office/drawing/2014/main" id="{45C5A1E1-6A4D-D393-CA6A-A8CF8110961D}"/>
              </a:ext>
            </a:extLst>
          </p:cNvPr>
          <p:cNvSpPr/>
          <p:nvPr/>
        </p:nvSpPr>
        <p:spPr>
          <a:xfrm rot="17965435">
            <a:off x="7393182" y="3004277"/>
            <a:ext cx="596835" cy="552091"/>
          </a:xfrm>
          <a:prstGeom prst="trapezoid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rapezoide 11">
            <a:extLst>
              <a:ext uri="{FF2B5EF4-FFF2-40B4-BE49-F238E27FC236}">
                <a16:creationId xmlns:a16="http://schemas.microsoft.com/office/drawing/2014/main" id="{4C978A94-78E9-C735-AA04-2B75097F9503}"/>
              </a:ext>
            </a:extLst>
          </p:cNvPr>
          <p:cNvSpPr/>
          <p:nvPr/>
        </p:nvSpPr>
        <p:spPr>
          <a:xfrm rot="3737677">
            <a:off x="5942295" y="3001286"/>
            <a:ext cx="596835" cy="552091"/>
          </a:xfrm>
          <a:prstGeom prst="trapezoid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rapezoide 12">
            <a:extLst>
              <a:ext uri="{FF2B5EF4-FFF2-40B4-BE49-F238E27FC236}">
                <a16:creationId xmlns:a16="http://schemas.microsoft.com/office/drawing/2014/main" id="{5BDA6EC8-C1A4-4D96-FFCF-9F9CE3157A26}"/>
              </a:ext>
            </a:extLst>
          </p:cNvPr>
          <p:cNvSpPr/>
          <p:nvPr/>
        </p:nvSpPr>
        <p:spPr>
          <a:xfrm>
            <a:off x="6666132" y="3419709"/>
            <a:ext cx="596835" cy="552091"/>
          </a:xfrm>
          <a:prstGeom prst="trapezoid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rapezoide 13">
            <a:extLst>
              <a:ext uri="{FF2B5EF4-FFF2-40B4-BE49-F238E27FC236}">
                <a16:creationId xmlns:a16="http://schemas.microsoft.com/office/drawing/2014/main" id="{AD4F5DCA-14C1-C3DE-8E82-04B28A86EE94}"/>
              </a:ext>
            </a:extLst>
          </p:cNvPr>
          <p:cNvSpPr/>
          <p:nvPr/>
        </p:nvSpPr>
        <p:spPr>
          <a:xfrm rot="7211495">
            <a:off x="5941788" y="2164893"/>
            <a:ext cx="596835" cy="552091"/>
          </a:xfrm>
          <a:prstGeom prst="trapezoid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rapezoide 14">
            <a:extLst>
              <a:ext uri="{FF2B5EF4-FFF2-40B4-BE49-F238E27FC236}">
                <a16:creationId xmlns:a16="http://schemas.microsoft.com/office/drawing/2014/main" id="{B9F65235-431C-E563-342A-04EBAB4D4CB0}"/>
              </a:ext>
            </a:extLst>
          </p:cNvPr>
          <p:cNvSpPr/>
          <p:nvPr/>
        </p:nvSpPr>
        <p:spPr>
          <a:xfrm rot="14409625">
            <a:off x="7399847" y="2162574"/>
            <a:ext cx="596835" cy="552091"/>
          </a:xfrm>
          <a:prstGeom prst="trapezoid">
            <a:avLst/>
          </a:prstGeom>
          <a:noFill/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49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1A96C-C660-28F0-42E4-4D8D2EEF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A5AC82-2D44-9398-6589-6792FDFE0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fórmulas básicas para criar combinações de cores </a:t>
            </a:r>
            <a:r>
              <a:rPr lang="pt-BR" dirty="0" err="1"/>
              <a:t>harmoniozas</a:t>
            </a:r>
            <a:r>
              <a:rPr lang="pt-BR" dirty="0"/>
              <a:t> e eficazes</a:t>
            </a:r>
          </a:p>
          <a:p>
            <a:r>
              <a:rPr lang="pt-BR" dirty="0"/>
              <a:t>Existem seis esquemas</a:t>
            </a:r>
          </a:p>
          <a:p>
            <a:pPr lvl="1"/>
            <a:r>
              <a:rPr lang="pt-BR" dirty="0"/>
              <a:t>Monocromático</a:t>
            </a:r>
          </a:p>
          <a:p>
            <a:pPr lvl="1"/>
            <a:r>
              <a:rPr lang="pt-BR" dirty="0"/>
              <a:t>Análogo</a:t>
            </a:r>
          </a:p>
          <a:p>
            <a:pPr lvl="1"/>
            <a:r>
              <a:rPr lang="pt-BR" dirty="0"/>
              <a:t>Complementar</a:t>
            </a:r>
          </a:p>
          <a:p>
            <a:pPr lvl="1"/>
            <a:r>
              <a:rPr lang="pt-BR" dirty="0"/>
              <a:t>Complementar dividido</a:t>
            </a:r>
          </a:p>
          <a:p>
            <a:pPr lvl="1"/>
            <a:r>
              <a:rPr lang="pt-BR" dirty="0"/>
              <a:t>Triádico e</a:t>
            </a:r>
          </a:p>
          <a:p>
            <a:pPr lvl="1"/>
            <a:r>
              <a:rPr lang="pt-BR" dirty="0" err="1"/>
              <a:t>Tetrádico</a:t>
            </a:r>
            <a:r>
              <a:rPr lang="pt-BR" dirty="0"/>
              <a:t> (também chamado de complementar duplo)</a:t>
            </a:r>
          </a:p>
        </p:txBody>
      </p:sp>
    </p:spTree>
    <p:extLst>
      <p:ext uri="{BB962C8B-B14F-4D97-AF65-F5344CB8AC3E}">
        <p14:creationId xmlns:p14="http://schemas.microsoft.com/office/powerpoint/2010/main" val="3760288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9C5C-003E-85BC-1196-DCE1ACDE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D9657-B9BA-4F4E-CA3D-39250B96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B2623-5B0B-6A8A-435A-1F91D3072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Deve-se começar com uma cor</a:t>
            </a:r>
          </a:p>
          <a:p>
            <a:pPr lvl="1"/>
            <a:r>
              <a:rPr lang="pt-BR" dirty="0"/>
              <a:t>Considere o tema do site e escolha uma cor base que se adeque à finalidade do site</a:t>
            </a:r>
          </a:p>
          <a:p>
            <a:pPr lvl="2"/>
            <a:r>
              <a:rPr lang="pt-BR" dirty="0"/>
              <a:t>Geralmente irão encontrar um padrão de cores já definidos</a:t>
            </a:r>
          </a:p>
          <a:p>
            <a:pPr lvl="1"/>
            <a:r>
              <a:rPr lang="pt-BR" dirty="0"/>
              <a:t>Ao usar esquemas de cores diferentes para cada seção de conteúdo, certifique-se de manter o logotipo, o menu e o layout geral do site consistentes para evitar confusão.</a:t>
            </a:r>
          </a:p>
          <a:p>
            <a:pPr marL="914400" lvl="2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34511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E29F0-BF16-22E7-496C-41BEE5B52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EADE3-1578-3071-EE47-94F623E6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5C784A-1867-FC39-54E3-41A9AB2DA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Esquema de cores Monocromáticas</a:t>
            </a:r>
          </a:p>
          <a:p>
            <a:pPr lvl="1"/>
            <a:r>
              <a:rPr lang="pt-BR" dirty="0"/>
              <a:t>Utiliza apenas uma cor principal em seu design</a:t>
            </a:r>
          </a:p>
          <a:p>
            <a:pPr lvl="1"/>
            <a:r>
              <a:rPr lang="pt-BR" dirty="0"/>
              <a:t>Simplifica e reduzem a complexidade</a:t>
            </a:r>
          </a:p>
          <a:p>
            <a:pPr lvl="1"/>
            <a:r>
              <a:rPr lang="pt-BR" dirty="0"/>
              <a:t>Navegação mais limpa e agradável</a:t>
            </a:r>
          </a:p>
          <a:p>
            <a:pPr lvl="1"/>
            <a:r>
              <a:rPr lang="pt-BR" dirty="0"/>
              <a:t>Exemplos:</a:t>
            </a:r>
          </a:p>
          <a:p>
            <a:pPr lvl="2"/>
            <a:r>
              <a:rPr lang="pt-BR" dirty="0">
                <a:hlinkClick r:id="rId3"/>
              </a:rPr>
              <a:t>https://www.thecloveclub.com/</a:t>
            </a:r>
            <a:endParaRPr lang="pt-BR" dirty="0"/>
          </a:p>
          <a:p>
            <a:pPr lvl="2"/>
            <a:r>
              <a:rPr lang="pt-BR" dirty="0">
                <a:hlinkClick r:id="rId4"/>
              </a:rPr>
              <a:t>https://www.soilboy.sg/</a:t>
            </a:r>
            <a:endParaRPr lang="pt-BR" dirty="0"/>
          </a:p>
          <a:p>
            <a:pPr lvl="2"/>
            <a:r>
              <a:rPr lang="pt-BR" dirty="0">
                <a:hlinkClick r:id="rId5"/>
              </a:rPr>
              <a:t>https://flanermoscow.ru/</a:t>
            </a:r>
            <a:endParaRPr lang="pt-BR" dirty="0"/>
          </a:p>
          <a:p>
            <a:pPr lvl="2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56207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61150-ECE0-C6DB-10BD-0FFC2476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19142-152C-403A-4EAF-92E07766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88FBE3-5C24-578C-0E3E-B57171ABB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067511"/>
            <a:ext cx="9905999" cy="4722977"/>
          </a:xfrm>
        </p:spPr>
        <p:txBody>
          <a:bodyPr/>
          <a:lstStyle/>
          <a:p>
            <a:r>
              <a:rPr lang="pt-BR" dirty="0"/>
              <a:t>Esquema de cores Monocromáticas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61A6DC-8068-7B59-70CC-073D0FE19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58" y="1617933"/>
            <a:ext cx="8830907" cy="463824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819E77A-C8EF-6186-E88E-4BBEA131B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957" y="1617933"/>
            <a:ext cx="8845255" cy="457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5382-D73D-B756-5889-F37DD29F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AE7AF-0162-707A-3398-3A76C4A3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1A5815-8B9A-E8A1-CD78-35F995217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Esquema de cores Análogas</a:t>
            </a:r>
          </a:p>
          <a:p>
            <a:pPr lvl="1"/>
            <a:r>
              <a:rPr lang="pt-BR" dirty="0"/>
              <a:t>Cores adjacentes no círculo cromático</a:t>
            </a:r>
          </a:p>
          <a:p>
            <a:pPr lvl="1"/>
            <a:r>
              <a:rPr lang="pt-BR" dirty="0"/>
              <a:t>Evite usar mais de um terço das cores do círculo</a:t>
            </a:r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566D321-F5CB-C7B1-3444-F52A5F3BC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923" y="2644804"/>
            <a:ext cx="5819775" cy="3000375"/>
          </a:xfrm>
          <a:prstGeom prst="rect">
            <a:avLst/>
          </a:prstGeom>
        </p:spPr>
      </p:pic>
      <p:pic>
        <p:nvPicPr>
          <p:cNvPr id="1026" name="Picture 2" descr="Círculo cromático &amp; combinações de cores – Letícia Tostes">
            <a:extLst>
              <a:ext uri="{FF2B5EF4-FFF2-40B4-BE49-F238E27FC236}">
                <a16:creationId xmlns:a16="http://schemas.microsoft.com/office/drawing/2014/main" id="{A8F2DB78-43DC-9058-6765-37D1E1F89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406" y="715992"/>
            <a:ext cx="2301485" cy="223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FABE417-DB0E-6B45-F971-C2D77A0E3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923" y="2673379"/>
            <a:ext cx="5819775" cy="2971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2C50FDC-BF4A-0E7B-449F-2CA492B43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7923" y="2641131"/>
            <a:ext cx="5819775" cy="300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6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7D7E8-54EC-AED5-4C44-69AD8066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C022B-0DA7-73EF-3D99-AB6E21652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1710DF-0CA0-E40A-9988-F038B8974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Esquema de cores Análogas</a:t>
            </a:r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1026" name="Picture 2" descr="Círculo cromático &amp; combinações de cores – Letícia Tostes">
            <a:extLst>
              <a:ext uri="{FF2B5EF4-FFF2-40B4-BE49-F238E27FC236}">
                <a16:creationId xmlns:a16="http://schemas.microsoft.com/office/drawing/2014/main" id="{352CB956-0AF9-B0C4-5C6A-E7BD7A0C2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406" y="715992"/>
            <a:ext cx="2301485" cy="223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491DD27-AD46-CAE6-2F33-2C1728148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817" y="1721778"/>
            <a:ext cx="57150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6678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A7C5-7D89-E916-8D53-FE235181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B8847-1391-4145-96A0-5608D0E1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10B0DB-4188-7F2B-FD26-6DE9BE941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Esquema de cores Complementares</a:t>
            </a:r>
          </a:p>
          <a:p>
            <a:r>
              <a:rPr lang="pt-BR" dirty="0"/>
              <a:t>Cores que estão localizadas em lados opostos do círculo cromático</a:t>
            </a:r>
          </a:p>
          <a:p>
            <a:r>
              <a:rPr lang="pt-BR" dirty="0"/>
              <a:t>Gera alto contraste e impacto visual</a:t>
            </a:r>
          </a:p>
          <a:p>
            <a:r>
              <a:rPr lang="pt-BR" dirty="0"/>
              <a:t>Excelente para destacar elementos críticos</a:t>
            </a:r>
          </a:p>
          <a:p>
            <a:r>
              <a:rPr lang="pt-BR" dirty="0"/>
              <a:t>Cuidado para não gerar cansaço visual</a:t>
            </a:r>
          </a:p>
          <a:p>
            <a:r>
              <a:rPr lang="pt-BR" b="1" dirty="0"/>
              <a:t>Regra 60-30-10:</a:t>
            </a:r>
            <a:r>
              <a:rPr lang="pt-BR" dirty="0"/>
              <a:t> Para não sobrecarregar o design, use a regra de proporção visual:</a:t>
            </a:r>
          </a:p>
          <a:p>
            <a:pPr lvl="1"/>
            <a:r>
              <a:rPr lang="pt-BR" b="1" dirty="0"/>
              <a:t>60%:</a:t>
            </a:r>
            <a:r>
              <a:rPr lang="pt-BR" dirty="0"/>
              <a:t> Cor dominante neutra (fundo, áreas amplas).</a:t>
            </a:r>
          </a:p>
          <a:p>
            <a:pPr lvl="1"/>
            <a:r>
              <a:rPr lang="pt-BR" b="1" dirty="0"/>
              <a:t>30%:</a:t>
            </a:r>
            <a:r>
              <a:rPr lang="pt-BR" dirty="0"/>
              <a:t> Cor secundária (textos principais, menus, blocos de conteúdo).</a:t>
            </a:r>
          </a:p>
          <a:p>
            <a:pPr lvl="1"/>
            <a:r>
              <a:rPr lang="pt-BR" b="1" dirty="0"/>
              <a:t>10%:</a:t>
            </a:r>
            <a:r>
              <a:rPr lang="pt-BR" dirty="0"/>
              <a:t> Cor de destaque, utilizando uma das complementares (botões de CTA, links, ícones importantes)</a:t>
            </a:r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4" name="Picture 2" descr="Círculo cromático &amp; combinações de cores – Letícia Tostes">
            <a:extLst>
              <a:ext uri="{FF2B5EF4-FFF2-40B4-BE49-F238E27FC236}">
                <a16:creationId xmlns:a16="http://schemas.microsoft.com/office/drawing/2014/main" id="{8F83F6D2-1C47-9716-F95F-49610716A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355" y="559749"/>
            <a:ext cx="2301485" cy="223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32964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0C45B-5462-4245-9A03-CE5ABF92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4681144-D5FD-3E0C-FC79-EBD9934FE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00" y="1939447"/>
            <a:ext cx="7090627" cy="385032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817B012-F97C-5BAC-E657-1ED06BAD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5CA952-873D-D2EF-E22B-B4CFB5DB3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5"/>
            <a:ext cx="9905999" cy="676600"/>
          </a:xfrm>
        </p:spPr>
        <p:txBody>
          <a:bodyPr>
            <a:normAutofit/>
          </a:bodyPr>
          <a:lstStyle/>
          <a:p>
            <a:r>
              <a:rPr lang="pt-BR" dirty="0"/>
              <a:t>Esquema de cores Complementares</a:t>
            </a:r>
          </a:p>
        </p:txBody>
      </p:sp>
      <p:pic>
        <p:nvPicPr>
          <p:cNvPr id="4" name="Picture 2" descr="Círculo cromático &amp; combinações de cores – Letícia Tostes">
            <a:extLst>
              <a:ext uri="{FF2B5EF4-FFF2-40B4-BE49-F238E27FC236}">
                <a16:creationId xmlns:a16="http://schemas.microsoft.com/office/drawing/2014/main" id="{8D7E5F0E-903E-C29B-E116-DB0FCCC32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6306" y="4324606"/>
            <a:ext cx="2301485" cy="223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F29F5DE-5E26-E3B2-944E-3446B2A5A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283" y="1939447"/>
            <a:ext cx="7090628" cy="385032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1548663-596F-13D7-3615-93E761340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283" y="1939447"/>
            <a:ext cx="7090627" cy="385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6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5ED53-392C-A237-960D-9A504A31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8612E-1193-3878-CB78-05ABFD04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4EA05A-47C5-B947-6C07-6C0C4D9C7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2234251"/>
          </a:xfrm>
        </p:spPr>
        <p:txBody>
          <a:bodyPr>
            <a:normAutofit/>
          </a:bodyPr>
          <a:lstStyle/>
          <a:p>
            <a:r>
              <a:rPr lang="pt-BR" dirty="0"/>
              <a:t>Esquema de cores Complementares</a:t>
            </a:r>
          </a:p>
          <a:p>
            <a:r>
              <a:rPr lang="pt-BR" dirty="0"/>
              <a:t>Vermelho e verde com saturação reduzida</a:t>
            </a:r>
          </a:p>
        </p:txBody>
      </p:sp>
      <p:pic>
        <p:nvPicPr>
          <p:cNvPr id="4" name="Picture 2" descr="Círculo cromático &amp; combinações de cores – Letícia Tostes">
            <a:extLst>
              <a:ext uri="{FF2B5EF4-FFF2-40B4-BE49-F238E27FC236}">
                <a16:creationId xmlns:a16="http://schemas.microsoft.com/office/drawing/2014/main" id="{180378F3-34B7-26B7-B81C-A7788BB05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992" y="278705"/>
            <a:ext cx="2301485" cy="223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B58F0F6-217A-0549-A2A4-115BD93EC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955" y="2185349"/>
            <a:ext cx="6601746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028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5593-9731-DF05-B8EC-71B29B535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08BF7-F479-E609-D7E9-EE294C2F2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DA41B1-85C6-3593-430B-026E580FC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2234251"/>
          </a:xfrm>
        </p:spPr>
        <p:txBody>
          <a:bodyPr>
            <a:normAutofit/>
          </a:bodyPr>
          <a:lstStyle/>
          <a:p>
            <a:r>
              <a:rPr lang="pt-BR" dirty="0"/>
              <a:t>Esquema de cores Complementares Triádicos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CFD4845-0457-39A5-DF04-B9B60C195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227841"/>
            <a:ext cx="7134225" cy="2286000"/>
          </a:xfrm>
          <a:prstGeom prst="rect">
            <a:avLst/>
          </a:prstGeom>
        </p:spPr>
      </p:pic>
      <p:pic>
        <p:nvPicPr>
          <p:cNvPr id="7" name="Picture 2" descr="Círculo cromático &amp; combinações de cores – Letícia Tostes">
            <a:extLst>
              <a:ext uri="{FF2B5EF4-FFF2-40B4-BE49-F238E27FC236}">
                <a16:creationId xmlns:a16="http://schemas.microsoft.com/office/drawing/2014/main" id="{BEBB4D94-52D4-3492-F565-D1EB1B9C3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0781" y="2227841"/>
            <a:ext cx="3390257" cy="329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A453DCC-6797-81CE-EC93-2F2FCBB5795A}"/>
              </a:ext>
            </a:extLst>
          </p:cNvPr>
          <p:cNvGrpSpPr/>
          <p:nvPr/>
        </p:nvGrpSpPr>
        <p:grpSpPr>
          <a:xfrm>
            <a:off x="10009413" y="3139185"/>
            <a:ext cx="521427" cy="1189936"/>
            <a:chOff x="10009413" y="3139185"/>
            <a:chExt cx="521427" cy="1189936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60D0415D-C204-9883-9455-EC76168F3A13}"/>
                </a:ext>
              </a:extLst>
            </p:cNvPr>
            <p:cNvCxnSpPr>
              <a:cxnSpLocks/>
            </p:cNvCxnSpPr>
            <p:nvPr/>
          </p:nvCxnSpPr>
          <p:spPr>
            <a:xfrm>
              <a:off x="10009413" y="3139185"/>
              <a:ext cx="146957" cy="617471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D66910F5-209E-8C5A-908E-B2968BEA2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2891" y="3756656"/>
              <a:ext cx="73479" cy="572465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516BD674-44E9-065D-66F2-2CDBC0AA9F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56370" y="3756656"/>
              <a:ext cx="374470" cy="426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69672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80832-1C53-06F6-B32F-7C588F6B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5FD26-A283-FB4A-82CE-44ECD4099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E5360C-423E-08EB-5823-CEC55AE07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2234251"/>
          </a:xfrm>
        </p:spPr>
        <p:txBody>
          <a:bodyPr>
            <a:normAutofit/>
          </a:bodyPr>
          <a:lstStyle/>
          <a:p>
            <a:r>
              <a:rPr lang="pt-BR" dirty="0"/>
              <a:t>Esquema de cores Complementares Triádicos</a:t>
            </a:r>
          </a:p>
        </p:txBody>
      </p:sp>
      <p:pic>
        <p:nvPicPr>
          <p:cNvPr id="7" name="Picture 2" descr="Círculo cromático &amp; combinações de cores – Letícia Tostes">
            <a:extLst>
              <a:ext uri="{FF2B5EF4-FFF2-40B4-BE49-F238E27FC236}">
                <a16:creationId xmlns:a16="http://schemas.microsoft.com/office/drawing/2014/main" id="{F2CBF48C-632A-CDF3-6868-B82C5971F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0781" y="2227841"/>
            <a:ext cx="3390257" cy="329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19872F7-0490-0F6D-3658-69F4B4D4F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2" y="2228590"/>
            <a:ext cx="7120074" cy="2572009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D33948D-88BD-896A-39B8-7874B9FBA45C}"/>
              </a:ext>
            </a:extLst>
          </p:cNvPr>
          <p:cNvCxnSpPr/>
          <p:nvPr/>
        </p:nvCxnSpPr>
        <p:spPr>
          <a:xfrm>
            <a:off x="10005646" y="3112477"/>
            <a:ext cx="175846" cy="72976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63ADA2D-4961-0F65-5D03-743E069E65FF}"/>
              </a:ext>
            </a:extLst>
          </p:cNvPr>
          <p:cNvCxnSpPr>
            <a:cxnSpLocks/>
          </p:cNvCxnSpPr>
          <p:nvPr/>
        </p:nvCxnSpPr>
        <p:spPr>
          <a:xfrm flipV="1">
            <a:off x="9926515" y="3842238"/>
            <a:ext cx="254977" cy="76493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B16EF288-D9A0-1F5E-5516-332C0667450E}"/>
              </a:ext>
            </a:extLst>
          </p:cNvPr>
          <p:cNvCxnSpPr>
            <a:cxnSpLocks/>
          </p:cNvCxnSpPr>
          <p:nvPr/>
        </p:nvCxnSpPr>
        <p:spPr>
          <a:xfrm flipH="1">
            <a:off x="10181492" y="3302475"/>
            <a:ext cx="509954" cy="5397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904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0B895-09F0-9589-D459-61E24C2D2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7A05F-FA21-2E17-3B42-BF7E6345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16AB6F-00B5-960C-2216-F18D70A97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2234251"/>
          </a:xfrm>
        </p:spPr>
        <p:txBody>
          <a:bodyPr>
            <a:normAutofit/>
          </a:bodyPr>
          <a:lstStyle/>
          <a:p>
            <a:r>
              <a:rPr lang="pt-BR" dirty="0"/>
              <a:t>Esquema de cores Complementares </a:t>
            </a:r>
            <a:r>
              <a:rPr lang="pt-BR" dirty="0" err="1"/>
              <a:t>Tetrádicos</a:t>
            </a:r>
            <a:endParaRPr lang="pt-BR" dirty="0"/>
          </a:p>
        </p:txBody>
      </p:sp>
      <p:pic>
        <p:nvPicPr>
          <p:cNvPr id="5" name="Imagem 4" descr="Círculos Cromáticos especificando dois tipos de Harmonias Tetrádicas das  cores.">
            <a:extLst>
              <a:ext uri="{FF2B5EF4-FFF2-40B4-BE49-F238E27FC236}">
                <a16:creationId xmlns:a16="http://schemas.microsoft.com/office/drawing/2014/main" id="{0F7ADD81-61A7-0795-CF09-5A437C55A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066" y="1632381"/>
            <a:ext cx="9146198" cy="445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8350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F63EC-D5B3-31C7-5223-CE679864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9EE85E-4779-0F99-EF79-3CA4BA0BC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qualquer coisa que confira uma aparência ou sensação distinta à superfície de um design ou objeto</a:t>
            </a:r>
          </a:p>
          <a:p>
            <a:r>
              <a:rPr lang="pt-BR" dirty="0"/>
              <a:t>É possível fazer com que um site passe a sensação de uma superfície</a:t>
            </a:r>
          </a:p>
          <a:p>
            <a:r>
              <a:rPr lang="pt-BR" dirty="0"/>
              <a:t>Pode imitar materiais reais e trazer lembranças associadas a eles</a:t>
            </a:r>
          </a:p>
          <a:p>
            <a:r>
              <a:rPr lang="pt-BR" dirty="0"/>
              <a:t>Para criar texturas, primeiramente temos que entender os conceitos de ponto, linha, forma, volume, profundidade e padrão</a:t>
            </a:r>
          </a:p>
        </p:txBody>
      </p:sp>
    </p:spTree>
    <p:extLst>
      <p:ext uri="{BB962C8B-B14F-4D97-AF65-F5344CB8AC3E}">
        <p14:creationId xmlns:p14="http://schemas.microsoft.com/office/powerpoint/2010/main" val="370467385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85C9-4C76-F2D2-F091-D8E5E55C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4B8E0-5BB0-6D51-DEDF-47EADFE2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E77D13-C68F-37A8-49E9-0CA31D522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Ponto</a:t>
            </a:r>
          </a:p>
          <a:p>
            <a:pPr lvl="1"/>
            <a:r>
              <a:rPr lang="pt-BR" dirty="0"/>
              <a:t>É o elemento fundamental do design gráfico</a:t>
            </a:r>
          </a:p>
          <a:p>
            <a:pPr lvl="1"/>
            <a:r>
              <a:rPr lang="pt-BR" dirty="0"/>
              <a:t>Não possuem escala ou dimensão</a:t>
            </a:r>
          </a:p>
          <a:p>
            <a:pPr lvl="1"/>
            <a:r>
              <a:rPr lang="pt-BR" dirty="0"/>
              <a:t>Quando são agrupados podem criar linhas, formas e volume</a:t>
            </a:r>
          </a:p>
          <a:p>
            <a:pPr lvl="1"/>
            <a:r>
              <a:rPr lang="pt-BR" dirty="0"/>
              <a:t>Não confunda com pixel que tem a ver com resolução</a:t>
            </a:r>
          </a:p>
        </p:txBody>
      </p:sp>
    </p:spTree>
    <p:extLst>
      <p:ext uri="{BB962C8B-B14F-4D97-AF65-F5344CB8AC3E}">
        <p14:creationId xmlns:p14="http://schemas.microsoft.com/office/powerpoint/2010/main" val="24584315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D679E-3745-52C1-4529-52E7E4F2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A5FB6-6B47-13D7-8F77-D3E6360B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FA299D-2506-0343-76A5-5415D6F62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Linha</a:t>
            </a:r>
          </a:p>
          <a:p>
            <a:pPr lvl="1"/>
            <a:r>
              <a:rPr lang="pt-BR" dirty="0"/>
              <a:t>Quando dois ou mais pontos são conectados, eles formam uma linha</a:t>
            </a:r>
          </a:p>
          <a:p>
            <a:pPr lvl="1"/>
            <a:r>
              <a:rPr lang="pt-BR" dirty="0"/>
              <a:t>É elemento mais comum do design gráfico</a:t>
            </a:r>
          </a:p>
          <a:p>
            <a:pPr lvl="1"/>
            <a:r>
              <a:rPr lang="pt-BR" dirty="0"/>
              <a:t>Usar um padrão de linhas horizontais como elemento de fundo confere textura e interesse ao design</a:t>
            </a:r>
          </a:p>
          <a:p>
            <a:pPr lvl="1"/>
            <a:r>
              <a:rPr lang="pt-BR" dirty="0"/>
              <a:t>Utilizar um tema de linhas diagonais torna o design mais "inquieto" ou tenso, fazendo com que o olhar do usuário se movimente constantemente.</a:t>
            </a:r>
          </a:p>
          <a:p>
            <a:pPr lvl="1"/>
            <a:r>
              <a:rPr lang="pt-BR" dirty="0"/>
              <a:t>Linhas irregulares com ângulos agudos podem transmitir uma sensação de perigo e agitação. </a:t>
            </a:r>
          </a:p>
          <a:p>
            <a:pPr lvl="1"/>
            <a:r>
              <a:rPr lang="pt-BR" dirty="0"/>
              <a:t>Linhas curvas e suaves tendem a transmitir relaxamento e fluidez. </a:t>
            </a:r>
          </a:p>
          <a:p>
            <a:pPr lvl="1"/>
            <a:r>
              <a:rPr lang="pt-BR" dirty="0"/>
              <a:t>Linhas formadas por ângulos de 90 graus tendem a parecer precisas e mecânicas. </a:t>
            </a:r>
          </a:p>
          <a:p>
            <a:pPr lvl="1"/>
            <a:r>
              <a:rPr lang="pt-BR" dirty="0"/>
              <a:t>Linhas com muitas curvas e ângulos transmitem expressividade; </a:t>
            </a:r>
          </a:p>
          <a:p>
            <a:pPr lvl="1"/>
            <a:r>
              <a:rPr lang="pt-BR" dirty="0"/>
              <a:t>Exemplos disso são a caligrafia manual, o grafite e os esboços.</a:t>
            </a:r>
          </a:p>
        </p:txBody>
      </p:sp>
    </p:spTree>
    <p:extLst>
      <p:ext uri="{BB962C8B-B14F-4D97-AF65-F5344CB8AC3E}">
        <p14:creationId xmlns:p14="http://schemas.microsoft.com/office/powerpoint/2010/main" val="22351126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5486B-BACA-7B0D-BF28-F99E2949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BCD9B-F993-0B30-3DE4-0E4D020B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3350FB-D357-72F7-ECEE-35AC26BE9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Linha</a:t>
            </a:r>
          </a:p>
          <a:p>
            <a:pPr lvl="1"/>
            <a:r>
              <a:rPr lang="pt-BR" dirty="0"/>
              <a:t>Ao trabalhar na fase de prototipagem do desenvolvimento de um site, lembre-se de que as linhas são muito mais do que simples divisores, bordas ou faixas</a:t>
            </a:r>
          </a:p>
          <a:p>
            <a:pPr lvl="1"/>
            <a:r>
              <a:rPr lang="pt-BR" dirty="0"/>
              <a:t>Experimente criar variações na qualidade da linha</a:t>
            </a:r>
          </a:p>
        </p:txBody>
      </p:sp>
    </p:spTree>
    <p:extLst>
      <p:ext uri="{BB962C8B-B14F-4D97-AF65-F5344CB8AC3E}">
        <p14:creationId xmlns:p14="http://schemas.microsoft.com/office/powerpoint/2010/main" val="307278069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5320-BA20-DDFE-5113-26A6F085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2D856-4F48-BCA2-8FEC-3A8C696D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EF3C1-FD8B-BBD7-5A06-4D41C441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55" y="999858"/>
            <a:ext cx="6962775" cy="21812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DFCB97C-183A-5032-A3A4-39C7F026F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797" y="2556782"/>
            <a:ext cx="65055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7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56A8C-789C-64C0-8094-E6E9458E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6E89A-B8CA-F7E2-9923-8E5C4DBC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6265AC-4E0B-7474-9119-D546AA240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Forma</a:t>
            </a:r>
          </a:p>
          <a:p>
            <a:pPr lvl="1"/>
            <a:r>
              <a:rPr lang="pt-BR" dirty="0"/>
              <a:t>Sempre que as duas extremidades de uma linha se encontram, uma forma é criada</a:t>
            </a:r>
          </a:p>
          <a:p>
            <a:pPr lvl="1"/>
            <a:r>
              <a:rPr lang="pt-BR" dirty="0"/>
              <a:t>A forma têm a reputação de transmitir uma sensação técnica e mecânica.</a:t>
            </a:r>
          </a:p>
          <a:p>
            <a:pPr lvl="1"/>
            <a:r>
              <a:rPr lang="pt-BR" dirty="0"/>
              <a:t>A forma livre são mais abstratas do que as geométricas e consistem em curvas não geométricas, ângulos aleatórios e linhas irregulares</a:t>
            </a:r>
          </a:p>
          <a:p>
            <a:pPr lvl="1"/>
            <a:r>
              <a:rPr lang="pt-BR" dirty="0"/>
              <a:t>Elas possuem uma natureza fluida que transmite uma sensação de informalidade e espontaneidade</a:t>
            </a:r>
          </a:p>
          <a:p>
            <a:pPr lvl="1"/>
            <a:r>
              <a:rPr lang="pt-BR" dirty="0"/>
              <a:t>Elas podem representar o contorno de um produto, gestos humanos ou um rabisco orgânico</a:t>
            </a:r>
          </a:p>
        </p:txBody>
      </p:sp>
    </p:spTree>
    <p:extLst>
      <p:ext uri="{BB962C8B-B14F-4D97-AF65-F5344CB8AC3E}">
        <p14:creationId xmlns:p14="http://schemas.microsoft.com/office/powerpoint/2010/main" val="15850896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DEDF-793B-1E3B-801A-19F1E7BBA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44009-00E9-7E13-44A1-D4C473C6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CCD841-DC82-CB48-0CE9-709625C73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Forma</a:t>
            </a:r>
          </a:p>
          <a:p>
            <a:pPr lvl="1"/>
            <a:r>
              <a:rPr lang="pt-BR" dirty="0"/>
              <a:t>Quando se trata de web design, muitas pessoas parecem esquecer que as formas de forma livre existem</a:t>
            </a:r>
          </a:p>
          <a:p>
            <a:pPr lvl="1"/>
            <a:r>
              <a:rPr lang="pt-BR" dirty="0"/>
              <a:t>Independentemente de como você os organiza na página, esses blocos são inerentemente geométricos</a:t>
            </a:r>
          </a:p>
          <a:p>
            <a:pPr lvl="1"/>
            <a:r>
              <a:rPr lang="pt-BR" dirty="0"/>
              <a:t>A Web nos limita a retângulos, mas isso não significa que eles precisem parecer retangulares</a:t>
            </a:r>
          </a:p>
          <a:p>
            <a:pPr lvl="1"/>
            <a:r>
              <a:rPr lang="pt-BR" dirty="0"/>
              <a:t>Um dos métodos mais comuns para ocultar a forma subjacente de um elemento HTML é aplicar a ele uma imagem de fundo</a:t>
            </a:r>
          </a:p>
        </p:txBody>
      </p:sp>
    </p:spTree>
    <p:extLst>
      <p:ext uri="{BB962C8B-B14F-4D97-AF65-F5344CB8AC3E}">
        <p14:creationId xmlns:p14="http://schemas.microsoft.com/office/powerpoint/2010/main" val="20768765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39EC6-8FCD-7D5C-378B-04C56818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7BDF3-D362-A191-52E0-0C0AF448E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781CCB-86E1-7109-8A68-E0F7F3994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Forma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E289D38-D9AA-64BC-9A86-80BFCFEAD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291" y="1833562"/>
            <a:ext cx="5423152" cy="38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9725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39F0-CFB5-699F-58EC-AEEB8FA38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01997-7892-F9D7-1C5D-EBE755E4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5BEA82-7B04-E67C-C181-EAE6CF69F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Cantos arredondados</a:t>
            </a:r>
          </a:p>
          <a:p>
            <a:pPr lvl="1"/>
            <a:r>
              <a:rPr lang="pt-BR" dirty="0"/>
              <a:t>Algo que podemos fazer é eliminar os cantos de 90 graus</a:t>
            </a:r>
          </a:p>
          <a:p>
            <a:pPr lvl="1"/>
            <a:r>
              <a:rPr lang="pt-BR" dirty="0"/>
              <a:t>Caixas com cantos arredondados suavizam o layout, criando uma sensação mais orgânica e fluida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272AD2-3AC8-827D-A37D-BC247C148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978" y="3086037"/>
            <a:ext cx="64389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3830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3FF3-D57C-C503-80B0-1BE5A5CA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DA7E3-858C-636D-DBD5-BC13D09D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2630BB-A3E9-8E32-8254-5DE6E110B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Rotação</a:t>
            </a:r>
          </a:p>
          <a:p>
            <a:pPr lvl="1"/>
            <a:r>
              <a:rPr lang="pt-BR" dirty="0"/>
              <a:t>Rotacionar formas e elementos no seu design evocam uma sensação de movimento e entusiasmo</a:t>
            </a:r>
          </a:p>
          <a:p>
            <a:pPr lvl="1"/>
            <a:r>
              <a:rPr lang="pt-BR" dirty="0"/>
              <a:t>Objetos rotacionados quebram a monotonia horizontal e vertical da Web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0176E33-3B98-95FA-E9D5-45C405211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391" y="3123202"/>
            <a:ext cx="5400040" cy="319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5879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36386-7542-D3FA-8397-FB494187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EBAC7-FC7D-673A-B0D2-2456E1E8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DC3184-DBAD-CE7E-8502-4904A64E8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Formas e Layout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B5172D-C775-46F3-B204-93CE0C03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693" y="1638250"/>
            <a:ext cx="6613435" cy="479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1283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349D3-9AC9-176B-0938-F37CEE32F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473D2-F31E-77F7-D874-D3DC9245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VOLUME E PROFUNDIDADE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FC14DD-DF1E-92F4-9870-96AA4BEFD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Perspectiva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A63BD3-03B4-F440-05B9-9C141BB9C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015" y="1741714"/>
            <a:ext cx="6633970" cy="444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48591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E5B1E-7F26-FF16-54CF-CCB84E58C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BD5FC-8EC2-B1A9-ECBD-309BE5E7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VOLUME E PROFUNDIDADE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5587FB-B1C8-8BAD-D2F0-330AE94CB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Proporção</a:t>
            </a:r>
          </a:p>
          <a:p>
            <a:r>
              <a:rPr lang="pt-BR" dirty="0"/>
              <a:t>Alterar a proporção dos objetos era uma boa maneira de criar ênfase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CB2363-9D31-5ACF-25ED-7726600BA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323" y="2688772"/>
            <a:ext cx="521017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402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4D4A8-7829-3E60-6869-33AE6583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339EB-4124-F71F-A61C-92CFBE68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VOLUME E PROFUNDIDADE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C7089A-BA20-962D-6826-AFC8D3A9F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Luz e Sombra</a:t>
            </a:r>
          </a:p>
          <a:p>
            <a:r>
              <a:rPr lang="pt-BR" dirty="0"/>
              <a:t>São os recursos visuais mais importantes que podemos utilizar para definir ou criar profundidade e volume em composições</a:t>
            </a:r>
          </a:p>
          <a:p>
            <a:r>
              <a:rPr lang="pt-BR" dirty="0"/>
              <a:t>Estabelecem contraste visual e ajudam a criar a ilusão de profundidade tridimensional em meios bidimensionais, como lápis sobre papel ou pixels na tela do computador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06A82E0-33C2-1CBD-641B-8DB25293A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108" y="4109356"/>
            <a:ext cx="7042606" cy="208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89943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55F86-EBCD-8978-5D86-92E59A2FE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4293C-F324-07FC-7D5D-041D1BB8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VOLUME E PROFUNDIDADE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B609EB-D8C9-CCD8-0A1D-091DB8E5E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Luz e Sombra</a:t>
            </a:r>
          </a:p>
          <a:p>
            <a:r>
              <a:rPr lang="pt-BR" dirty="0"/>
              <a:t>Assim como existem várias maneiras de alterar os níveis de profundidade nos círculos, há outros métodos para conferir profundidade aos elementos de uma página da web utilizando apenas luz e sombra</a:t>
            </a:r>
          </a:p>
          <a:p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7A2DB29-1A96-E154-F183-179B3ED3F5AB}"/>
              </a:ext>
            </a:extLst>
          </p:cNvPr>
          <p:cNvGrpSpPr/>
          <p:nvPr/>
        </p:nvGrpSpPr>
        <p:grpSpPr>
          <a:xfrm>
            <a:off x="3880529" y="3429000"/>
            <a:ext cx="4427764" cy="1876425"/>
            <a:chOff x="3248025" y="3428999"/>
            <a:chExt cx="4427764" cy="1876425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64218EB-6724-E452-5CA5-451CB5C1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8025" y="3428999"/>
              <a:ext cx="1905000" cy="1866900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FD8C4BD6-0D8A-5F95-5824-B82269038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9839" y="3428999"/>
              <a:ext cx="1885950" cy="187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820399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03DC-17D6-29FA-50C9-3A15DECB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31FB6-7BEF-30A3-C46A-D579E63A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VOLUME E PROFUNDIDADE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0FB7C2-E165-FC22-F47C-CCFB0C50F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9905999" cy="5365233"/>
          </a:xfrm>
        </p:spPr>
        <p:txBody>
          <a:bodyPr>
            <a:normAutofit/>
          </a:bodyPr>
          <a:lstStyle/>
          <a:p>
            <a:r>
              <a:rPr lang="pt-BR" dirty="0"/>
              <a:t>Luz e Sombra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E175028-1026-6852-F862-7042C51C2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994" y="1866900"/>
            <a:ext cx="6726011" cy="404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7308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AE3A-7D1B-8AA0-3934-B613B45F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07EF4-29E7-E868-D156-59DF1EE4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VOLUME E PROFUNDIDADE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1C56AA-3361-26C5-E91E-A019E8DF3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7186159" cy="5365233"/>
          </a:xfrm>
        </p:spPr>
        <p:txBody>
          <a:bodyPr>
            <a:normAutofit/>
          </a:bodyPr>
          <a:lstStyle/>
          <a:p>
            <a:r>
              <a:rPr lang="pt-BR" dirty="0"/>
              <a:t>Padrão</a:t>
            </a:r>
          </a:p>
          <a:p>
            <a:r>
              <a:rPr lang="pt-BR" dirty="0"/>
              <a:t>O uso de padrões é uma prática antiga para adicionar riqueza e interesse visual a todos os tipos de design</a:t>
            </a:r>
          </a:p>
          <a:p>
            <a:r>
              <a:rPr lang="pt-BR" dirty="0"/>
              <a:t>Usar uma imagem pequena que pudesse ser repetida para preencher a área de fundo, em vez de uma imagem grande que não se repetia, reduzia significativamente o tempo de carregamento para visitantes que usavam modems de 56K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692871F-5F8E-13DF-892A-5A3BDA620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211" y="1764165"/>
            <a:ext cx="3255232" cy="329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971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02A28-2451-1F3E-FE7F-7C5636BE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61F22-31CF-ACAB-DA43-613B82D5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Construindo a textura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01A880-1E87-3918-2219-F047E5147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8224"/>
            <a:ext cx="10288588" cy="5365233"/>
          </a:xfrm>
        </p:spPr>
        <p:txBody>
          <a:bodyPr>
            <a:normAutofit/>
          </a:bodyPr>
          <a:lstStyle/>
          <a:p>
            <a:r>
              <a:rPr lang="pt-BR" dirty="0"/>
              <a:t>Padrão</a:t>
            </a:r>
          </a:p>
          <a:p>
            <a:r>
              <a:rPr lang="pt-BR" dirty="0"/>
              <a:t>Ponto, linha, forma, profundidade e volume, e padrão. Individualmente, cada um desses componentes cria certo nível de textura</a:t>
            </a:r>
          </a:p>
          <a:p>
            <a:r>
              <a:rPr lang="pt-BR" dirty="0"/>
              <a:t>A forma como você os combina depende do tipo de efeito que deseja criar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009134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EEF0E-9FAA-3229-730D-C91913DA5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Envelhecido, desgastado e nostálgico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8E536A4-319C-7159-F04F-8BE9C2B19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7" y="1773010"/>
            <a:ext cx="7248525" cy="4752696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DDA8A261-8FB9-90EE-D495-4F25F783A038}"/>
              </a:ext>
            </a:extLst>
          </p:cNvPr>
          <p:cNvSpPr/>
          <p:nvPr/>
        </p:nvSpPr>
        <p:spPr>
          <a:xfrm>
            <a:off x="2253343" y="1649186"/>
            <a:ext cx="7903028" cy="120831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7999FF3-3CC4-CB31-18E0-CC47B1B2AB2D}"/>
              </a:ext>
            </a:extLst>
          </p:cNvPr>
          <p:cNvSpPr/>
          <p:nvPr/>
        </p:nvSpPr>
        <p:spPr>
          <a:xfrm>
            <a:off x="2142898" y="6090556"/>
            <a:ext cx="7903028" cy="74022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66895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5F80-B666-CE8E-369E-5551058FF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6663C-78D2-327B-F350-D626F28B2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Envelhecido, desgastado e nostálgico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26BC76F-7A19-C592-7C8B-294D005FF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7" y="1773010"/>
            <a:ext cx="7233291" cy="475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2549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36BC-FDDC-EADC-635F-6F49000B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FE9E6-E4FB-AD65-4269-C3C7B237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Envelhecido, desgastado e nostálgico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DFBD7A-DCDD-6A1A-1279-824B06F96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7" y="1773009"/>
            <a:ext cx="7233290" cy="475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21831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87CDF-D47F-2562-7438-0CC452C65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Limpo e granulado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B0EE2F-8ED9-A0E3-5293-90E82925BC4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478212" y="1773691"/>
            <a:ext cx="7232400" cy="4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2633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162D5-7D64-DEC8-D197-5FDD8971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Scrapbook</a:t>
            </a:r>
            <a:r>
              <a:rPr lang="pt-BR" dirty="0"/>
              <a:t> artesanal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2DAD1D-A9B3-A2BA-5329-F3719E44C7A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490812" y="1780493"/>
            <a:ext cx="7207200" cy="47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592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A16A-0A7B-6D30-684C-30315CFE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C9E69-1508-171E-CC7C-E55F3429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Scrapbook</a:t>
            </a:r>
            <a:r>
              <a:rPr lang="pt-BR" dirty="0"/>
              <a:t> artesanal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5BD133-93FA-E2B8-F3F8-6544AAF1E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812" y="1780493"/>
            <a:ext cx="7207200" cy="47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333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CF291-D419-BAB5-C7AB-54BE72AB0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Textura minimalista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C96C4B3-3D45-1E1D-2A54-E821A1E45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180" y="1760764"/>
            <a:ext cx="7270977" cy="481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6823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370B2-13A0-1883-C6B9-2D46694BCD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8000" dirty="0">
                <a:latin typeface="Algerian" panose="04020705040A02060702" pitchFamily="82" charset="0"/>
              </a:rPr>
              <a:t>T</a:t>
            </a:r>
            <a:r>
              <a:rPr lang="pt-BR" sz="8000" dirty="0"/>
              <a:t> </a:t>
            </a:r>
            <a:r>
              <a:rPr lang="pt-BR" sz="8000" dirty="0">
                <a:latin typeface="Bahnschrift Light" panose="020B0502040204020203" pitchFamily="34" charset="0"/>
              </a:rPr>
              <a:t>I</a:t>
            </a:r>
            <a:r>
              <a:rPr lang="pt-BR" sz="8000" dirty="0"/>
              <a:t> </a:t>
            </a:r>
            <a:r>
              <a:rPr lang="pt-BR" sz="8000" dirty="0">
                <a:latin typeface="Brush Script MT" panose="03060802040406070304" pitchFamily="66" charset="0"/>
              </a:rPr>
              <a:t>P</a:t>
            </a:r>
            <a:r>
              <a:rPr lang="pt-BR" sz="8000" dirty="0"/>
              <a:t> </a:t>
            </a:r>
            <a:r>
              <a:rPr lang="pt-BR" sz="8000" dirty="0">
                <a:latin typeface="Copperplate Gothic Bold" panose="020E0705020206020404" pitchFamily="34" charset="0"/>
              </a:rPr>
              <a:t>O</a:t>
            </a:r>
            <a:r>
              <a:rPr lang="pt-BR" sz="8000" dirty="0"/>
              <a:t> </a:t>
            </a:r>
            <a:r>
              <a:rPr lang="pt-BR" sz="8000" dirty="0">
                <a:latin typeface="Forte" panose="03060902040502070203" pitchFamily="66" charset="0"/>
              </a:rPr>
              <a:t>G</a:t>
            </a:r>
            <a:r>
              <a:rPr lang="pt-BR" sz="8000" dirty="0"/>
              <a:t> </a:t>
            </a:r>
            <a:r>
              <a:rPr lang="pt-BR" sz="8000" dirty="0">
                <a:latin typeface="MS Reference Sans Serif" panose="020B0604030504040204" pitchFamily="34" charset="0"/>
              </a:rPr>
              <a:t>R</a:t>
            </a:r>
            <a:r>
              <a:rPr lang="pt-BR" sz="8000" dirty="0"/>
              <a:t> </a:t>
            </a:r>
            <a:r>
              <a:rPr lang="pt-BR" sz="8000" dirty="0">
                <a:latin typeface="Palace Script MT" panose="030303020206070C0B05" pitchFamily="66" charset="0"/>
              </a:rPr>
              <a:t>A</a:t>
            </a:r>
            <a:r>
              <a:rPr lang="pt-BR" sz="8000" dirty="0"/>
              <a:t> </a:t>
            </a:r>
            <a:r>
              <a:rPr lang="pt-BR" sz="8000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F</a:t>
            </a:r>
            <a:r>
              <a:rPr lang="pt-BR" sz="8000" dirty="0"/>
              <a:t> </a:t>
            </a:r>
            <a:r>
              <a:rPr lang="pt-BR" sz="8000" dirty="0">
                <a:latin typeface="Ravie" panose="04040805050809020602" pitchFamily="82" charset="0"/>
              </a:rPr>
              <a:t>I</a:t>
            </a:r>
            <a:r>
              <a:rPr lang="pt-BR" sz="8000" dirty="0"/>
              <a:t> </a:t>
            </a:r>
            <a:r>
              <a:rPr lang="pt-BR" sz="8000" dirty="0">
                <a:latin typeface="Old English Text MT" panose="03040902040508030806" pitchFamily="66" charset="0"/>
              </a:rPr>
              <a:t>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B3EC37-FEF7-6BAE-8884-C2BC3BD77C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27688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28C35-6B9C-56BB-41D8-A636BA0D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E74CB8-4D18-3C9C-5E65-E33999CE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tipografia é um componente vital da sua mensagem</a:t>
            </a:r>
          </a:p>
          <a:p>
            <a:r>
              <a:rPr lang="pt-BR" dirty="0"/>
              <a:t>Para a maioria das pessoas, a tipografia resume-se a organizar um conjunto familiar de formas para criar palavras, frases e parágrafos</a:t>
            </a:r>
          </a:p>
          <a:p>
            <a:r>
              <a:rPr lang="pt-BR" dirty="0"/>
              <a:t>A facilidade de definir a tipografia com apenas alguns cliques do mouse ou toques no teclado nos fez esquecer as possibilidades criativas e artísticas</a:t>
            </a:r>
          </a:p>
          <a:p>
            <a:r>
              <a:rPr lang="pt-BR" dirty="0"/>
              <a:t>O poder da tipografia deve ser motivação suficiente para ousar e ir além do convencional</a:t>
            </a:r>
          </a:p>
          <a:p>
            <a:r>
              <a:rPr lang="pt-BR" dirty="0"/>
              <a:t>Ela é a essência do branding, a chave para a comunicação não verbal e uma peça fundamental do web design</a:t>
            </a:r>
          </a:p>
        </p:txBody>
      </p:sp>
    </p:spTree>
    <p:extLst>
      <p:ext uri="{BB962C8B-B14F-4D97-AF65-F5344CB8AC3E}">
        <p14:creationId xmlns:p14="http://schemas.microsoft.com/office/powerpoint/2010/main" val="203318736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D514-4450-0290-5DF9-381CA66A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04295-BE2E-BCD0-592D-A542BBAA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0823B-4F63-651E-ED9D-6DFEA89D5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Fontes seguras para a web</a:t>
            </a:r>
          </a:p>
          <a:p>
            <a:r>
              <a:rPr lang="pt-BR" dirty="0"/>
              <a:t>Problemas: pequena variedade de fontes</a:t>
            </a:r>
          </a:p>
          <a:p>
            <a:r>
              <a:rPr lang="pt-BR" dirty="0" err="1"/>
              <a:t>Font</a:t>
            </a:r>
            <a:r>
              <a:rPr lang="pt-BR" dirty="0"/>
              <a:t>-Family: 1º, 2º, 3º, 4º </a:t>
            </a:r>
            <a:r>
              <a:rPr lang="pt-BR" dirty="0" err="1"/>
              <a:t>etc</a:t>
            </a:r>
            <a:r>
              <a:rPr lang="pt-BR" dirty="0"/>
              <a:t>;</a:t>
            </a:r>
          </a:p>
          <a:p>
            <a:r>
              <a:rPr lang="pt-BR" dirty="0"/>
              <a:t>A última deve ser uma fonte genérica:</a:t>
            </a:r>
          </a:p>
          <a:p>
            <a:pPr lvl="1"/>
            <a:r>
              <a:rPr lang="pt-BR" dirty="0" err="1"/>
              <a:t>Serif</a:t>
            </a:r>
            <a:endParaRPr lang="pt-BR" dirty="0"/>
          </a:p>
          <a:p>
            <a:pPr lvl="1"/>
            <a:r>
              <a:rPr lang="pt-BR" dirty="0" err="1"/>
              <a:t>Sans-serif</a:t>
            </a:r>
            <a:endParaRPr lang="pt-BR" dirty="0"/>
          </a:p>
          <a:p>
            <a:pPr lvl="1"/>
            <a:r>
              <a:rPr lang="pt-BR" dirty="0" err="1"/>
              <a:t>cursive</a:t>
            </a:r>
            <a:endParaRPr lang="pt-BR" dirty="0"/>
          </a:p>
          <a:p>
            <a:pPr lvl="1"/>
            <a:r>
              <a:rPr lang="pt-BR" dirty="0" err="1"/>
              <a:t>Fantasy</a:t>
            </a:r>
            <a:endParaRPr lang="pt-BR" dirty="0"/>
          </a:p>
          <a:p>
            <a:pPr lvl="1"/>
            <a:r>
              <a:rPr lang="pt-BR" dirty="0" err="1"/>
              <a:t>monoespace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535BCF-6D4A-AA7C-3944-0D598915B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450" y="1066799"/>
            <a:ext cx="4039961" cy="453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447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1E610-0AD6-2AA3-FD9F-EBF1CE71A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0E907-B74B-C712-9D15-A124A81D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F11054-40BD-D646-F861-0C46C1B56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segredo para criar uma pilha de fontes eficaz é saber quais fontes são mais semelhantes </a:t>
            </a:r>
          </a:p>
          <a:p>
            <a:r>
              <a:rPr lang="pt-BR" dirty="0"/>
              <a:t>Quais delas vêm instaladas por padrão em cada sistema operacional</a:t>
            </a:r>
          </a:p>
          <a:p>
            <a:r>
              <a:rPr lang="pt-BR" dirty="0"/>
              <a:t>Usar fontes localizadas na web</a:t>
            </a:r>
          </a:p>
        </p:txBody>
      </p:sp>
    </p:spTree>
    <p:extLst>
      <p:ext uri="{BB962C8B-B14F-4D97-AF65-F5344CB8AC3E}">
        <p14:creationId xmlns:p14="http://schemas.microsoft.com/office/powerpoint/2010/main" val="282235618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1E381-A1A7-57C1-6553-1A0A32FF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15B80-7C9B-4AB1-9A77-0D2749240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F39C9C-97BD-E30D-4C59-03CB556CD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Espaçamento Horizontal</a:t>
            </a:r>
          </a:p>
          <a:p>
            <a:r>
              <a:rPr lang="pt-BR" dirty="0" err="1"/>
              <a:t>Kerning</a:t>
            </a:r>
            <a:r>
              <a:rPr lang="pt-BR" dirty="0"/>
              <a:t> – ajusta o espaçamento horizontal das letras.</a:t>
            </a:r>
          </a:p>
          <a:p>
            <a:pPr lvl="1"/>
            <a:r>
              <a:rPr lang="pt-BR" dirty="0" err="1"/>
              <a:t>Wa</a:t>
            </a:r>
            <a:endParaRPr lang="pt-BR" dirty="0"/>
          </a:p>
          <a:p>
            <a:pPr lvl="1"/>
            <a:r>
              <a:rPr lang="pt-BR" dirty="0"/>
              <a:t>WV</a:t>
            </a:r>
          </a:p>
          <a:p>
            <a:r>
              <a:rPr lang="pt-BR" dirty="0" err="1"/>
              <a:t>Letter-spacing</a:t>
            </a:r>
            <a:r>
              <a:rPr lang="pt-BR" dirty="0"/>
              <a:t>: aplica-se ao espaço entre todas as letras</a:t>
            </a:r>
          </a:p>
          <a:p>
            <a:r>
              <a:rPr lang="pt-BR" dirty="0"/>
              <a:t>Word-</a:t>
            </a:r>
            <a:r>
              <a:rPr lang="pt-BR" dirty="0" err="1"/>
              <a:t>spacing</a:t>
            </a:r>
            <a:r>
              <a:rPr lang="pt-BR" dirty="0"/>
              <a:t>: aplica-se no espaço entre as palavras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F369CF-6738-BFB5-5052-16B9D48C8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929" y="1526041"/>
            <a:ext cx="22098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1327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4CB9ED-5A02-6355-CE7D-A2DC9DC1E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 - </a:t>
            </a:r>
            <a:r>
              <a:rPr lang="pt-BR" spc="600" dirty="0"/>
              <a:t>tipografia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FB65B9-7A25-7B61-AD49-201E45084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24" y="1972355"/>
            <a:ext cx="8407351" cy="397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7879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FC8F7-D885-67D7-B541-D227906C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8A75A-77EC-6C9F-FDAF-0A412558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BF198A-331B-5749-D906-B9FEA0966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Espaçamento Vertical</a:t>
            </a:r>
          </a:p>
          <a:p>
            <a:r>
              <a:rPr lang="pt-BR" dirty="0"/>
              <a:t>Leading: espaço vertical entre linha de texto</a:t>
            </a:r>
          </a:p>
          <a:p>
            <a:r>
              <a:rPr lang="pt-BR" dirty="0" err="1"/>
              <a:t>Line-height</a:t>
            </a: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CA6CDD-E9F0-81C2-0F57-FE6448891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717" y="2334305"/>
            <a:ext cx="8066995" cy="402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5190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A6586-A524-94FB-76D9-B9E96742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1358A-1D3F-CDC2-5B34-8E0D4CA2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964E49-80BE-A48F-9A26-241C3CE3E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9905999" cy="308577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Alinhamento de texto</a:t>
            </a:r>
          </a:p>
          <a:p>
            <a:r>
              <a:rPr lang="pt-BR" dirty="0"/>
              <a:t>Justificado</a:t>
            </a:r>
          </a:p>
          <a:p>
            <a:r>
              <a:rPr lang="pt-BR" dirty="0"/>
              <a:t>Evitar o uso de texto justificado em espaços estreitos</a:t>
            </a:r>
          </a:p>
          <a:p>
            <a:r>
              <a:rPr lang="pt-BR" dirty="0"/>
              <a:t>Quando o texto é centralizado ou alinhado à borda esquerda ou direita da página ou coluna, o espaçamento entre caracteres e palavras permanece constante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A5CDF6F-E482-A9A7-0DBB-7C8476D92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646" y="3652590"/>
            <a:ext cx="8472790" cy="308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9699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32FC-6CD2-3213-79F1-F143BDB8F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4D93A-1755-0370-4794-A584C862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311C14-237C-B779-8D90-DEB5A05C8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9905999" cy="308577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Tipos de fonte</a:t>
            </a:r>
          </a:p>
          <a:p>
            <a:r>
              <a:rPr lang="pt-BR" dirty="0"/>
              <a:t>É um conjunto de letras que aparecem em um determinado estilo</a:t>
            </a:r>
          </a:p>
          <a:p>
            <a:r>
              <a:rPr lang="pt-BR" dirty="0"/>
              <a:t>A maioria das famílias tipográficas inclui a versão regular, juntamente com as variantes itálico, negrito e negrito itálico</a:t>
            </a:r>
          </a:p>
          <a:p>
            <a:r>
              <a:rPr lang="pt-BR" dirty="0"/>
              <a:t>Com serifa e sem serifa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F20077-F240-3FB6-DD02-7280878F9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039" y="3219716"/>
            <a:ext cx="21907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2833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FBE83-2C7A-50B9-B2D6-9F43E9EB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85370-71DE-AF59-153F-7F6DF6502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72310C-3906-195A-2450-1877DBA50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9905999" cy="3085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Tipos de fonte</a:t>
            </a:r>
          </a:p>
          <a:p>
            <a:pPr marL="0" indent="0">
              <a:buNone/>
            </a:pPr>
            <a:r>
              <a:rPr lang="pt-BR" dirty="0"/>
              <a:t>Fontes com serifa</a:t>
            </a:r>
          </a:p>
          <a:p>
            <a:r>
              <a:rPr lang="pt-BR" dirty="0"/>
              <a:t>Aumentam a legibilidade em grandes blocos de texto ao fornecer uma linha de referência horizontal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AF0F473-F4CD-FB06-3CE9-0BDDA59FC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275" y="2782064"/>
            <a:ext cx="3574596" cy="359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2656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5B77-990F-BA34-D786-6FCE2776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067DC-DBFE-6CEE-9069-D30BD3D75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8DB7C3-7DFB-63C5-5E6A-3188B3DA0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9905999" cy="5384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Tipos de fonte</a:t>
            </a:r>
          </a:p>
          <a:p>
            <a:pPr marL="0" indent="0">
              <a:buNone/>
            </a:pPr>
            <a:r>
              <a:rPr lang="pt-BR" dirty="0"/>
              <a:t>Fontes sem serifa</a:t>
            </a:r>
          </a:p>
          <a:p>
            <a:r>
              <a:rPr lang="pt-BR" dirty="0"/>
              <a:t>Esses tipos de fonte transmitem uma sensação mais limpa e contemporânea</a:t>
            </a:r>
          </a:p>
          <a:p>
            <a:r>
              <a:rPr lang="pt-BR" dirty="0"/>
              <a:t>Se destacam em títulos, especialmente quando combinadas com um corpo de texto composto em uma fonte com serifa</a:t>
            </a:r>
          </a:p>
          <a:p>
            <a:r>
              <a:rPr lang="pt-BR" dirty="0"/>
              <a:t>Criar contraste entre títulos e o texto principal</a:t>
            </a:r>
          </a:p>
          <a:p>
            <a:r>
              <a:rPr lang="pt-BR" dirty="0"/>
              <a:t>Independentemente de como são utilizadas, as fontes sem serifa são extremamente legíveis e práticas para quase qualquer finalidade</a:t>
            </a:r>
          </a:p>
        </p:txBody>
      </p:sp>
    </p:spTree>
    <p:extLst>
      <p:ext uri="{BB962C8B-B14F-4D97-AF65-F5344CB8AC3E}">
        <p14:creationId xmlns:p14="http://schemas.microsoft.com/office/powerpoint/2010/main" val="317324745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0EF82-889D-E5B7-E6B4-1F668BD3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68502-D45E-AA5A-35DF-1AEB8C27F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D72B4D-B3FC-0633-0111-A8D8ED8F7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7999637" cy="5384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Tipos de fonte</a:t>
            </a:r>
          </a:p>
          <a:p>
            <a:pPr marL="0" indent="0">
              <a:buNone/>
            </a:pPr>
            <a:r>
              <a:rPr lang="pt-BR" dirty="0"/>
              <a:t>Fontes manuscritas</a:t>
            </a:r>
          </a:p>
          <a:p>
            <a:r>
              <a:rPr lang="pt-BR" dirty="0"/>
              <a:t>O aspecto maravilhoso da escrita à mão é que ela atua como um símbolo de humanidade, conferindo uma personalidade tangível ao texto que representa</a:t>
            </a:r>
          </a:p>
          <a:p>
            <a:r>
              <a:rPr lang="pt-BR" dirty="0"/>
              <a:t>Fontes manuscritas oferecem um toque pessoal sem o fator de erro humano</a:t>
            </a:r>
          </a:p>
          <a:p>
            <a:r>
              <a:rPr lang="pt-BR" dirty="0"/>
              <a:t>O desenho das letras e o alinhamento em uma fonte manuscrita serão consistentes</a:t>
            </a:r>
          </a:p>
          <a:p>
            <a:r>
              <a:rPr lang="pt-BR" dirty="0"/>
              <a:t>Transmite uma sensação de simpatia e humanidade 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455847-33F2-F525-D4B0-CE64E1D1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050" y="2964315"/>
            <a:ext cx="288607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6844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3B01-6944-3A9B-B730-DEAC777B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4312D-8D6F-1B98-0541-9337D5B8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2CA4BC-1DD8-CF81-62CC-4EC4070A4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10125302" cy="5384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Tipos de fonte</a:t>
            </a:r>
          </a:p>
          <a:p>
            <a:pPr marL="0" indent="0">
              <a:buNone/>
            </a:pPr>
            <a:r>
              <a:rPr lang="pt-BR" dirty="0"/>
              <a:t>Fontes de largura fixa (</a:t>
            </a:r>
            <a:r>
              <a:rPr lang="pt-BR" dirty="0" err="1"/>
              <a:t>monoespaçada</a:t>
            </a:r>
            <a:r>
              <a:rPr lang="pt-BR" dirty="0"/>
              <a:t>)</a:t>
            </a:r>
          </a:p>
          <a:p>
            <a:r>
              <a:rPr lang="pt-BR" dirty="0"/>
              <a:t>Na maioria das fontes, cada letra ocupa uma quantidade diferente de espaço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E34C98-DB7E-A526-0AB2-291978930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102" y="3195637"/>
            <a:ext cx="7901796" cy="129472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CCB0DBE-1797-636C-2BB6-81D1CE7EC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173" y="4723038"/>
            <a:ext cx="9519730" cy="11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6179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3D389-0A11-6CD3-4E61-852ABC40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6DB20-15D8-57BD-3948-0471B626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C0941C-5226-B7B3-54A6-538341EE1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10125302" cy="53846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Tipos de fonte</a:t>
            </a:r>
          </a:p>
          <a:p>
            <a:pPr marL="0" indent="0">
              <a:buNone/>
            </a:pPr>
            <a:r>
              <a:rPr lang="pt-BR" dirty="0"/>
              <a:t>Fontes criativas</a:t>
            </a:r>
          </a:p>
          <a:p>
            <a:r>
              <a:rPr lang="pt-BR" dirty="0"/>
              <a:t>Representam a grande maioria das fontes gratuitas disponíveis online</a:t>
            </a:r>
          </a:p>
          <a:p>
            <a:r>
              <a:rPr lang="pt-BR" dirty="0"/>
              <a:t>Essas fontes são menos legíveis do que suas equivalentes tradicionais, mas, quando usadas com moderação, podem conferir muita personalidade e estilo a um design</a:t>
            </a:r>
          </a:p>
          <a:p>
            <a:r>
              <a:rPr lang="pt-BR" dirty="0"/>
              <a:t>Pode ser um bom ponto de partida para criar um logotipo</a:t>
            </a:r>
          </a:p>
          <a:p>
            <a:r>
              <a:rPr lang="pt-BR" dirty="0"/>
              <a:t>Antes de utilizar uma fonte criativa, você deve considerar as exigências do cliente e o público-alvo</a:t>
            </a:r>
          </a:p>
          <a:p>
            <a:r>
              <a:rPr lang="pt-BR" dirty="0"/>
              <a:t>Uma fonte criativa muito excêntrica ou incomum pode prejudicar a imagem da empresa</a:t>
            </a:r>
          </a:p>
        </p:txBody>
      </p:sp>
    </p:spTree>
    <p:extLst>
      <p:ext uri="{BB962C8B-B14F-4D97-AF65-F5344CB8AC3E}">
        <p14:creationId xmlns:p14="http://schemas.microsoft.com/office/powerpoint/2010/main" val="26201762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29F9-8F52-E740-8F60-F9C340EF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09461-8964-9E25-D3D1-202EC326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9D4D21-7CE5-EC8C-5546-3CC46D407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10125302" cy="5384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Escolhendo as fontes certas</a:t>
            </a:r>
          </a:p>
          <a:p>
            <a:r>
              <a:rPr lang="pt-BR" dirty="0"/>
              <a:t>A seleção de fontes baseia-se tanto na liberdade artística e em associações emocionais quanto em questões técnicas</a:t>
            </a:r>
          </a:p>
          <a:p>
            <a:r>
              <a:rPr lang="pt-BR" dirty="0"/>
              <a:t>Deve primeiro definir as sensações que deseja despertar no seu público-alvo</a:t>
            </a:r>
          </a:p>
          <a:p>
            <a:r>
              <a:rPr lang="pt-BR" dirty="0"/>
              <a:t>Você quer mostrar que a empresa representada pelo site é moderna e jovem</a:t>
            </a:r>
          </a:p>
          <a:p>
            <a:r>
              <a:rPr lang="pt-BR" dirty="0"/>
              <a:t>ou prefere transmitir uma aura de sabedoria sólida e confiável? </a:t>
            </a:r>
          </a:p>
          <a:p>
            <a:r>
              <a:rPr lang="pt-BR" dirty="0"/>
              <a:t>Quer criar um site baseado em um tema específico, como um luau havaiano ou uma festa mexicana, ou busca transmitir uma identidade mais formal? </a:t>
            </a:r>
          </a:p>
          <a:p>
            <a:r>
              <a:rPr lang="pt-BR" dirty="0"/>
              <a:t>Crie suas próprias perguntas</a:t>
            </a:r>
          </a:p>
        </p:txBody>
      </p:sp>
    </p:spTree>
    <p:extLst>
      <p:ext uri="{BB962C8B-B14F-4D97-AF65-F5344CB8AC3E}">
        <p14:creationId xmlns:p14="http://schemas.microsoft.com/office/powerpoint/2010/main" val="271268735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4D5A2-9518-D371-7D19-0446699B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C26B9-E037-BC7B-9CB4-F7486F2CA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0BF4FB8-15C2-51EB-98CE-4CF68F839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399DE18-B120-F077-3F5B-24BD5DA1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060" y="1066799"/>
            <a:ext cx="7610702" cy="499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8145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BA920-2AAE-7616-B373-540AC3C5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59E23-73C7-2096-531F-309539980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67C889-5D08-9BD4-40DB-D9F0C2832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10125302" cy="5384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Escolhendo as fontes certas</a:t>
            </a:r>
          </a:p>
          <a:p>
            <a:r>
              <a:rPr lang="pt-BR" dirty="0"/>
              <a:t>Relembre os logotipos, as capas de álbuns, os livros didáticos e as sinalizações que você já viu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311176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573A3-9411-DD7F-CC76-EB985EA0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4B104-8598-4A86-C69E-71BC1356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06244C-CEE4-25C3-E41F-608871B41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10125302" cy="5384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Escolhendo as fontes certas</a:t>
            </a:r>
          </a:p>
          <a:p>
            <a:r>
              <a:rPr lang="pt-BR" dirty="0"/>
              <a:t>Restaurante metropolitano de alta gastronomia (cinco estrelas)? um bar cafona à beira-mar? Um bistrô italiano casual?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B77FF2-2F16-200B-508A-7AE295FDC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572" y="2568214"/>
            <a:ext cx="9972043" cy="360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9656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76677-7733-4467-7D48-5A716872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3543F-3C64-AC2B-67C7-9509006C9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EA3BF6-4358-6B45-D762-3C535F360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10125302" cy="5384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Escolhendo as fontes certas</a:t>
            </a:r>
          </a:p>
          <a:p>
            <a:r>
              <a:rPr lang="pt-BR" dirty="0"/>
              <a:t>Como regra geral, tente usar pelo menos duas, mas não mais que quatro fontes diferentes no design de um site</a:t>
            </a:r>
          </a:p>
          <a:p>
            <a:r>
              <a:rPr lang="pt-BR" dirty="0"/>
              <a:t>Para variar a tipografia mantendo a consistência tem a disposição: negrito, itálico, condensada, black, regular, </a:t>
            </a:r>
            <a:r>
              <a:rPr lang="pt-BR" dirty="0" err="1"/>
              <a:t>etc</a:t>
            </a:r>
            <a:endParaRPr lang="pt-BR" dirty="0"/>
          </a:p>
          <a:p>
            <a:r>
              <a:rPr lang="pt-BR" dirty="0"/>
              <a:t>Tente evitar combinar duas fontes com serifa diferentes ou duas fontes sem serifa diferentes no mesmo projeto. Pode causar uma sensação estranhamente desconfortável</a:t>
            </a:r>
          </a:p>
        </p:txBody>
      </p:sp>
    </p:spTree>
    <p:extLst>
      <p:ext uri="{BB962C8B-B14F-4D97-AF65-F5344CB8AC3E}">
        <p14:creationId xmlns:p14="http://schemas.microsoft.com/office/powerpoint/2010/main" val="64995838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B16FD-B3AE-FD04-1922-F20A5EB8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28026-842C-6F41-C780-8FC8A5A0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479FEF-859A-9FC8-781F-FFC9A3E55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99859"/>
            <a:ext cx="10125302" cy="5384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Tamanho da fonte e espaçamento da linha</a:t>
            </a:r>
          </a:p>
          <a:p>
            <a:r>
              <a:rPr lang="pt-BR" dirty="0"/>
              <a:t>As unidades mais populares para definir texto na Web são pixels, pontos, % e sem</a:t>
            </a:r>
          </a:p>
          <a:p>
            <a:r>
              <a:rPr lang="pt-BR" dirty="0"/>
              <a:t>16px = 12pt = 100% = 1em</a:t>
            </a:r>
          </a:p>
          <a:p>
            <a:r>
              <a:rPr lang="pt-BR" dirty="0"/>
              <a:t>O</a:t>
            </a:r>
            <a:r>
              <a:rPr lang="pt-BR"/>
              <a:t> </a:t>
            </a:r>
            <a:r>
              <a:rPr lang="pt-BR" dirty="0"/>
              <a:t>pixel (</a:t>
            </a:r>
            <a:r>
              <a:rPr lang="pt-BR" dirty="0" err="1"/>
              <a:t>px</a:t>
            </a:r>
            <a:r>
              <a:rPr lang="pt-BR" dirty="0"/>
              <a:t>) é a menor — e melhor — unidade relativa para definir o tamanho do texto</a:t>
            </a:r>
          </a:p>
        </p:txBody>
      </p:sp>
    </p:spTree>
    <p:extLst>
      <p:ext uri="{BB962C8B-B14F-4D97-AF65-F5344CB8AC3E}">
        <p14:creationId xmlns:p14="http://schemas.microsoft.com/office/powerpoint/2010/main" val="166470886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633275C6-7BFE-A842-E034-33D018985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32"/>
            <a:ext cx="12192000" cy="685800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64926B7D-C2D2-2F2A-1C25-80F4BB797595}"/>
              </a:ext>
            </a:extLst>
          </p:cNvPr>
          <p:cNvSpPr/>
          <p:nvPr/>
        </p:nvSpPr>
        <p:spPr>
          <a:xfrm>
            <a:off x="6858000" y="4338733"/>
            <a:ext cx="5334000" cy="2509935"/>
          </a:xfrm>
          <a:prstGeom prst="rect">
            <a:avLst/>
          </a:prstGeom>
          <a:solidFill>
            <a:srgbClr val="5B6A95">
              <a:alpha val="60000"/>
            </a:srgbClr>
          </a:solidFill>
          <a:ln>
            <a:solidFill>
              <a:srgbClr val="5B6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0" dirty="0">
                <a:latin typeface="Castellar" panose="020A0402060406010301" pitchFamily="18" charset="0"/>
              </a:rPr>
              <a:t>IMAGENS</a:t>
            </a:r>
          </a:p>
        </p:txBody>
      </p:sp>
    </p:spTree>
    <p:extLst>
      <p:ext uri="{BB962C8B-B14F-4D97-AF65-F5344CB8AC3E}">
        <p14:creationId xmlns:p14="http://schemas.microsoft.com/office/powerpoint/2010/main" val="219426234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B2EC9-5681-D570-5622-5481561E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2A2F1D-6E70-3AD3-5A76-29B8B474D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Formato de arquivo</a:t>
            </a:r>
          </a:p>
          <a:p>
            <a:r>
              <a:rPr lang="pt-BR" dirty="0"/>
              <a:t>Resolução</a:t>
            </a:r>
          </a:p>
          <a:p>
            <a:r>
              <a:rPr lang="pt-BR" dirty="0"/>
              <a:t>Fontes de fotografia</a:t>
            </a:r>
          </a:p>
          <a:p>
            <a:r>
              <a:rPr lang="pt-BR" dirty="0"/>
              <a:t>Aspectos artísticos</a:t>
            </a:r>
          </a:p>
        </p:txBody>
      </p:sp>
    </p:spTree>
    <p:extLst>
      <p:ext uri="{BB962C8B-B14F-4D97-AF65-F5344CB8AC3E}">
        <p14:creationId xmlns:p14="http://schemas.microsoft.com/office/powerpoint/2010/main" val="163205727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349E-16E8-B421-B3E2-C8EEC202F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A043D-B3F5-81D3-6C09-6C81C80C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24DD2C8-E939-E3EE-C6F3-F4373D5BE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7562" y="1290749"/>
            <a:ext cx="5156148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0698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CBE8-4290-C975-38BD-957CB5D9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7C86F-AAEB-58EB-88BA-F0F9F91A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pic>
        <p:nvPicPr>
          <p:cNvPr id="6" name="Espaço Reservado para Conteúdo 4">
            <a:extLst>
              <a:ext uri="{FF2B5EF4-FFF2-40B4-BE49-F238E27FC236}">
                <a16:creationId xmlns:a16="http://schemas.microsoft.com/office/drawing/2014/main" id="{F257B6BA-C71C-5BC3-C103-07ACF2585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600597" y="1339735"/>
            <a:ext cx="5156142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8063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2D026-0BAF-C3A2-EE02-8FD6E6C9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28AEF-CAC5-6DC3-9DDA-B523D649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1AEB27E-9BF8-DEB1-A587-5853DA1F6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7562" y="1290749"/>
            <a:ext cx="5156148" cy="3816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D8FA175-DD57-7D1C-8188-1F389CC330E8}"/>
              </a:ext>
            </a:extLst>
          </p:cNvPr>
          <p:cNvSpPr txBox="1"/>
          <p:nvPr/>
        </p:nvSpPr>
        <p:spPr>
          <a:xfrm>
            <a:off x="618290" y="1290749"/>
            <a:ext cx="57992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+mn-lt"/>
                <a:ea typeface="Verdana" panose="020B0604030504040204" pitchFamily="34" charset="0"/>
                <a:cs typeface="Times New Roman" panose="02020603050405020304" pitchFamily="18" charset="0"/>
              </a:rPr>
              <a:t>O posicionamento da câmera no topo da página ajuda a garantir que ela seja notada.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+mn-lt"/>
                <a:ea typeface="Verdana" panose="020B0604030504040204" pitchFamily="34" charset="0"/>
                <a:cs typeface="Times New Roman" panose="02020603050405020304" pitchFamily="18" charset="0"/>
              </a:rPr>
              <a:t>Isolar a imagem faz com que ela se destaque ainda mais como um ponto focal.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+mn-lt"/>
                <a:ea typeface="Verdana" panose="020B0604030504040204" pitchFamily="34" charset="0"/>
                <a:cs typeface="Times New Roman" panose="02020603050405020304" pitchFamily="18" charset="0"/>
              </a:rPr>
              <a:t>A direção da lente cria uma linha de continuidade que determina o próximo ponto focal da página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3310788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0BD43-314F-86FD-736D-F288EC55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92C1B-00E4-E3DB-4756-98E9D3C1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670D5-679C-5BD9-9705-87A212D98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800" dirty="0"/>
              <a:t>O que observar</a:t>
            </a:r>
          </a:p>
          <a:p>
            <a:r>
              <a:rPr lang="pt-BR" dirty="0"/>
              <a:t>Uma imagem vale mais de mil palavras</a:t>
            </a:r>
          </a:p>
          <a:p>
            <a:r>
              <a:rPr lang="pt-BR" dirty="0"/>
              <a:t>Servem como atrativos visuais que captam a atenção de visitantes de passagem e os conduzem ao seu conteúdo</a:t>
            </a:r>
          </a:p>
          <a:p>
            <a:r>
              <a:rPr lang="pt-BR" dirty="0"/>
              <a:t>Imagens inadequadas — ou até mesmo uma apresentação ruim das imagens certas — podem prejudicar o apelo de um site</a:t>
            </a:r>
          </a:p>
          <a:p>
            <a:r>
              <a:rPr lang="pt-BR" dirty="0"/>
              <a:t>Cada pessoa que vê uma fotografia ou ilustração interpreta a imagem de maneira diferente</a:t>
            </a:r>
          </a:p>
        </p:txBody>
      </p:sp>
    </p:spTree>
    <p:extLst>
      <p:ext uri="{BB962C8B-B14F-4D97-AF65-F5344CB8AC3E}">
        <p14:creationId xmlns:p14="http://schemas.microsoft.com/office/powerpoint/2010/main" val="121354354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AB001-8C8E-7154-6EC3-A1D55BFC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D6360-A90E-B5A5-D88F-B7C87B3F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8EEAE7-102F-BD92-3573-379A05D0E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800" dirty="0"/>
              <a:t>Antes de adicionar uma imagem, faça a si mesmo três perguntas</a:t>
            </a:r>
          </a:p>
          <a:p>
            <a:r>
              <a:rPr lang="pt-BR" dirty="0"/>
              <a:t>Ela é relevante?</a:t>
            </a:r>
          </a:p>
          <a:p>
            <a:pPr lvl="1"/>
            <a:r>
              <a:rPr lang="pt-BR" dirty="0"/>
              <a:t>Imagens relevantes podem tornar o design mais interessante e enriquecer o conteúdo de uma página da web</a:t>
            </a:r>
          </a:p>
          <a:p>
            <a:pPr lvl="1"/>
            <a:r>
              <a:rPr lang="pt-BR" dirty="0"/>
              <a:t>Funcionam como pontos de referência visuais que ajudam os visitantes a lembrar o que foi abordado na página e onde olhar quando retornarem</a:t>
            </a:r>
          </a:p>
          <a:p>
            <a:pPr marL="45720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474243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967C0-4509-AEC4-5CD6-7901F5D0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EEEFC-BF5D-B9F2-2634-85BF8E9A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A12E11-8A1E-0713-7E66-ABE7BBA51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800" dirty="0"/>
              <a:t>Antes de adicionar uma imagem, faça a si mesmo três perguntas</a:t>
            </a:r>
          </a:p>
          <a:p>
            <a:r>
              <a:rPr lang="pt-BR" dirty="0"/>
              <a:t>Ela é relevante?</a:t>
            </a:r>
          </a:p>
          <a:p>
            <a:r>
              <a:rPr lang="pt-BR" dirty="0"/>
              <a:t>Produtos Artesanais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A9E494-A6F2-AF6D-D197-3637EAB6B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148" y="1900237"/>
            <a:ext cx="7989335" cy="472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1016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BC76A-489F-58D5-94CE-D62E7040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F28FC-E41D-ACB1-51DB-0FC705AB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5C0DEA-CF74-AA87-F507-F20E12A40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800" dirty="0"/>
              <a:t>Antes de adicionar uma imagem, faça a si mesmo três perguntas</a:t>
            </a:r>
          </a:p>
          <a:p>
            <a:r>
              <a:rPr lang="pt-BR" dirty="0"/>
              <a:t>Ela é interessante?</a:t>
            </a:r>
          </a:p>
          <a:p>
            <a:pPr lvl="1"/>
            <a:r>
              <a:rPr lang="pt-BR" dirty="0"/>
              <a:t>Quando se trata de escolher imagens, o literalismo é onde nascem todos os clichês</a:t>
            </a:r>
          </a:p>
          <a:p>
            <a:pPr lvl="1"/>
            <a:r>
              <a:rPr lang="pt-BR" dirty="0"/>
              <a:t>Embora seja importante manter uma conexão entre os elementos visuais de um design e seu </a:t>
            </a:r>
            <a:r>
              <a:rPr lang="pt-BR"/>
              <a:t>conteúdo, evite </a:t>
            </a:r>
            <a:r>
              <a:rPr lang="pt-BR" dirty="0"/>
              <a:t>fazer disso sempre a prioridade número um</a:t>
            </a:r>
          </a:p>
        </p:txBody>
      </p:sp>
    </p:spTree>
    <p:extLst>
      <p:ext uri="{BB962C8B-B14F-4D97-AF65-F5344CB8AC3E}">
        <p14:creationId xmlns:p14="http://schemas.microsoft.com/office/powerpoint/2010/main" val="266132947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9D803-2C82-613D-4699-6374789B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68C4B-5AB0-AC12-E925-33E7BF5C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D46BE3-0AE8-50F5-D03E-03A195491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800" dirty="0"/>
              <a:t>Antes de adicionar uma imagem, faça a si mesmo três perguntas</a:t>
            </a:r>
          </a:p>
          <a:p>
            <a:r>
              <a:rPr lang="pt-BR" dirty="0"/>
              <a:t>Ela é  atraente?</a:t>
            </a:r>
          </a:p>
          <a:p>
            <a:pPr lvl="1"/>
            <a:r>
              <a:rPr lang="pt-BR" dirty="0"/>
              <a:t>Imagens esteticamente ou emocionalmente atraentes podem ser um recurso muito eficiente para captar a atenção e dar ênfase</a:t>
            </a:r>
          </a:p>
          <a:p>
            <a:pPr lvl="1"/>
            <a:r>
              <a:rPr lang="pt-BR" dirty="0"/>
              <a:t>São </a:t>
            </a:r>
          </a:p>
          <a:p>
            <a:pPr lvl="1"/>
            <a:r>
              <a:rPr lang="pt-BR" dirty="0"/>
              <a:t>especialmente importantes para sites de restaurantes, receitas e serviços de buffet</a:t>
            </a:r>
          </a:p>
        </p:txBody>
      </p:sp>
    </p:spTree>
    <p:extLst>
      <p:ext uri="{BB962C8B-B14F-4D97-AF65-F5344CB8AC3E}">
        <p14:creationId xmlns:p14="http://schemas.microsoft.com/office/powerpoint/2010/main" val="10216634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D6E0-B130-C915-FF13-E668CA517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3516E-9722-ABCA-384D-D1169125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D72B3BD-39C9-C6C4-94D0-F05EC5C03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E8019A-CFB1-C838-C165-8A8706D24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259" y="1123281"/>
            <a:ext cx="7796213" cy="461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5899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10DD-0BE8-2E06-6863-6D693E9F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F5300-0E10-0470-B68B-24D7CABF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IMPORTANTES DAS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99CB5D-134B-DE23-821A-5DECAD2C6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800" dirty="0"/>
              <a:t>Antes de adicionar uma imagem, faça a si mesmo três perguntas</a:t>
            </a:r>
          </a:p>
          <a:p>
            <a:r>
              <a:rPr lang="pt-BR" dirty="0"/>
              <a:t>Interesse e apelo visual são conceitos muito subjetivos</a:t>
            </a:r>
          </a:p>
          <a:p>
            <a:r>
              <a:rPr lang="pt-BR" dirty="0"/>
              <a:t>As vezes, a subjetividade e a liberdade artística são apropriadas</a:t>
            </a:r>
          </a:p>
          <a:p>
            <a:r>
              <a:rPr lang="pt-BR" dirty="0"/>
              <a:t>Para cada imagem escolhida em um projeto, você deve ser capaz de responder "sim" a pelo menos duas das perguntas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791301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71149-4AD1-735B-B9AF-66A1E336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Fontes de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711681-9C33-9ACC-DD6D-C505911A1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Quais as opções</a:t>
            </a:r>
          </a:p>
          <a:p>
            <a:r>
              <a:rPr lang="pt-BR" dirty="0"/>
              <a:t>Criar as imagens</a:t>
            </a:r>
          </a:p>
          <a:p>
            <a:r>
              <a:rPr lang="pt-BR" dirty="0"/>
              <a:t>Comprar imagens de banco de imagens ou</a:t>
            </a:r>
          </a:p>
          <a:p>
            <a:r>
              <a:rPr lang="pt-BR" dirty="0"/>
              <a:t>Contratar um profissional</a:t>
            </a:r>
          </a:p>
          <a:p>
            <a:r>
              <a:rPr lang="pt-BR" dirty="0"/>
              <a:t>Tudo depende das necessidades do cliente, do orçamento e das habilidades próprias</a:t>
            </a:r>
          </a:p>
        </p:txBody>
      </p:sp>
    </p:spTree>
    <p:extLst>
      <p:ext uri="{BB962C8B-B14F-4D97-AF65-F5344CB8AC3E}">
        <p14:creationId xmlns:p14="http://schemas.microsoft.com/office/powerpoint/2010/main" val="342523475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D9F5-BEAC-97E4-E408-D8FFC7CBA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66604-DD1C-9C2F-9CC0-48C3D11C9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Fontes de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B1D7C1-98E2-B377-1D6D-27258E3E7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as imagens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160461-1704-A665-DF5C-BC2370B1C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496" y="1707695"/>
            <a:ext cx="8045904" cy="460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0641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24286-28A3-787E-6C0D-6AF01A3AE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AB167-ED8B-DFAF-7D2C-E5F48D8D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Fontes de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6A7EB-91A0-188C-FBB7-6F522758B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068224"/>
            <a:ext cx="4181702" cy="4722977"/>
          </a:xfrm>
        </p:spPr>
        <p:txBody>
          <a:bodyPr/>
          <a:lstStyle/>
          <a:p>
            <a:r>
              <a:rPr lang="pt-BR" dirty="0"/>
              <a:t>Banco de imagens </a:t>
            </a:r>
          </a:p>
          <a:p>
            <a:r>
              <a:rPr lang="pt-BR" dirty="0"/>
              <a:t>Gratuitas</a:t>
            </a:r>
          </a:p>
          <a:p>
            <a:r>
              <a:rPr lang="pt-BR" dirty="0"/>
              <a:t>Livres de royalties</a:t>
            </a:r>
          </a:p>
          <a:p>
            <a:pPr lvl="1"/>
            <a:r>
              <a:rPr lang="pt-BR" dirty="0"/>
              <a:t>Pagamento único e antecipado</a:t>
            </a:r>
          </a:p>
          <a:p>
            <a:r>
              <a:rPr lang="pt-BR" dirty="0"/>
              <a:t>Direitos gerenciados</a:t>
            </a:r>
          </a:p>
          <a:p>
            <a:pPr lvl="1"/>
            <a:r>
              <a:rPr lang="pt-BR" dirty="0"/>
              <a:t>Porte da empresa</a:t>
            </a:r>
          </a:p>
          <a:p>
            <a:pPr lvl="1"/>
            <a:r>
              <a:rPr lang="pt-BR" dirty="0"/>
              <a:t>Nº de pessoas que serão expostas a imagem</a:t>
            </a:r>
          </a:p>
          <a:p>
            <a:pPr lvl="1"/>
            <a:r>
              <a:rPr lang="pt-BR" dirty="0"/>
              <a:t>Tempo de uso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0E91ACB-80B2-92B2-CDE9-EC8874C30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794" y="1493611"/>
            <a:ext cx="7021648" cy="486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7944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71BB3-4D2E-9908-D7E5-BD0D2C30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~como não impressionar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12D67C-B30E-D7F1-C21C-39E1EF8AA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Google </a:t>
            </a:r>
            <a:r>
              <a:rPr lang="pt-BR" dirty="0" err="1"/>
              <a:t>Gankink</a:t>
            </a:r>
            <a:endParaRPr lang="pt-BR" dirty="0"/>
          </a:p>
          <a:p>
            <a:pPr lvl="1"/>
            <a:r>
              <a:rPr lang="pt-BR" dirty="0"/>
              <a:t>Fazer download de fotos do Google sem respeitar os direitos autorais</a:t>
            </a:r>
          </a:p>
          <a:p>
            <a:r>
              <a:rPr lang="pt-BR" dirty="0"/>
              <a:t>Usar fotos de banco de imagens sem respeitar os direitos comerciais</a:t>
            </a:r>
          </a:p>
          <a:p>
            <a:r>
              <a:rPr lang="pt-BR" dirty="0"/>
              <a:t>Link de imagem de outro site</a:t>
            </a:r>
          </a:p>
          <a:p>
            <a:r>
              <a:rPr lang="pt-BR" dirty="0" err="1"/>
              <a:t>Clipart</a:t>
            </a:r>
            <a:endParaRPr lang="pt-BR" dirty="0"/>
          </a:p>
        </p:txBody>
      </p:sp>
      <p:pic>
        <p:nvPicPr>
          <p:cNvPr id="4" name="Imagem 3" descr="Cute Clipart Vector Art, Icons, and Graphics for Free Download">
            <a:extLst>
              <a:ext uri="{FF2B5EF4-FFF2-40B4-BE49-F238E27FC236}">
                <a16:creationId xmlns:a16="http://schemas.microsoft.com/office/drawing/2014/main" id="{3BC13554-A62A-34D7-075F-C9CCEA8AA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596" y="2839810"/>
            <a:ext cx="36766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1057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8DAF4-F5E4-217E-5F6F-57823278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Recorte criativo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297319-B209-D789-E4E7-89F83A31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dos impactos mais significativos que você pode causar na apresentação de uma imagem vem da escolha criteriosa do que incluir e do que excluir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200B9D5-5D2C-EDAF-7FDE-64DA02542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580" y="2084840"/>
            <a:ext cx="5400040" cy="409257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4E8E777-6643-A9D8-4CD9-BDAD9FBBC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019" y="2084840"/>
            <a:ext cx="463867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0729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174A7-776E-DA8D-DA3A-5C02D563A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8BA2F-A138-635D-2190-9DE3B219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Recorte criativo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215CE-C160-BC81-864A-99988DB75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dos impactos mais significativos que você pode causar na apresentação de uma imagem vem da escolha criteriosa do que incluir e do que excluir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5774632-AB6F-3888-EC15-542EAB0EA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550" y="2053000"/>
            <a:ext cx="9858473" cy="407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5439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E9BD8-1D07-1434-7AD7-74D29EFC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Formatos de arquivos e resoluções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621B1C-E764-B137-8942-F171D6207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JPEG</a:t>
            </a:r>
          </a:p>
          <a:p>
            <a:pPr lvl="1"/>
            <a:r>
              <a:rPr lang="pt-BR" dirty="0"/>
              <a:t>Joint </a:t>
            </a:r>
            <a:r>
              <a:rPr lang="pt-BR" dirty="0" err="1"/>
              <a:t>Photographic</a:t>
            </a:r>
            <a:r>
              <a:rPr lang="pt-BR" dirty="0"/>
              <a:t> Experts </a:t>
            </a:r>
            <a:r>
              <a:rPr lang="pt-BR" dirty="0" err="1"/>
              <a:t>Group</a:t>
            </a:r>
            <a:endParaRPr lang="pt-BR" dirty="0"/>
          </a:p>
          <a:p>
            <a:pPr lvl="1"/>
            <a:r>
              <a:rPr lang="pt-BR" dirty="0"/>
              <a:t>Compressão de arquivo</a:t>
            </a:r>
          </a:p>
          <a:p>
            <a:pPr lvl="1"/>
            <a:r>
              <a:rPr lang="pt-BR" dirty="0"/>
              <a:t>Perda de dados</a:t>
            </a:r>
          </a:p>
          <a:p>
            <a:r>
              <a:rPr lang="pt-BR" dirty="0"/>
              <a:t>GIF</a:t>
            </a:r>
          </a:p>
          <a:p>
            <a:pPr lvl="1"/>
            <a:r>
              <a:rPr lang="pt-BR" dirty="0" err="1"/>
              <a:t>Graphics</a:t>
            </a:r>
            <a:r>
              <a:rPr lang="pt-BR" dirty="0"/>
              <a:t> </a:t>
            </a:r>
            <a:r>
              <a:rPr lang="pt-BR" dirty="0" err="1"/>
              <a:t>Interchange</a:t>
            </a:r>
            <a:r>
              <a:rPr lang="pt-BR" dirty="0"/>
              <a:t> Format</a:t>
            </a:r>
          </a:p>
          <a:p>
            <a:pPr lvl="1"/>
            <a:r>
              <a:rPr lang="pt-BR" dirty="0"/>
              <a:t>Máximo de 256 cores</a:t>
            </a:r>
          </a:p>
          <a:p>
            <a:pPr lvl="1"/>
            <a:r>
              <a:rPr lang="pt-BR" dirty="0"/>
              <a:t>Capacidade de exibir transparência</a:t>
            </a:r>
          </a:p>
          <a:p>
            <a:pPr lvl="1"/>
            <a:r>
              <a:rPr lang="pt-BR" dirty="0"/>
              <a:t>Suporte a animações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63479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80811-A083-2E82-370D-B154DCF4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FD8D7-2245-83B7-C87E-663016FC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Formatos de arquivos e resoluções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809350-00FC-36C7-9FCE-E77F3E4C3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PNG</a:t>
            </a:r>
          </a:p>
          <a:p>
            <a:pPr lvl="1"/>
            <a:r>
              <a:rPr lang="pt-BR" dirty="0" err="1"/>
              <a:t>Portable</a:t>
            </a:r>
            <a:r>
              <a:rPr lang="pt-BR" dirty="0"/>
              <a:t> Network </a:t>
            </a:r>
            <a:r>
              <a:rPr lang="pt-BR" dirty="0" err="1"/>
              <a:t>Graphics</a:t>
            </a:r>
            <a:endParaRPr lang="pt-BR" dirty="0"/>
          </a:p>
          <a:p>
            <a:pPr lvl="1"/>
            <a:r>
              <a:rPr lang="pt-BR" dirty="0"/>
              <a:t>Suportam transparência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56418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133_TF22898775_Win32" id="{4D6974A7-200F-4D7A-9E77-8B84AEB0BF36}" vid="{276CB21F-6DB6-4182-83EC-82E4F1BCA4B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03EF818-EDF6-480C-9B86-0A3B979BCC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8C32A8-E4D9-473C-833A-8950C6E7C0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18BD99-41E9-467C-9777-74587F83171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moderno</Template>
  <TotalTime>5910</TotalTime>
  <Words>6108</Words>
  <Application>Microsoft Office PowerPoint</Application>
  <PresentationFormat>Widescreen</PresentationFormat>
  <Paragraphs>674</Paragraphs>
  <Slides>150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150</vt:i4>
      </vt:variant>
    </vt:vector>
  </HeadingPairs>
  <TitlesOfParts>
    <vt:vector size="165" baseType="lpstr">
      <vt:lpstr>Algerian</vt:lpstr>
      <vt:lpstr>Arial</vt:lpstr>
      <vt:lpstr>Bahnschrift Light</vt:lpstr>
      <vt:lpstr>Brush Script MT</vt:lpstr>
      <vt:lpstr>Calibri</vt:lpstr>
      <vt:lpstr>Castellar</vt:lpstr>
      <vt:lpstr>Copperplate Gothic Bold</vt:lpstr>
      <vt:lpstr>Forte</vt:lpstr>
      <vt:lpstr>MS Reference Sans Serif</vt:lpstr>
      <vt:lpstr>Old English Text MT</vt:lpstr>
      <vt:lpstr>Open Sans Condensed Light</vt:lpstr>
      <vt:lpstr>Palace Script MT</vt:lpstr>
      <vt:lpstr>Ravie</vt:lpstr>
      <vt:lpstr>Tw Cen MT</vt:lpstr>
      <vt:lpstr>Circuito</vt:lpstr>
      <vt:lpstr>Design WEB</vt:lpstr>
      <vt:lpstr>Componentes DE DESIGN</vt:lpstr>
      <vt:lpstr>O Processo de Design</vt:lpstr>
      <vt:lpstr>DESCOBERTA</vt:lpstr>
      <vt:lpstr>DESCOBERTA</vt:lpstr>
      <vt:lpstr>DESCOBERTA</vt:lpstr>
      <vt:lpstr>DESCOBERTA</vt:lpstr>
      <vt:lpstr>EXPLORAÇÃO</vt:lpstr>
      <vt:lpstr>implementação</vt:lpstr>
      <vt:lpstr>implementação</vt:lpstr>
      <vt:lpstr>implementação</vt:lpstr>
      <vt:lpstr>implementação</vt:lpstr>
      <vt:lpstr>implementação</vt:lpstr>
      <vt:lpstr>exploração</vt:lpstr>
      <vt:lpstr>Anatomia de uma página web</vt:lpstr>
      <vt:lpstr>Anatomia de uma página web</vt:lpstr>
      <vt:lpstr>Anatomia de uma página web</vt:lpstr>
      <vt:lpstr>Anatomia de uma página web</vt:lpstr>
      <vt:lpstr>Anatomia de uma página web</vt:lpstr>
      <vt:lpstr>Anatomia de uma página web</vt:lpstr>
      <vt:lpstr>Anatomia de uma página web</vt:lpstr>
      <vt:lpstr>Teoria da grade</vt:lpstr>
      <vt:lpstr>Teoria da grade</vt:lpstr>
      <vt:lpstr>A regra dos terços</vt:lpstr>
      <vt:lpstr>wireframes</vt:lpstr>
      <vt:lpstr>wireframes</vt:lpstr>
      <vt:lpstr>equilíbrio</vt:lpstr>
      <vt:lpstr>Equilíbrio simétrico</vt:lpstr>
      <vt:lpstr>Equilíbrio simétrico</vt:lpstr>
      <vt:lpstr>Equilíbrio assimétrico</vt:lpstr>
      <vt:lpstr>Equilíbrio assimétrico</vt:lpstr>
      <vt:lpstr>unidade</vt:lpstr>
      <vt:lpstr>unidade</vt:lpstr>
      <vt:lpstr>unidade</vt:lpstr>
      <vt:lpstr>unidade</vt:lpstr>
      <vt:lpstr>unidade</vt:lpstr>
      <vt:lpstr>unidade</vt:lpstr>
      <vt:lpstr>unidade</vt:lpstr>
      <vt:lpstr>ênfase</vt:lpstr>
      <vt:lpstr>ênfase</vt:lpstr>
      <vt:lpstr>ênfase</vt:lpstr>
      <vt:lpstr>ênfase</vt:lpstr>
      <vt:lpstr>ênfase</vt:lpstr>
      <vt:lpstr>ênfase</vt:lpstr>
      <vt:lpstr>ênfase</vt:lpstr>
      <vt:lpstr>ênfase</vt:lpstr>
      <vt:lpstr>ênfase</vt:lpstr>
      <vt:lpstr>ênfase</vt:lpstr>
      <vt:lpstr>ênfase</vt:lpstr>
      <vt:lpstr>Layouts básicos</vt:lpstr>
      <vt:lpstr>Layouts básicos</vt:lpstr>
      <vt:lpstr>Layouts básicos</vt:lpstr>
      <vt:lpstr>Layouts básicos</vt:lpstr>
      <vt:lpstr>Layouts básicos</vt:lpstr>
      <vt:lpstr>Layouts básicos</vt:lpstr>
      <vt:lpstr>cores</vt:lpstr>
      <vt:lpstr>cores</vt:lpstr>
      <vt:lpstr>psicologia das cores</vt:lpstr>
      <vt:lpstr>Associação de cores</vt:lpstr>
      <vt:lpstr>Associação de cores</vt:lpstr>
      <vt:lpstr>Associação de cores</vt:lpstr>
      <vt:lpstr>Associação de cores</vt:lpstr>
      <vt:lpstr>Associação de cores</vt:lpstr>
      <vt:lpstr>Associação de cores</vt:lpstr>
      <vt:lpstr>Associação de cores</vt:lpstr>
      <vt:lpstr>Associação de cores</vt:lpstr>
      <vt:lpstr>TEMPERATURA DAS CORES</vt:lpstr>
      <vt:lpstr>CORES QUENTES</vt:lpstr>
      <vt:lpstr>CORES FRIAS</vt:lpstr>
      <vt:lpstr>VALORES CROMÁTICOS</vt:lpstr>
      <vt:lpstr>SATURAÇÃO</vt:lpstr>
      <vt:lpstr>TEORIA DAS CORES</vt:lpstr>
      <vt:lpstr>TEORIA DAS CORES</vt:lpstr>
      <vt:lpstr>Esquemas de cores</vt:lpstr>
      <vt:lpstr>Esquemas de cores</vt:lpstr>
      <vt:lpstr>Esquemas de cores</vt:lpstr>
      <vt:lpstr>Esquemas de cores</vt:lpstr>
      <vt:lpstr>Esquemas de cores</vt:lpstr>
      <vt:lpstr>Esquemas de cores</vt:lpstr>
      <vt:lpstr>Esquemas de cores</vt:lpstr>
      <vt:lpstr>Esquemas de cores</vt:lpstr>
      <vt:lpstr>Esquemas de cores</vt:lpstr>
      <vt:lpstr>Esquemas de cores</vt:lpstr>
      <vt:lpstr>Esquemas de cores</vt:lpstr>
      <vt:lpstr>Esquemas de cores</vt:lpstr>
      <vt:lpstr>textura</vt:lpstr>
      <vt:lpstr>textura</vt:lpstr>
      <vt:lpstr>textura</vt:lpstr>
      <vt:lpstr>textura</vt:lpstr>
      <vt:lpstr>textura</vt:lpstr>
      <vt:lpstr>textura</vt:lpstr>
      <vt:lpstr>textura</vt:lpstr>
      <vt:lpstr>textura</vt:lpstr>
      <vt:lpstr>textura</vt:lpstr>
      <vt:lpstr>textura</vt:lpstr>
      <vt:lpstr>textura</vt:lpstr>
      <vt:lpstr>VOLUME E PROFUNDIDADE</vt:lpstr>
      <vt:lpstr>VOLUME E PROFUNDIDADE</vt:lpstr>
      <vt:lpstr>VOLUME E PROFUNDIDADE</vt:lpstr>
      <vt:lpstr>VOLUME E PROFUNDIDADE</vt:lpstr>
      <vt:lpstr>VOLUME E PROFUNDIDADE</vt:lpstr>
      <vt:lpstr>VOLUME E PROFUNDIDADE</vt:lpstr>
      <vt:lpstr>Construindo a textura</vt:lpstr>
      <vt:lpstr>Envelhecido, desgastado e nostálgico</vt:lpstr>
      <vt:lpstr>Envelhecido, desgastado e nostálgico</vt:lpstr>
      <vt:lpstr>Envelhecido, desgastado e nostálgico</vt:lpstr>
      <vt:lpstr>Limpo e granulado</vt:lpstr>
      <vt:lpstr>Scrapbook artesanal</vt:lpstr>
      <vt:lpstr>Scrapbook artesanal</vt:lpstr>
      <vt:lpstr>Textura minimalista</vt:lpstr>
      <vt:lpstr>T I P O G R A F I A</vt:lpstr>
      <vt:lpstr>TIPOGRAFIA</vt:lpstr>
      <vt:lpstr>TIPOGRAFIA</vt:lpstr>
      <vt:lpstr>TIPOGRAFIA</vt:lpstr>
      <vt:lpstr>TIPOGRAFIA</vt:lpstr>
      <vt:lpstr>Tipografia - tipografia</vt:lpstr>
      <vt:lpstr>TIPOGRAFIA</vt:lpstr>
      <vt:lpstr>TIPOGRAFIA</vt:lpstr>
      <vt:lpstr>TIPOGRAFIA</vt:lpstr>
      <vt:lpstr>TIPOGRAFIA</vt:lpstr>
      <vt:lpstr>TIPOGRAFIA</vt:lpstr>
      <vt:lpstr>TIPOGRAFIA</vt:lpstr>
      <vt:lpstr>TIPOGRAFIA</vt:lpstr>
      <vt:lpstr>TIPOGRAFIA</vt:lpstr>
      <vt:lpstr>TIPOGRAFIA</vt:lpstr>
      <vt:lpstr>TIPOGRAFIA</vt:lpstr>
      <vt:lpstr>TIPOGRAFIA</vt:lpstr>
      <vt:lpstr>TIPOGRAFIA</vt:lpstr>
      <vt:lpstr>TIPOGRAFIA</vt:lpstr>
      <vt:lpstr>TIPOGRAFIA</vt:lpstr>
      <vt:lpstr>Apresentação do PowerPoint</vt:lpstr>
      <vt:lpstr>ASPECTOS IMPORTANTES DAS IMAGENS</vt:lpstr>
      <vt:lpstr>ASPECTOS IMPORTANTES DAS IMAGENS</vt:lpstr>
      <vt:lpstr>ASPECTOS IMPORTANTES DAS IMAGENS</vt:lpstr>
      <vt:lpstr>ASPECTOS IMPORTANTES DAS IMAGENS</vt:lpstr>
      <vt:lpstr>ASPECTOS IMPORTANTES DAS IMAGENS</vt:lpstr>
      <vt:lpstr>ASPECTOS IMPORTANTES DAS IMAGENS</vt:lpstr>
      <vt:lpstr>ASPECTOS IMPORTANTES DAS IMAGENS</vt:lpstr>
      <vt:lpstr>ASPECTOS IMPORTANTES DAS IMAGENS</vt:lpstr>
      <vt:lpstr>ASPECTOS IMPORTANTES DAS IMAGENS</vt:lpstr>
      <vt:lpstr>ASPECTOS IMPORTANTES DAS IMAGENS</vt:lpstr>
      <vt:lpstr>ASPECTOS IMPORTANTES DAS IMAGENS</vt:lpstr>
      <vt:lpstr>Fontes de imagens</vt:lpstr>
      <vt:lpstr>Fontes de imagens</vt:lpstr>
      <vt:lpstr>Fontes de imagens</vt:lpstr>
      <vt:lpstr>~como não impressionar</vt:lpstr>
      <vt:lpstr>Recorte criativo</vt:lpstr>
      <vt:lpstr>Recorte criativo</vt:lpstr>
      <vt:lpstr>Formatos de arquivos e resoluções</vt:lpstr>
      <vt:lpstr>Formatos de arquivos e resoluções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Teixeira Cunha</dc:creator>
  <cp:lastModifiedBy>Joel Teixeira Cunha</cp:lastModifiedBy>
  <cp:revision>14</cp:revision>
  <dcterms:created xsi:type="dcterms:W3CDTF">2026-02-25T14:23:30Z</dcterms:created>
  <dcterms:modified xsi:type="dcterms:W3CDTF">2026-10-06T11:44:17Z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