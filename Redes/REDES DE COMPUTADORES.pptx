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39"/>
  </p:notesMasterIdLst>
  <p:handoutMasterIdLst>
    <p:handoutMasterId r:id="rId40"/>
  </p:handoutMasterIdLst>
  <p:sldIdLst>
    <p:sldId id="256" r:id="rId2"/>
    <p:sldId id="273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2" r:id="rId13"/>
    <p:sldId id="271" r:id="rId14"/>
    <p:sldId id="274" r:id="rId15"/>
    <p:sldId id="275" r:id="rId16"/>
    <p:sldId id="276" r:id="rId17"/>
    <p:sldId id="277" r:id="rId18"/>
    <p:sldId id="278" r:id="rId19"/>
    <p:sldId id="279" r:id="rId20"/>
    <p:sldId id="282" r:id="rId21"/>
    <p:sldId id="283" r:id="rId22"/>
    <p:sldId id="284" r:id="rId23"/>
    <p:sldId id="286" r:id="rId24"/>
    <p:sldId id="287" r:id="rId25"/>
    <p:sldId id="290" r:id="rId26"/>
    <p:sldId id="291" r:id="rId27"/>
    <p:sldId id="288" r:id="rId28"/>
    <p:sldId id="289" r:id="rId29"/>
    <p:sldId id="285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60" r:id="rId38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48" autoAdjust="0"/>
  </p:normalViewPr>
  <p:slideViewPr>
    <p:cSldViewPr snapToGrid="0">
      <p:cViewPr varScale="1">
        <p:scale>
          <a:sx n="105" d="100"/>
          <a:sy n="105" d="100"/>
        </p:scale>
        <p:origin x="69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7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l Teixeira Cunha" userId="195451ac3a5e8dfd" providerId="LiveId" clId="{9D99295D-09A0-459E-AFDA-61FAD528DEBC}"/>
    <pc:docChg chg="undo custSel addSld modSld">
      <pc:chgData name="Joel Teixeira Cunha" userId="195451ac3a5e8dfd" providerId="LiveId" clId="{9D99295D-09A0-459E-AFDA-61FAD528DEBC}" dt="2026-05-20T00:24:32.639" v="2491" actId="1076"/>
      <pc:docMkLst>
        <pc:docMk/>
      </pc:docMkLst>
      <pc:sldChg chg="modSp mod">
        <pc:chgData name="Joel Teixeira Cunha" userId="195451ac3a5e8dfd" providerId="LiveId" clId="{9D99295D-09A0-459E-AFDA-61FAD528DEBC}" dt="2026-05-18T22:03:22.235" v="91" actId="20577"/>
        <pc:sldMkLst>
          <pc:docMk/>
          <pc:sldMk cId="2448624542" sldId="285"/>
        </pc:sldMkLst>
        <pc:spChg chg="mod">
          <ac:chgData name="Joel Teixeira Cunha" userId="195451ac3a5e8dfd" providerId="LiveId" clId="{9D99295D-09A0-459E-AFDA-61FAD528DEBC}" dt="2026-05-18T22:03:22.235" v="91" actId="20577"/>
          <ac:spMkLst>
            <pc:docMk/>
            <pc:sldMk cId="2448624542" sldId="285"/>
            <ac:spMk id="3" creationId="{2F6B353C-1A5B-7BB5-0A90-A4B31FB88685}"/>
          </ac:spMkLst>
        </pc:spChg>
      </pc:sldChg>
      <pc:sldChg chg="modSp add mod">
        <pc:chgData name="Joel Teixeira Cunha" userId="195451ac3a5e8dfd" providerId="LiveId" clId="{9D99295D-09A0-459E-AFDA-61FAD528DEBC}" dt="2026-05-18T22:05:24.277" v="266" actId="554"/>
        <pc:sldMkLst>
          <pc:docMk/>
          <pc:sldMk cId="974116489" sldId="292"/>
        </pc:sldMkLst>
        <pc:spChg chg="mod">
          <ac:chgData name="Joel Teixeira Cunha" userId="195451ac3a5e8dfd" providerId="LiveId" clId="{9D99295D-09A0-459E-AFDA-61FAD528DEBC}" dt="2026-05-18T22:03:55.144" v="98" actId="20577"/>
          <ac:spMkLst>
            <pc:docMk/>
            <pc:sldMk cId="974116489" sldId="292"/>
            <ac:spMk id="2" creationId="{58FAE4EB-9A9A-0E8C-90BA-FF66FE521155}"/>
          </ac:spMkLst>
        </pc:spChg>
        <pc:spChg chg="mod">
          <ac:chgData name="Joel Teixeira Cunha" userId="195451ac3a5e8dfd" providerId="LiveId" clId="{9D99295D-09A0-459E-AFDA-61FAD528DEBC}" dt="2026-05-18T22:05:24.277" v="266" actId="554"/>
          <ac:spMkLst>
            <pc:docMk/>
            <pc:sldMk cId="974116489" sldId="292"/>
            <ac:spMk id="3" creationId="{C461B287-8D69-4803-7D99-DF13F17B46F0}"/>
          </ac:spMkLst>
        </pc:spChg>
      </pc:sldChg>
      <pc:sldChg chg="modSp add mod">
        <pc:chgData name="Joel Teixeira Cunha" userId="195451ac3a5e8dfd" providerId="LiveId" clId="{9D99295D-09A0-459E-AFDA-61FAD528DEBC}" dt="2026-05-18T22:09:05.343" v="728" actId="20577"/>
        <pc:sldMkLst>
          <pc:docMk/>
          <pc:sldMk cId="3005095367" sldId="293"/>
        </pc:sldMkLst>
        <pc:spChg chg="mod">
          <ac:chgData name="Joel Teixeira Cunha" userId="195451ac3a5e8dfd" providerId="LiveId" clId="{9D99295D-09A0-459E-AFDA-61FAD528DEBC}" dt="2026-05-18T22:05:43.550" v="273" actId="20577"/>
          <ac:spMkLst>
            <pc:docMk/>
            <pc:sldMk cId="3005095367" sldId="293"/>
            <ac:spMk id="2" creationId="{694774B9-2FB8-E757-C082-1A6174050E85}"/>
          </ac:spMkLst>
        </pc:spChg>
        <pc:spChg chg="mod">
          <ac:chgData name="Joel Teixeira Cunha" userId="195451ac3a5e8dfd" providerId="LiveId" clId="{9D99295D-09A0-459E-AFDA-61FAD528DEBC}" dt="2026-05-18T22:09:05.343" v="728" actId="20577"/>
          <ac:spMkLst>
            <pc:docMk/>
            <pc:sldMk cId="3005095367" sldId="293"/>
            <ac:spMk id="3" creationId="{851A2B76-16C4-98C1-5F09-BCA403C9BBBC}"/>
          </ac:spMkLst>
        </pc:spChg>
      </pc:sldChg>
      <pc:sldChg chg="addSp modSp new mod">
        <pc:chgData name="Joel Teixeira Cunha" userId="195451ac3a5e8dfd" providerId="LiveId" clId="{9D99295D-09A0-459E-AFDA-61FAD528DEBC}" dt="2026-05-18T22:12:16.062" v="1065"/>
        <pc:sldMkLst>
          <pc:docMk/>
          <pc:sldMk cId="1562692267" sldId="294"/>
        </pc:sldMkLst>
        <pc:spChg chg="mod">
          <ac:chgData name="Joel Teixeira Cunha" userId="195451ac3a5e8dfd" providerId="LiveId" clId="{9D99295D-09A0-459E-AFDA-61FAD528DEBC}" dt="2026-05-18T22:09:35.052" v="755" actId="20577"/>
          <ac:spMkLst>
            <pc:docMk/>
            <pc:sldMk cId="1562692267" sldId="294"/>
            <ac:spMk id="2" creationId="{D78B2961-D3CA-6F04-431E-CF12565BF917}"/>
          </ac:spMkLst>
        </pc:spChg>
        <pc:spChg chg="mod">
          <ac:chgData name="Joel Teixeira Cunha" userId="195451ac3a5e8dfd" providerId="LiveId" clId="{9D99295D-09A0-459E-AFDA-61FAD528DEBC}" dt="2026-05-18T22:11:44.767" v="1062" actId="20577"/>
          <ac:spMkLst>
            <pc:docMk/>
            <pc:sldMk cId="1562692267" sldId="294"/>
            <ac:spMk id="3" creationId="{913FE5D2-5D23-4117-BBB6-08A07C8BCDD8}"/>
          </ac:spMkLst>
        </pc:spChg>
        <pc:picChg chg="add mod">
          <ac:chgData name="Joel Teixeira Cunha" userId="195451ac3a5e8dfd" providerId="LiveId" clId="{9D99295D-09A0-459E-AFDA-61FAD528DEBC}" dt="2026-05-18T22:12:16.062" v="1065"/>
          <ac:picMkLst>
            <pc:docMk/>
            <pc:sldMk cId="1562692267" sldId="294"/>
            <ac:picMk id="5" creationId="{80A4EC3A-4951-3982-7D01-F52572EC161D}"/>
          </ac:picMkLst>
        </pc:picChg>
      </pc:sldChg>
      <pc:sldChg chg="addSp modSp new mod">
        <pc:chgData name="Joel Teixeira Cunha" userId="195451ac3a5e8dfd" providerId="LiveId" clId="{9D99295D-09A0-459E-AFDA-61FAD528DEBC}" dt="2026-05-18T22:17:41.072" v="1703" actId="1076"/>
        <pc:sldMkLst>
          <pc:docMk/>
          <pc:sldMk cId="3020158856" sldId="295"/>
        </pc:sldMkLst>
        <pc:spChg chg="mod">
          <ac:chgData name="Joel Teixeira Cunha" userId="195451ac3a5e8dfd" providerId="LiveId" clId="{9D99295D-09A0-459E-AFDA-61FAD528DEBC}" dt="2026-05-18T22:12:31.977" v="1090" actId="20577"/>
          <ac:spMkLst>
            <pc:docMk/>
            <pc:sldMk cId="3020158856" sldId="295"/>
            <ac:spMk id="2" creationId="{B4DE5FC7-2398-B711-7D42-57D885652DDD}"/>
          </ac:spMkLst>
        </pc:spChg>
        <pc:spChg chg="mod">
          <ac:chgData name="Joel Teixeira Cunha" userId="195451ac3a5e8dfd" providerId="LiveId" clId="{9D99295D-09A0-459E-AFDA-61FAD528DEBC}" dt="2026-05-18T22:17:36.390" v="1702" actId="27636"/>
          <ac:spMkLst>
            <pc:docMk/>
            <pc:sldMk cId="3020158856" sldId="295"/>
            <ac:spMk id="3" creationId="{281169CA-396E-FD21-629D-8F37D856FF38}"/>
          </ac:spMkLst>
        </pc:spChg>
        <pc:picChg chg="add mod">
          <ac:chgData name="Joel Teixeira Cunha" userId="195451ac3a5e8dfd" providerId="LiveId" clId="{9D99295D-09A0-459E-AFDA-61FAD528DEBC}" dt="2026-05-18T22:17:41.072" v="1703" actId="1076"/>
          <ac:picMkLst>
            <pc:docMk/>
            <pc:sldMk cId="3020158856" sldId="295"/>
            <ac:picMk id="5" creationId="{4F68931B-8F48-94FC-507E-33882CBCEEA2}"/>
          </ac:picMkLst>
        </pc:picChg>
      </pc:sldChg>
      <pc:sldChg chg="addSp modSp new mod">
        <pc:chgData name="Joel Teixeira Cunha" userId="195451ac3a5e8dfd" providerId="LiveId" clId="{9D99295D-09A0-459E-AFDA-61FAD528DEBC}" dt="2026-05-20T00:14:12.908" v="2032" actId="20577"/>
        <pc:sldMkLst>
          <pc:docMk/>
          <pc:sldMk cId="4066461457" sldId="296"/>
        </pc:sldMkLst>
        <pc:spChg chg="mod">
          <ac:chgData name="Joel Teixeira Cunha" userId="195451ac3a5e8dfd" providerId="LiveId" clId="{9D99295D-09A0-459E-AFDA-61FAD528DEBC}" dt="2026-05-20T00:10:43.788" v="1722" actId="20577"/>
          <ac:spMkLst>
            <pc:docMk/>
            <pc:sldMk cId="4066461457" sldId="296"/>
            <ac:spMk id="2" creationId="{62003A4D-7D3F-89DD-B866-6700531E47C6}"/>
          </ac:spMkLst>
        </pc:spChg>
        <pc:spChg chg="mod">
          <ac:chgData name="Joel Teixeira Cunha" userId="195451ac3a5e8dfd" providerId="LiveId" clId="{9D99295D-09A0-459E-AFDA-61FAD528DEBC}" dt="2026-05-20T00:14:12.908" v="2032" actId="20577"/>
          <ac:spMkLst>
            <pc:docMk/>
            <pc:sldMk cId="4066461457" sldId="296"/>
            <ac:spMk id="3" creationId="{98A48964-43B1-6C3F-8E72-F17651638038}"/>
          </ac:spMkLst>
        </pc:spChg>
        <pc:picChg chg="add mod">
          <ac:chgData name="Joel Teixeira Cunha" userId="195451ac3a5e8dfd" providerId="LiveId" clId="{9D99295D-09A0-459E-AFDA-61FAD528DEBC}" dt="2026-05-20T00:11:17.631" v="1726" actId="1076"/>
          <ac:picMkLst>
            <pc:docMk/>
            <pc:sldMk cId="4066461457" sldId="296"/>
            <ac:picMk id="5" creationId="{99DBD094-3E09-E431-8738-925F31396DFA}"/>
          </ac:picMkLst>
        </pc:picChg>
      </pc:sldChg>
      <pc:sldChg chg="addSp modSp new mod">
        <pc:chgData name="Joel Teixeira Cunha" userId="195451ac3a5e8dfd" providerId="LiveId" clId="{9D99295D-09A0-459E-AFDA-61FAD528DEBC}" dt="2026-05-20T00:24:32.639" v="2491" actId="1076"/>
        <pc:sldMkLst>
          <pc:docMk/>
          <pc:sldMk cId="686788975" sldId="297"/>
        </pc:sldMkLst>
        <pc:spChg chg="mod">
          <ac:chgData name="Joel Teixeira Cunha" userId="195451ac3a5e8dfd" providerId="LiveId" clId="{9D99295D-09A0-459E-AFDA-61FAD528DEBC}" dt="2026-05-20T00:15:30.607" v="2054" actId="20577"/>
          <ac:spMkLst>
            <pc:docMk/>
            <pc:sldMk cId="686788975" sldId="297"/>
            <ac:spMk id="2" creationId="{10026B57-3FDA-8018-B938-9FCFE14269E0}"/>
          </ac:spMkLst>
        </pc:spChg>
        <pc:spChg chg="mod">
          <ac:chgData name="Joel Teixeira Cunha" userId="195451ac3a5e8dfd" providerId="LiveId" clId="{9D99295D-09A0-459E-AFDA-61FAD528DEBC}" dt="2026-05-20T00:24:20.494" v="2490" actId="14100"/>
          <ac:spMkLst>
            <pc:docMk/>
            <pc:sldMk cId="686788975" sldId="297"/>
            <ac:spMk id="3" creationId="{B12B03D7-AD6D-38F8-2783-E2DFCB32EB20}"/>
          </ac:spMkLst>
        </pc:spChg>
        <pc:picChg chg="add mod">
          <ac:chgData name="Joel Teixeira Cunha" userId="195451ac3a5e8dfd" providerId="LiveId" clId="{9D99295D-09A0-459E-AFDA-61FAD528DEBC}" dt="2026-05-20T00:24:32.639" v="2491" actId="1076"/>
          <ac:picMkLst>
            <pc:docMk/>
            <pc:sldMk cId="686788975" sldId="297"/>
            <ac:picMk id="1026" creationId="{D33A01CD-B865-5F9A-3649-D227B2530138}"/>
          </ac:picMkLst>
        </pc:picChg>
      </pc:sldChg>
      <pc:sldChg chg="addSp delSp modSp new mod">
        <pc:chgData name="Joel Teixeira Cunha" userId="195451ac3a5e8dfd" providerId="LiveId" clId="{9D99295D-09A0-459E-AFDA-61FAD528DEBC}" dt="2026-05-20T00:21:51.129" v="2484" actId="1076"/>
        <pc:sldMkLst>
          <pc:docMk/>
          <pc:sldMk cId="2555171411" sldId="298"/>
        </pc:sldMkLst>
        <pc:spChg chg="mod">
          <ac:chgData name="Joel Teixeira Cunha" userId="195451ac3a5e8dfd" providerId="LiveId" clId="{9D99295D-09A0-459E-AFDA-61FAD528DEBC}" dt="2026-05-20T00:21:13.447" v="2480" actId="20577"/>
          <ac:spMkLst>
            <pc:docMk/>
            <pc:sldMk cId="2555171411" sldId="298"/>
            <ac:spMk id="2" creationId="{8EAC57A4-583D-6ABF-6570-2509B3FA99F1}"/>
          </ac:spMkLst>
        </pc:spChg>
        <pc:spChg chg="del">
          <ac:chgData name="Joel Teixeira Cunha" userId="195451ac3a5e8dfd" providerId="LiveId" clId="{9D99295D-09A0-459E-AFDA-61FAD528DEBC}" dt="2026-05-20T00:21:43.207" v="2481" actId="478"/>
          <ac:spMkLst>
            <pc:docMk/>
            <pc:sldMk cId="2555171411" sldId="298"/>
            <ac:spMk id="3" creationId="{526832C5-D382-5475-53FA-C2C9FB7E9D4B}"/>
          </ac:spMkLst>
        </pc:spChg>
        <pc:picChg chg="add mod">
          <ac:chgData name="Joel Teixeira Cunha" userId="195451ac3a5e8dfd" providerId="LiveId" clId="{9D99295D-09A0-459E-AFDA-61FAD528DEBC}" dt="2026-05-20T00:21:51.129" v="2484" actId="1076"/>
          <ac:picMkLst>
            <pc:docMk/>
            <pc:sldMk cId="2555171411" sldId="298"/>
            <ac:picMk id="5" creationId="{8F73ABFA-E65C-04C7-6F94-A69BA969B5A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17C7B7-34F5-4531-9889-28687F60FAC8}" type="datetime1">
              <a:rPr lang="pt-BR" smtClean="0"/>
              <a:t>19/05/2026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3EC75-555C-481D-9088-738CE6DDFC83}" type="datetime1">
              <a:rPr lang="pt-BR" smtClean="0"/>
              <a:pPr/>
              <a:t>19/05/2026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AF5B136-74F1-42D3-987D-A097EEF8F2FE}" type="datetime1">
              <a:rPr lang="pt-BR" noProof="0" smtClean="0"/>
              <a:t>19/05/2026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4AF3F4-81C7-4F15-8991-6D0E8D06651A}" type="datetime1">
              <a:rPr lang="pt-BR" noProof="0" smtClean="0"/>
              <a:t>19/05/2026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E2946E4-8964-43BF-B1D5-4261B83248E5}" type="datetime1">
              <a:rPr lang="pt-BR" noProof="0" smtClean="0"/>
              <a:t>19/05/2026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C9F420-083C-437A-9265-7F13EB97C6A2}" type="datetime1">
              <a:rPr lang="pt-BR" noProof="0" smtClean="0"/>
              <a:t>19/05/2026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07AF20-ED70-4B21-B799-75BB5818AB43}" type="datetime1">
              <a:rPr lang="pt-BR" noProof="0" smtClean="0"/>
              <a:t>19/05/2026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33D876-8C34-42FC-BFF7-457557B97BB7}" type="datetime1">
              <a:rPr lang="pt-BR" noProof="0" smtClean="0"/>
              <a:t>19/05/2026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Retâ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92437E-206F-4A1C-947F-806A50A40B88}" type="datetime1">
              <a:rPr lang="pt-BR" noProof="0" smtClean="0"/>
              <a:t>19/05/2026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036DDBC-F1EF-4D09-A533-5995BC167053}" type="datetime1">
              <a:rPr lang="pt-BR" noProof="0" smtClean="0"/>
              <a:t>19/05/2026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FDDC01-A1CF-4C3A-BE96-FBC60101324D}" type="datetime1">
              <a:rPr lang="pt-BR" noProof="0" smtClean="0"/>
              <a:t>19/05/2026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29B074-15EB-43FB-8347-3A734D799093}" type="datetime1">
              <a:rPr lang="pt-BR" noProof="0" smtClean="0"/>
              <a:t>19/05/2026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36303E3-8DE9-4C2D-91EE-6F377AE582A8}" type="datetime1">
              <a:rPr lang="pt-BR" noProof="0" smtClean="0"/>
              <a:t>19/05/2026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52266794-2CD5-4ED3-94F8-8B8DC65FDDE3}" type="datetime1">
              <a:rPr lang="pt-BR" noProof="0" smtClean="0"/>
              <a:t>19/05/2026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tâ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tâ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â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m 6" descr="Conexões Digitai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tâ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pt-BR" sz="6000" dirty="0">
                <a:solidFill>
                  <a:schemeClr val="bg1"/>
                </a:solidFill>
              </a:rPr>
              <a:t>REDES DE COMPUTADORES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endParaRPr lang="pt-BR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ACD7F-0D50-3FF3-A15D-E71C81870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avanço da comunicação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CCA2B12-0B26-A947-E751-F782F5BE7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308559"/>
            <a:ext cx="1106805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75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620E7-5BAC-CDE7-C13E-FF14FABE3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REDES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E062BC-B745-85DD-C631-2AFFE9455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663" y="2180496"/>
            <a:ext cx="10215144" cy="3678303"/>
          </a:xfrm>
        </p:spPr>
        <p:txBody>
          <a:bodyPr>
            <a:normAutofit/>
          </a:bodyPr>
          <a:lstStyle/>
          <a:p>
            <a:r>
              <a:rPr lang="pt-BR" sz="2400" dirty="0"/>
              <a:t>Uma rede de computadores é a forma de conectarmos equipamentos a fim de que possamos estabelecer uma comunicação entre os mesmos fazendo com que eles troquem dados, informações e serviços. </a:t>
            </a:r>
          </a:p>
        </p:txBody>
      </p:sp>
    </p:spTree>
    <p:extLst>
      <p:ext uri="{BB962C8B-B14F-4D97-AF65-F5344CB8AC3E}">
        <p14:creationId xmlns:p14="http://schemas.microsoft.com/office/powerpoint/2010/main" val="2869987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0DD28-17D0-3AF8-DFDC-ABCEB511F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2FF03-3523-D6EF-B33B-18B2652FB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REDES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BAFA4B-6303-BCD8-22DB-7A17F6C79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663" y="2180496"/>
            <a:ext cx="10215144" cy="3678303"/>
          </a:xfrm>
        </p:spPr>
        <p:txBody>
          <a:bodyPr>
            <a:normAutofit/>
          </a:bodyPr>
          <a:lstStyle/>
          <a:p>
            <a:r>
              <a:rPr lang="pt-BR" dirty="0"/>
              <a:t>As redes de computadores, apesar do nome, envolvem muito mais que apenas computadores, mas abrangem uma gama de dispositivos e equipamentos</a:t>
            </a:r>
            <a:r>
              <a:rPr lang="pt-BR" sz="2400" dirty="0"/>
              <a:t> </a:t>
            </a:r>
            <a:r>
              <a:rPr lang="pt-BR" dirty="0"/>
              <a:t>como celulares, tablets, impressoras, TVs, carros, videogames e até eletrodomésticos.</a:t>
            </a:r>
            <a:r>
              <a:rPr lang="pt-BR" sz="2400" dirty="0"/>
              <a:t> </a:t>
            </a:r>
            <a:br>
              <a:rPr lang="pt-BR" sz="2400" dirty="0"/>
            </a:b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26247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8C740-AB91-8085-9D44-34376A76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85194-B9C6-7A57-5D9E-46F7B36C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 que podem ser transmitidos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6CCFED-089D-6B1D-833A-6AA35E4C3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663" y="2180496"/>
            <a:ext cx="10215144" cy="3678303"/>
          </a:xfrm>
        </p:spPr>
        <p:txBody>
          <a:bodyPr>
            <a:normAutofit/>
          </a:bodyPr>
          <a:lstStyle/>
          <a:p>
            <a:r>
              <a:rPr lang="pt-BR" dirty="0"/>
              <a:t>os computadores processam informações calculando bits que podem ser convertidos em impulsos elétricos, portanto </a:t>
            </a:r>
            <a:r>
              <a:rPr lang="pt-BR" b="1" dirty="0"/>
              <a:t>toda informação que pode ser processada em bits, pode ser transmitida em uma rede</a:t>
            </a:r>
            <a:r>
              <a:rPr lang="pt-BR" dirty="0"/>
              <a:t>. </a:t>
            </a:r>
          </a:p>
          <a:p>
            <a:r>
              <a:rPr lang="pt-BR" dirty="0"/>
              <a:t>Sendo assim, o que não pode?</a:t>
            </a:r>
            <a:br>
              <a:rPr lang="pt-BR" dirty="0"/>
            </a:b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5981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2F1FA-A26A-E35B-5405-D39548BE0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ponto a ponto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6D22D0-BA47-36F9-02F2-D6C5E1ECA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computadores são ligados entre si para a troca de informações, porém a maioria dos recursos não pode ser compartilhada fazendo com que cada </a:t>
            </a:r>
            <a:r>
              <a:rPr lang="pt-BR" b="1" dirty="0"/>
              <a:t>host </a:t>
            </a:r>
            <a:r>
              <a:rPr lang="pt-BR" dirty="0"/>
              <a:t>deva possuir os próprios recursos e aplicações como um programa, </a:t>
            </a:r>
            <a:br>
              <a:rPr lang="pt-BR" dirty="0"/>
            </a:br>
            <a:endParaRPr lang="pt-BR" dirty="0"/>
          </a:p>
        </p:txBody>
      </p:sp>
      <p:pic>
        <p:nvPicPr>
          <p:cNvPr id="1026" name="Picture 2" descr="Topologia Ponto a Ponto: conheça esse formato de rede!">
            <a:extLst>
              <a:ext uri="{FF2B5EF4-FFF2-40B4-BE49-F238E27FC236}">
                <a16:creationId xmlns:a16="http://schemas.microsoft.com/office/drawing/2014/main" id="{C7E03C99-7F35-117C-1F50-578D554A1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49" y="1715956"/>
            <a:ext cx="674370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197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828DB-A4F3-44BA-99FC-7C9EB3C9E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9282A-A532-3542-098B-13326209B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cliente-servidor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9BB947-1328-83BD-E784-5E7332CE8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segundo tipo é a arquitetura </a:t>
            </a:r>
            <a:r>
              <a:rPr lang="pt-BR" b="1" dirty="0"/>
              <a:t>cliente-servidor</a:t>
            </a:r>
            <a:r>
              <a:rPr lang="pt-BR" dirty="0"/>
              <a:t>, onde todos os hosts, chamados de clientes, se comunicam com uma máquina principal, chamada de servidor </a:t>
            </a:r>
          </a:p>
          <a:p>
            <a:r>
              <a:rPr lang="pt-BR" dirty="0"/>
              <a:t>O servidor provê todas as aplicações e serviços e consegue gerenciar o acesso aos recursos da rede como impressoras, por exemplo </a:t>
            </a:r>
          </a:p>
          <a:p>
            <a:r>
              <a:rPr lang="pt-BR" dirty="0"/>
              <a:t>Normalmente um servidor é uma máquina mais robusta que as máquinas clientes, pois ela armazena e processa um grande número de informações, além de precisar estar sempre ligada para que haja tráfego de informações na rede. 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2050" name="Picture 2" descr="Redes P2P">
            <a:extLst>
              <a:ext uri="{FF2B5EF4-FFF2-40B4-BE49-F238E27FC236}">
                <a16:creationId xmlns:a16="http://schemas.microsoft.com/office/drawing/2014/main" id="{EF27CDDB-18A0-7706-3EDC-AA1823394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186" y="4463214"/>
            <a:ext cx="42291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619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E48CE-A53C-8C87-7419-77346FE8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FB97EE-B2B3-4016-F8D9-819E1E4B0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 a transmissão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F21ECF-D718-C711-ECD6-F2073E4D5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434126" cy="1611575"/>
          </a:xfrm>
        </p:spPr>
        <p:txBody>
          <a:bodyPr>
            <a:normAutofit/>
          </a:bodyPr>
          <a:lstStyle/>
          <a:p>
            <a:r>
              <a:rPr lang="pt-BR" sz="2400" dirty="0"/>
              <a:t>Como funciona a transmissão entre os seres humanos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8992747-FC32-5748-688C-9F53470AD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579" y="1936377"/>
            <a:ext cx="5191716" cy="452717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EC9990F-6C41-7246-A884-EF5884F9D663}"/>
              </a:ext>
            </a:extLst>
          </p:cNvPr>
          <p:cNvSpPr txBox="1"/>
          <p:nvPr/>
        </p:nvSpPr>
        <p:spPr>
          <a:xfrm>
            <a:off x="581192" y="4036190"/>
            <a:ext cx="54341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80000"/>
              <a:buFont typeface="Wingdings" panose="05000000000000000000" pitchFamily="2" charset="2"/>
              <a:buChar char="q"/>
            </a:pPr>
            <a:r>
              <a:rPr lang="pt-BR" sz="2400" dirty="0"/>
              <a:t>Em redes de computadores sempre existe um transmissor, um receptor e uma informação a ser enviada. </a:t>
            </a:r>
          </a:p>
        </p:txBody>
      </p:sp>
    </p:spTree>
    <p:extLst>
      <p:ext uri="{BB962C8B-B14F-4D97-AF65-F5344CB8AC3E}">
        <p14:creationId xmlns:p14="http://schemas.microsoft.com/office/powerpoint/2010/main" val="335374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A1DB4-EE2A-EC2E-2E95-A5932D3F4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B5223-E176-7C2E-EC4A-E0608C83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 a transmissão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11D719-80A5-1833-0910-8F0377479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000" b="1" dirty="0"/>
              <a:t>Transmissor: </a:t>
            </a:r>
            <a:r>
              <a:rPr lang="pt-BR" sz="2000" dirty="0"/>
              <a:t>é o dispositivo (computador, telefone, câmera) que envia a informação.</a:t>
            </a:r>
          </a:p>
          <a:p>
            <a:r>
              <a:rPr lang="pt-BR" sz="2000" b="1" dirty="0"/>
              <a:t>Receptor: </a:t>
            </a:r>
            <a:r>
              <a:rPr lang="pt-BR" sz="2000" dirty="0"/>
              <a:t>é o dispositivo a quem foi endereçada a informação. O receptor vai receber a mensagem enviada pelo transmissor.</a:t>
            </a:r>
          </a:p>
          <a:p>
            <a:r>
              <a:rPr lang="pt-BR" sz="2000" b="1" dirty="0"/>
              <a:t>Mensagem: </a:t>
            </a:r>
            <a:r>
              <a:rPr lang="pt-BR" sz="2000" dirty="0"/>
              <a:t>são os dados e as informações que precisam ser enviados.</a:t>
            </a:r>
          </a:p>
          <a:p>
            <a:r>
              <a:rPr lang="pt-BR" sz="2000" b="1" dirty="0"/>
              <a:t>Meio: </a:t>
            </a:r>
            <a:r>
              <a:rPr lang="pt-BR" sz="2000" dirty="0"/>
              <a:t>é o meio físico, ou seja, o caminho pelo qual a mensagem trafegará do transmissor até chegar ao receptor.</a:t>
            </a:r>
          </a:p>
          <a:p>
            <a:r>
              <a:rPr lang="pt-BR" sz="2000" b="1" dirty="0"/>
              <a:t>Protocolo: </a:t>
            </a:r>
            <a:r>
              <a:rPr lang="pt-BR" sz="2000" dirty="0"/>
              <a:t>controla o envio e recepção da mensagem e define alguns aspectos como formato da mensagem e ordem de chegada. Tanto o transmissor quanto o receptor devem estar seguindo o mesmo protocolo. </a:t>
            </a:r>
          </a:p>
        </p:txBody>
      </p:sp>
    </p:spTree>
    <p:extLst>
      <p:ext uri="{BB962C8B-B14F-4D97-AF65-F5344CB8AC3E}">
        <p14:creationId xmlns:p14="http://schemas.microsoft.com/office/powerpoint/2010/main" val="12269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3429E-FFA8-182A-3F7B-9EE304E30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3E99D-1E01-CF4A-C627-903DCA33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 a transmissão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45B306-FF83-DB1C-C092-4F0BCA4CC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2000" b="1" dirty="0"/>
              <a:t>Para que a comunicação de dados obtenha sucesso ela necessita de três atributos</a:t>
            </a:r>
          </a:p>
          <a:p>
            <a:r>
              <a:rPr lang="pt-BR" b="1" dirty="0"/>
              <a:t>Entrega: </a:t>
            </a:r>
            <a:r>
              <a:rPr lang="pt-BR" dirty="0"/>
              <a:t>os dados devem estar endereçados corretamente. Deve-se ter a certeza de que a informação será entregue ao destinatário correto.</a:t>
            </a:r>
          </a:p>
          <a:p>
            <a:r>
              <a:rPr lang="pt-BR" b="1" dirty="0"/>
              <a:t>Confiabilidade: </a:t>
            </a:r>
            <a:r>
              <a:rPr lang="pt-BR" dirty="0"/>
              <a:t>os dados devem chegar ao destino, e mais do que simplesmente chegar, os dados devem estar intactos, sem nenhum tipo de alteração e sem faltar nenhuma parte da informação.</a:t>
            </a:r>
          </a:p>
          <a:p>
            <a:r>
              <a:rPr lang="pt-BR" b="1" dirty="0"/>
              <a:t>Controle do Atraso: </a:t>
            </a:r>
            <a:r>
              <a:rPr lang="pt-BR" dirty="0"/>
              <a:t>o tempo que a informação possui para chegar ao destino não pode ser indeterminado. Deve haver um tempo limite para que o destinatário a receba, principalmente no caso de aplicações multimídia em tempo real como áudio e vídeo. Não seria interessante, por exemplo, ao receber um vídeo, ver primeiro as imagens e só depois ouvir o áudio.</a:t>
            </a:r>
            <a:r>
              <a:rPr lang="pt-BR" sz="2000" dirty="0"/>
              <a:t> </a:t>
            </a:r>
            <a:br>
              <a:rPr lang="pt-BR" sz="2000" dirty="0"/>
            </a:b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609481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29080-15A5-78DE-5619-89E52F30B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670FF-C69D-2371-87CE-33D8E943F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Modos de operação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6B85F8-AEB9-8532-B81D-999083092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b="1" dirty="0"/>
              <a:t>Simplex: </a:t>
            </a:r>
            <a:r>
              <a:rPr lang="pt-BR" sz="2400" dirty="0"/>
              <a:t>a transmissão é unidirecional. Só existe um transmissor e um canal de transmissão. Quaisquer outros componentes que apareçam na comunicação serão receptores. Exemplos: televisão e radiodifusão.</a:t>
            </a:r>
          </a:p>
          <a:p>
            <a:r>
              <a:rPr lang="pt-BR" sz="2400" b="1" dirty="0"/>
              <a:t>Half-duplex: </a:t>
            </a:r>
            <a:r>
              <a:rPr lang="pt-BR" sz="2400" dirty="0"/>
              <a:t>a transmissão é bidirecional, ou seja, as duas partes transmitem e também são receptoras, mas, assim como no modo simplex, existe somente um canal de transmissão, portanto só é possível transmitir um por vez. Exemplo: walkie-talkie.</a:t>
            </a:r>
          </a:p>
          <a:p>
            <a:r>
              <a:rPr lang="pt-BR" sz="2400" b="1" dirty="0"/>
              <a:t>Full-duplex: </a:t>
            </a:r>
            <a:r>
              <a:rPr lang="pt-BR" sz="2400" dirty="0"/>
              <a:t>é o modo de transmissão mais completo, já que ambas as partes podem transmitir e receber dados simultaneamente, pois existem dois canais de transmissão. Exemplo: telefone. </a:t>
            </a:r>
          </a:p>
        </p:txBody>
      </p:sp>
    </p:spTree>
    <p:extLst>
      <p:ext uri="{BB962C8B-B14F-4D97-AF65-F5344CB8AC3E}">
        <p14:creationId xmlns:p14="http://schemas.microsoft.com/office/powerpoint/2010/main" val="2006834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A0C3E-4012-C967-CCAB-AF6EFF564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A29C8-B7B2-DB39-51EA-5229D8E2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Modos de operação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FB124E8-0AAE-AF72-A744-CF6BF42E4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27" y="1917282"/>
            <a:ext cx="5380874" cy="47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55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9ECCE-D18A-7706-6D2B-D844CB256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61192-9C28-7857-952B-8780A4894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Meios de comunicação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D6F452-20F0-C371-95BD-FA21E653C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715956"/>
            <a:ext cx="11029615" cy="4909433"/>
          </a:xfrm>
        </p:spPr>
        <p:txBody>
          <a:bodyPr>
            <a:noAutofit/>
          </a:bodyPr>
          <a:lstStyle/>
          <a:p>
            <a:r>
              <a:rPr lang="pt-BR" sz="2400" dirty="0"/>
              <a:t>Para que a transmissão aconteça é necessário que exista um meio de os dados saírem de um host e chegarem a outro, ou seja, uma forma de propagação </a:t>
            </a:r>
          </a:p>
          <a:p>
            <a:r>
              <a:rPr lang="pt-BR" sz="2400" dirty="0"/>
              <a:t>Cabos elétricos</a:t>
            </a:r>
          </a:p>
          <a:p>
            <a:pPr lvl="1"/>
            <a:r>
              <a:rPr lang="pt-BR" sz="1800" dirty="0"/>
              <a:t>As placas de rede com fio são responsáveis por converter dados em bits e bits em impulsos elétricos que podem trafegar por um cabo de energia </a:t>
            </a:r>
          </a:p>
          <a:p>
            <a:r>
              <a:rPr lang="pt-BR" sz="2400" dirty="0"/>
              <a:t>Fibras ópticas</a:t>
            </a:r>
          </a:p>
          <a:p>
            <a:pPr lvl="1"/>
            <a:r>
              <a:rPr lang="pt-BR" sz="1800" dirty="0"/>
              <a:t>A transmissão feita por raios luminosos é bem mais eficaz que a feita pela eletricidade, pois o sinal se propaga mais rápido e não sofre com interferências eletromagnéticas</a:t>
            </a:r>
            <a:r>
              <a:rPr lang="pt-BR" dirty="0"/>
              <a:t>. </a:t>
            </a:r>
            <a:endParaRPr lang="pt-BR" sz="2400" dirty="0"/>
          </a:p>
          <a:p>
            <a:r>
              <a:rPr lang="pt-BR" sz="2400" dirty="0"/>
              <a:t>Radiofrequência</a:t>
            </a:r>
          </a:p>
          <a:p>
            <a:pPr lvl="1"/>
            <a:r>
              <a:rPr lang="pt-BR" sz="1800" dirty="0"/>
              <a:t>Pelo ar podemos transmitir </a:t>
            </a:r>
            <a:r>
              <a:rPr lang="pt-BR" sz="1800" b="1" dirty="0"/>
              <a:t>ondas de </a:t>
            </a:r>
            <a:r>
              <a:rPr lang="pt-BR" sz="1800" b="1" dirty="0" err="1"/>
              <a:t>radiofreqüência</a:t>
            </a:r>
            <a:r>
              <a:rPr lang="pt-BR" sz="1800" b="1" dirty="0"/>
              <a:t> </a:t>
            </a:r>
            <a:r>
              <a:rPr lang="pt-BR" sz="1800" dirty="0"/>
              <a:t>através de antenas e efetuar a comunicação entre elementos previamente configurados para este fim. 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437316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93235C-D9EE-0D34-2D61-0ECF99E86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Cabos de par trançado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FC5444-76C3-C370-E72B-9B64EBA11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Meio de transmissão mais comumente encontrado no nosso dia a dia</a:t>
            </a:r>
          </a:p>
          <a:p>
            <a:r>
              <a:rPr lang="pt-BR" sz="2400" dirty="0"/>
              <a:t>São compostos por fio de cobre que transmitem através de impulsos elétricos</a:t>
            </a:r>
          </a:p>
          <a:p>
            <a:r>
              <a:rPr lang="pt-BR" sz="2400" dirty="0"/>
              <a:t>São enrolados dois a dois e também interlaçados entre si para evitar interferência elétrica</a:t>
            </a:r>
          </a:p>
        </p:txBody>
      </p:sp>
    </p:spTree>
    <p:extLst>
      <p:ext uri="{BB962C8B-B14F-4D97-AF65-F5344CB8AC3E}">
        <p14:creationId xmlns:p14="http://schemas.microsoft.com/office/powerpoint/2010/main" val="143599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16815-C17C-109E-2C8E-FC5668BE8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BADF0-3926-67D0-9C7A-A0CF4D3CC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Cabos de par trançado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D111D7-677D-2301-06BC-FCC11373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Tipos de cabos</a:t>
            </a:r>
          </a:p>
          <a:p>
            <a:r>
              <a:rPr lang="pt-BR" dirty="0"/>
              <a:t>UTP (</a:t>
            </a:r>
            <a:r>
              <a:rPr lang="pt-BR" dirty="0" err="1"/>
              <a:t>Unshielded</a:t>
            </a:r>
            <a:r>
              <a:rPr lang="pt-BR" dirty="0"/>
              <a:t> </a:t>
            </a:r>
            <a:r>
              <a:rPr lang="pt-BR" dirty="0" err="1"/>
              <a:t>Twisted</a:t>
            </a:r>
            <a:r>
              <a:rPr lang="pt-BR" dirty="0"/>
              <a:t> </a:t>
            </a:r>
            <a:r>
              <a:rPr lang="pt-BR" dirty="0" err="1"/>
              <a:t>Pair</a:t>
            </a:r>
            <a:r>
              <a:rPr lang="pt-BR" dirty="0"/>
              <a:t>) – não possuem blindagem. São protegidos apenas por uma capa de plástico</a:t>
            </a:r>
          </a:p>
          <a:p>
            <a:pPr lvl="2"/>
            <a:r>
              <a:rPr lang="pt-BR" dirty="0"/>
              <a:t>Taxas de transmissão de 10Mbps a 10Gbps</a:t>
            </a:r>
          </a:p>
          <a:p>
            <a:r>
              <a:rPr lang="pt-BR" dirty="0"/>
              <a:t>FTP (</a:t>
            </a:r>
            <a:r>
              <a:rPr lang="pt-BR" dirty="0" err="1"/>
              <a:t>Foiled</a:t>
            </a:r>
            <a:r>
              <a:rPr lang="pt-BR" dirty="0"/>
              <a:t> </a:t>
            </a:r>
            <a:r>
              <a:rPr lang="pt-BR" dirty="0" err="1"/>
              <a:t>Twisted</a:t>
            </a:r>
            <a:r>
              <a:rPr lang="pt-BR" dirty="0"/>
              <a:t> </a:t>
            </a:r>
            <a:r>
              <a:rPr lang="pt-BR" dirty="0" err="1"/>
              <a:t>Pair</a:t>
            </a:r>
            <a:r>
              <a:rPr lang="pt-BR" dirty="0"/>
              <a:t>) – Possuem blindagem feita com uma folha de alumínio</a:t>
            </a:r>
          </a:p>
          <a:p>
            <a:r>
              <a:rPr lang="pt-BR" dirty="0"/>
              <a:t>STP (</a:t>
            </a:r>
            <a:r>
              <a:rPr lang="pt-BR" dirty="0" err="1"/>
              <a:t>Shielded</a:t>
            </a:r>
            <a:r>
              <a:rPr lang="pt-BR" dirty="0"/>
              <a:t> </a:t>
            </a:r>
            <a:r>
              <a:rPr lang="pt-BR" dirty="0" err="1"/>
              <a:t>Twisted</a:t>
            </a:r>
            <a:r>
              <a:rPr lang="pt-BR" dirty="0"/>
              <a:t> </a:t>
            </a:r>
            <a:r>
              <a:rPr lang="pt-BR" dirty="0" err="1"/>
              <a:t>Pair</a:t>
            </a:r>
            <a:r>
              <a:rPr lang="pt-BR" dirty="0"/>
              <a:t>) – Blindagem é feita a cada par de cabos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77224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3A0A-C59A-ED7C-8556-AA7C50E54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55C4F-567A-F9EC-0A0B-45DE3F48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Cabos de par trançado</a:t>
            </a:r>
          </a:p>
        </p:txBody>
      </p:sp>
      <p:pic>
        <p:nvPicPr>
          <p:cNvPr id="1026" name="Picture 2" descr="Cabos de Rede e suas Blindagens!">
            <a:extLst>
              <a:ext uri="{FF2B5EF4-FFF2-40B4-BE49-F238E27FC236}">
                <a16:creationId xmlns:a16="http://schemas.microsoft.com/office/drawing/2014/main" id="{E3C4DB27-DFA1-D957-BD90-84D6B8750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892" y="1910346"/>
            <a:ext cx="6940216" cy="462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359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8BA891-7786-BA8A-BA29-2334CC125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Cabos coaxiais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21A812-59A2-1169-1303-C9FC35C40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097713" cy="3678303"/>
          </a:xfrm>
        </p:spPr>
        <p:txBody>
          <a:bodyPr/>
          <a:lstStyle/>
          <a:p>
            <a:r>
              <a:rPr lang="pt-BR" dirty="0"/>
              <a:t>Antecessor do cabo de par trançado</a:t>
            </a:r>
          </a:p>
          <a:p>
            <a:r>
              <a:rPr lang="pt-BR" dirty="0"/>
              <a:t>Mais utilizados para transmissão de sinal de TV a cabo</a:t>
            </a:r>
          </a:p>
          <a:p>
            <a:r>
              <a:rPr lang="pt-BR" dirty="0"/>
              <a:t>Possui dois condutores e uma blindagem entre os condutores</a:t>
            </a:r>
          </a:p>
          <a:p>
            <a:r>
              <a:rPr lang="pt-BR" dirty="0"/>
              <a:t>São classificados pela resistência à passagem de corrente elétrica</a:t>
            </a:r>
          </a:p>
          <a:p>
            <a:pPr lvl="1"/>
            <a:r>
              <a:rPr lang="pt-BR" dirty="0"/>
              <a:t>75 ohms para TV e 50 ohms para telefonia celular</a:t>
            </a:r>
          </a:p>
        </p:txBody>
      </p:sp>
      <p:pic>
        <p:nvPicPr>
          <p:cNvPr id="2050" name="Picture 2" descr="O que é cabo coaxial?">
            <a:extLst>
              <a:ext uri="{FF2B5EF4-FFF2-40B4-BE49-F238E27FC236}">
                <a16:creationId xmlns:a16="http://schemas.microsoft.com/office/drawing/2014/main" id="{32111E51-0AFE-AF3D-6595-9C8D52F79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284" y="1964578"/>
            <a:ext cx="6096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065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E8A5B-F9C1-6ED7-3479-DF3B15232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Fibra óptica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20B459-0465-63A7-0088-F78FDD703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Fio fino e flexível de vidro feito de sílica</a:t>
            </a:r>
          </a:p>
          <a:p>
            <a:r>
              <a:rPr lang="pt-BR" sz="2400" dirty="0"/>
              <a:t>Transmite dados a partir de feixes de luz</a:t>
            </a:r>
          </a:p>
          <a:p>
            <a:r>
              <a:rPr lang="pt-BR" sz="2400" dirty="0"/>
              <a:t>A transmissão de dados pode chegar a 16Tbps</a:t>
            </a:r>
          </a:p>
          <a:p>
            <a:r>
              <a:rPr lang="pt-BR" sz="2400" dirty="0"/>
              <a:t>Usada em redes de longa distância e de alta velocidade</a:t>
            </a:r>
          </a:p>
          <a:p>
            <a:r>
              <a:rPr lang="pt-BR" sz="2400" dirty="0"/>
              <a:t>Não sofrem interferências eletromagnéticas</a:t>
            </a:r>
          </a:p>
        </p:txBody>
      </p:sp>
    </p:spTree>
    <p:extLst>
      <p:ext uri="{BB962C8B-B14F-4D97-AF65-F5344CB8AC3E}">
        <p14:creationId xmlns:p14="http://schemas.microsoft.com/office/powerpoint/2010/main" val="2020562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ABB81-F1ED-F286-9CFF-7985EE026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9DB85-F6FE-A66B-3E79-FDE411DAA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Fibra óptica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AC2839-D8AD-61B5-04BA-677B20863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Existem dois tipos de fibras ópticas:</a:t>
            </a:r>
          </a:p>
          <a:p>
            <a:pPr lvl="1"/>
            <a:r>
              <a:rPr lang="pt-BR" sz="2200" dirty="0" err="1"/>
              <a:t>Monomodo</a:t>
            </a:r>
            <a:r>
              <a:rPr lang="pt-BR" sz="2200" dirty="0"/>
              <a:t>: o núcleo da fibra é tão fino que permite que a luz se propague em um único feixe. Pode propagar-se a até 80km de distância</a:t>
            </a:r>
          </a:p>
          <a:p>
            <a:pPr lvl="1"/>
            <a:r>
              <a:rPr lang="pt-BR" sz="2200" dirty="0"/>
              <a:t>Multimodo: o núcleo da fibra é mais espesso, sendo mais barata a sua fabricação. Alcança no máximo 550m</a:t>
            </a:r>
          </a:p>
        </p:txBody>
      </p:sp>
    </p:spTree>
    <p:extLst>
      <p:ext uri="{BB962C8B-B14F-4D97-AF65-F5344CB8AC3E}">
        <p14:creationId xmlns:p14="http://schemas.microsoft.com/office/powerpoint/2010/main" val="4203803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AB1AA-37B5-2A9E-E317-C8761576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cabos de fibra óptica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28D3F7-4DCC-B08F-740F-6A907E30C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MONOMODO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272D15C-DB1C-59FE-2329-CBB8D5017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MULTIMODO</a:t>
            </a:r>
          </a:p>
        </p:txBody>
      </p:sp>
      <p:pic>
        <p:nvPicPr>
          <p:cNvPr id="4098" name="Picture 2" descr="Cabo Óptico Monomodo 12FO EO COG">
            <a:extLst>
              <a:ext uri="{FF2B5EF4-FFF2-40B4-BE49-F238E27FC236}">
                <a16:creationId xmlns:a16="http://schemas.microsoft.com/office/drawing/2014/main" id="{EF82BFF4-ABED-117C-88A4-976A9DDD3F5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2925763"/>
            <a:ext cx="2935287" cy="293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CFOA-MM50-DDR-G-6FO Prysmian cabo óptico multimodo 50/125 6 fibras">
            <a:extLst>
              <a:ext uri="{FF2B5EF4-FFF2-40B4-BE49-F238E27FC236}">
                <a16:creationId xmlns:a16="http://schemas.microsoft.com/office/drawing/2014/main" id="{E56A59B2-B090-EE40-8285-9BF8A4558EC6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963" y="2925763"/>
            <a:ext cx="2935287" cy="293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200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064AD-2703-6BC1-64E5-FB60A332D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Transmissão via rádio terrestre ou micro-ondas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75E4FE-C7A0-53D7-CD9B-97AFFD88E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utiliza fios e podem atingir grandes distâncias</a:t>
            </a:r>
          </a:p>
          <a:p>
            <a:r>
              <a:rPr lang="pt-BR" dirty="0"/>
              <a:t>Barreiras físicas ou sinais eletromagnéticos podem impedir sua propagação</a:t>
            </a:r>
          </a:p>
          <a:p>
            <a:r>
              <a:rPr lang="pt-BR" dirty="0"/>
              <a:t>Para propagação são instaladas torres que funcionam como estações repetidoras de micro-ondas</a:t>
            </a:r>
          </a:p>
          <a:p>
            <a:r>
              <a:rPr lang="pt-BR" dirty="0"/>
              <a:t>A propagação se dá em linha reta</a:t>
            </a:r>
          </a:p>
          <a:p>
            <a:r>
              <a:rPr lang="pt-BR" dirty="0"/>
              <a:t>Utilizado em telefonia celular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F60ABD-1E4C-1E99-5C68-F140188C59B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4243" y="4106780"/>
            <a:ext cx="6351657" cy="24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27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3CB9C-1F52-EB3A-497D-E9123CACA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20919-8362-815F-5ED9-C45474B2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Transmissão via satélite</a:t>
            </a:r>
          </a:p>
        </p:txBody>
      </p:sp>
      <p:pic>
        <p:nvPicPr>
          <p:cNvPr id="1026" name="Picture 2" descr="Artigo Como Funciona a TV por Satélite">
            <a:extLst>
              <a:ext uri="{FF2B5EF4-FFF2-40B4-BE49-F238E27FC236}">
                <a16:creationId xmlns:a16="http://schemas.microsoft.com/office/drawing/2014/main" id="{0D34D90C-CDAC-8250-DEC6-A92A7932C03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312" y="2319178"/>
            <a:ext cx="5195888" cy="389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1633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C765A-EDB1-7570-9627-8F58D8F50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DAS REDES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334B42-EA1C-E175-BF10-6999DDB79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 classificação de redes em categorias pode ser feita a partir de vários critérios:</a:t>
            </a:r>
          </a:p>
          <a:p>
            <a:pPr marL="666900" lvl="1" indent="-342900">
              <a:buFont typeface="+mj-lt"/>
              <a:buAutoNum type="alphaLcParenR"/>
            </a:pPr>
            <a:r>
              <a:rPr lang="pt-BR" dirty="0"/>
              <a:t>dimensão ou área geográfica ocupada;</a:t>
            </a:r>
          </a:p>
          <a:p>
            <a:pPr marL="666900" lvl="1" indent="-342900">
              <a:buFont typeface="+mj-lt"/>
              <a:buAutoNum type="alphaLcParenR"/>
            </a:pPr>
            <a:r>
              <a:rPr lang="pt-BR" dirty="0"/>
              <a:t>capacidade de transferência de dados;</a:t>
            </a:r>
          </a:p>
          <a:p>
            <a:pPr marL="666900" lvl="1" indent="-342900">
              <a:buFont typeface="+mj-lt"/>
              <a:buAutoNum type="alphaLcParenR"/>
            </a:pPr>
            <a:r>
              <a:rPr lang="pt-BR" dirty="0"/>
              <a:t>topologia (forma da rede);</a:t>
            </a:r>
          </a:p>
          <a:p>
            <a:pPr marL="666900" lvl="1" indent="-342900">
              <a:buFont typeface="+mj-lt"/>
              <a:buAutoNum type="alphaLcParenR"/>
            </a:pPr>
            <a:r>
              <a:rPr lang="pt-BR" dirty="0"/>
              <a:t>ambiente em que se insere (rede corporativa/rede industrial);</a:t>
            </a:r>
          </a:p>
          <a:p>
            <a:pPr marL="666900" lvl="1" indent="-342900">
              <a:buFont typeface="+mj-lt"/>
              <a:buAutoNum type="alphaLcParenR"/>
            </a:pPr>
            <a:r>
              <a:rPr lang="pt-BR" dirty="0"/>
              <a:t>meio físico de envio de dados (redes cabeadas e redes não cabeadas);</a:t>
            </a:r>
          </a:p>
          <a:p>
            <a:pPr marL="666900" lvl="1" indent="-342900">
              <a:buFont typeface="+mj-lt"/>
              <a:buAutoNum type="alphaLcParenR"/>
            </a:pPr>
            <a:r>
              <a:rPr lang="pt-BR" dirty="0"/>
              <a:t>tecnologia de transmissão (redes ethernet, redes ATM). </a:t>
            </a:r>
            <a:br>
              <a:rPr lang="pt-BR" dirty="0"/>
            </a:br>
            <a:endParaRPr lang="pt-BR" dirty="0"/>
          </a:p>
          <a:p>
            <a:r>
              <a:rPr lang="pt-BR" dirty="0"/>
              <a:t>É convencionada a classificação das redes em locais – </a:t>
            </a:r>
          </a:p>
          <a:p>
            <a:pPr lvl="1"/>
            <a:r>
              <a:rPr lang="pt-BR" dirty="0" err="1"/>
              <a:t>LANs</a:t>
            </a:r>
            <a:r>
              <a:rPr lang="pt-BR" dirty="0"/>
              <a:t> (</a:t>
            </a:r>
            <a:r>
              <a:rPr lang="pt-BR" i="1" dirty="0"/>
              <a:t>Local Area Networks</a:t>
            </a:r>
            <a:r>
              <a:rPr lang="pt-BR" dirty="0"/>
              <a:t>),</a:t>
            </a:r>
          </a:p>
          <a:p>
            <a:pPr lvl="1"/>
            <a:r>
              <a:rPr lang="pt-BR" dirty="0"/>
              <a:t>Metropolitanas – </a:t>
            </a:r>
            <a:r>
              <a:rPr lang="pt-BR" dirty="0" err="1"/>
              <a:t>MANs</a:t>
            </a:r>
            <a:r>
              <a:rPr lang="pt-BR" dirty="0"/>
              <a:t> (</a:t>
            </a:r>
            <a:r>
              <a:rPr lang="pt-BR" i="1" dirty="0"/>
              <a:t>Metropolitan Area Networks</a:t>
            </a:r>
            <a:r>
              <a:rPr lang="pt-BR" dirty="0"/>
              <a:t>) e </a:t>
            </a:r>
          </a:p>
          <a:p>
            <a:pPr lvl="1"/>
            <a:r>
              <a:rPr lang="pt-BR" dirty="0"/>
              <a:t>Geograficamente distribuídas – </a:t>
            </a:r>
            <a:r>
              <a:rPr lang="pt-BR" dirty="0" err="1"/>
              <a:t>WANs</a:t>
            </a:r>
            <a:r>
              <a:rPr lang="pt-BR" dirty="0"/>
              <a:t> (</a:t>
            </a:r>
            <a:r>
              <a:rPr lang="pt-BR" i="1" dirty="0" err="1"/>
              <a:t>Wide</a:t>
            </a:r>
            <a:r>
              <a:rPr lang="pt-BR" i="1" dirty="0"/>
              <a:t> Area Networks</a:t>
            </a:r>
            <a:r>
              <a:rPr lang="pt-BR" dirty="0"/>
              <a:t>). 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9726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9ABCC-F449-0078-9612-22BDEB52E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8D7E8-FBE3-9169-3A78-11C83A93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DAS REDES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F0B93E-99EC-7EC8-5C9A-7E1B53562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033224" cy="3678303"/>
          </a:xfrm>
        </p:spPr>
        <p:txBody>
          <a:bodyPr>
            <a:normAutofit lnSpcReduction="10000"/>
          </a:bodyPr>
          <a:lstStyle/>
          <a:p>
            <a:r>
              <a:rPr lang="pt-BR" dirty="0" err="1"/>
              <a:t>PANs</a:t>
            </a:r>
            <a:r>
              <a:rPr lang="pt-BR" dirty="0"/>
              <a:t> (</a:t>
            </a:r>
            <a:r>
              <a:rPr lang="pt-BR" i="1" dirty="0"/>
              <a:t>Personal Area Networks</a:t>
            </a:r>
            <a:r>
              <a:rPr lang="pt-BR" dirty="0"/>
              <a:t>),	</a:t>
            </a:r>
          </a:p>
          <a:p>
            <a:pPr lvl="1"/>
            <a:r>
              <a:rPr lang="pt-BR" dirty="0"/>
              <a:t>Curtíssima extensão geográfica: cobre apenas algumas dezenas de metros</a:t>
            </a:r>
          </a:p>
          <a:p>
            <a:pPr lvl="1"/>
            <a:r>
              <a:rPr lang="pt-BR" dirty="0"/>
              <a:t>Taxa de transferência relativamente baixa, em torno de 2Mbps</a:t>
            </a:r>
          </a:p>
          <a:p>
            <a:pPr lvl="1"/>
            <a:r>
              <a:rPr lang="pt-BR" dirty="0"/>
              <a:t>Tecnologia relativamente nova: riscos de segurança</a:t>
            </a:r>
          </a:p>
          <a:p>
            <a:pPr lvl="1"/>
            <a:r>
              <a:rPr lang="pt-BR" dirty="0"/>
              <a:t>Centraliza as operações em uma única pessoa: foco na comunicação de um único usuário e na comunicação de um dispositivo com outro</a:t>
            </a:r>
          </a:p>
          <a:p>
            <a:pPr lvl="1"/>
            <a:r>
              <a:rPr lang="pt-BR" dirty="0"/>
              <a:t>Bluetooth, infravermelho </a:t>
            </a:r>
            <a:r>
              <a:rPr lang="pt-BR" dirty="0" err="1"/>
              <a:t>etc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1026" name="Picture 2" descr="Tipos de redes: PAN, LAN, MAN, WAN – CONEXIÓN DE REDES">
            <a:extLst>
              <a:ext uri="{FF2B5EF4-FFF2-40B4-BE49-F238E27FC236}">
                <a16:creationId xmlns:a16="http://schemas.microsoft.com/office/drawing/2014/main" id="{1AB1874A-6B34-BD22-361A-D25E7051A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80496"/>
            <a:ext cx="5638800" cy="3740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036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FFA4-58EA-479C-C540-E1FEC104B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B59A8-D7DE-36FF-33AD-50E02258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DAS REDES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EED0AA-4AE6-C3FA-A1D8-86AAD4188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033224" cy="3678303"/>
          </a:xfrm>
        </p:spPr>
        <p:txBody>
          <a:bodyPr>
            <a:normAutofit fontScale="92500" lnSpcReduction="20000"/>
          </a:bodyPr>
          <a:lstStyle/>
          <a:p>
            <a:r>
              <a:rPr lang="pt-BR" dirty="0" err="1"/>
              <a:t>LANs</a:t>
            </a:r>
            <a:r>
              <a:rPr lang="pt-BR" dirty="0"/>
              <a:t> (</a:t>
            </a:r>
            <a:r>
              <a:rPr lang="pt-BR" i="1" dirty="0"/>
              <a:t>Local Area Networks</a:t>
            </a:r>
            <a:r>
              <a:rPr lang="pt-BR" dirty="0"/>
              <a:t>),	</a:t>
            </a:r>
          </a:p>
          <a:p>
            <a:r>
              <a:rPr lang="pt-BR" dirty="0"/>
              <a:t>baixo custo e simplicidade </a:t>
            </a:r>
          </a:p>
          <a:p>
            <a:r>
              <a:rPr lang="pt-BR" dirty="0"/>
              <a:t>estão limitadas a apenas alguns quilômetros de extensão, como um campus universitário, um edifício, uma casa etc. </a:t>
            </a:r>
          </a:p>
          <a:p>
            <a:r>
              <a:rPr lang="pt-BR" dirty="0"/>
              <a:t>o acesso a esse tipo de rede é feito através de computadores pessoais ou estações de trabalho. </a:t>
            </a:r>
            <a:br>
              <a:rPr lang="pt-BR" dirty="0"/>
            </a:br>
            <a:r>
              <a:rPr lang="pt-BR" dirty="0"/>
              <a:t>As duas tecnologias mais comuns são a transmissão através de cabos (coaxial, fibra óptica etc.) e a transmissão sem fio, também chamada de WLAN (</a:t>
            </a:r>
            <a:r>
              <a:rPr lang="pt-BR" i="1" dirty="0"/>
              <a:t>wireless </a:t>
            </a:r>
            <a:r>
              <a:rPr lang="pt-BR" dirty="0"/>
              <a:t>LAN) </a:t>
            </a:r>
          </a:p>
          <a:p>
            <a:r>
              <a:rPr lang="pt-BR" dirty="0"/>
              <a:t>A velocidade de transmissão de uma LAN varia de 10 Mbps até 10 Gbps, com baixíssimas taxas de erro ou atraso. </a:t>
            </a:r>
          </a:p>
        </p:txBody>
      </p:sp>
      <p:pic>
        <p:nvPicPr>
          <p:cNvPr id="2050" name="Picture 2" descr="What is local area network (LAN) in computer – IT Release">
            <a:extLst>
              <a:ext uri="{FF2B5EF4-FFF2-40B4-BE49-F238E27FC236}">
                <a16:creationId xmlns:a16="http://schemas.microsoft.com/office/drawing/2014/main" id="{2F1F8EB2-4E52-78E7-36FC-29C42498F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243" y="2014548"/>
            <a:ext cx="5444999" cy="39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293006D-909D-E42C-8639-6EA586CB28A0}"/>
              </a:ext>
            </a:extLst>
          </p:cNvPr>
          <p:cNvSpPr txBox="1"/>
          <p:nvPr/>
        </p:nvSpPr>
        <p:spPr>
          <a:xfrm>
            <a:off x="6096000" y="5894234"/>
            <a:ext cx="48237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solidFill>
                  <a:schemeClr val="bg1">
                    <a:lumMod val="75000"/>
                  </a:schemeClr>
                </a:solidFill>
              </a:rPr>
              <a:t>Fonte: https://itrelease.com/2021/04/what-is-local-area-network-lan-in-computer/</a:t>
            </a:r>
          </a:p>
        </p:txBody>
      </p:sp>
    </p:spTree>
    <p:extLst>
      <p:ext uri="{BB962C8B-B14F-4D97-AF65-F5344CB8AC3E}">
        <p14:creationId xmlns:p14="http://schemas.microsoft.com/office/powerpoint/2010/main" val="2093014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5CE68-D015-00E5-00DB-6B41EFA68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B62BB-8937-F45E-A49D-DA92788BE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DAS REDES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4E312-1DCB-B2CB-55BA-479E4C2DD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033224" cy="3678303"/>
          </a:xfrm>
        </p:spPr>
        <p:txBody>
          <a:bodyPr>
            <a:normAutofit/>
          </a:bodyPr>
          <a:lstStyle/>
          <a:p>
            <a:r>
              <a:rPr lang="pt-BR" dirty="0" err="1"/>
              <a:t>LANs</a:t>
            </a:r>
            <a:r>
              <a:rPr lang="pt-BR" dirty="0"/>
              <a:t> (</a:t>
            </a:r>
            <a:r>
              <a:rPr lang="pt-BR" i="1" dirty="0"/>
              <a:t>Local Area Networks</a:t>
            </a:r>
            <a:r>
              <a:rPr lang="pt-BR" dirty="0"/>
              <a:t>),	</a:t>
            </a:r>
          </a:p>
          <a:p>
            <a:r>
              <a:rPr lang="pt-BR" dirty="0"/>
              <a:t>Principais motivos de uso</a:t>
            </a:r>
          </a:p>
          <a:p>
            <a:pPr lvl="1"/>
            <a:r>
              <a:rPr lang="pt-BR" dirty="0"/>
              <a:t>Mobilidade para o usuário: </a:t>
            </a:r>
          </a:p>
          <a:p>
            <a:pPr lvl="1"/>
            <a:r>
              <a:rPr lang="pt-BR" dirty="0"/>
              <a:t>Instalação facilitada e de custo reduzido:</a:t>
            </a:r>
          </a:p>
          <a:p>
            <a:pPr lvl="1"/>
            <a:r>
              <a:rPr lang="pt-BR" dirty="0"/>
              <a:t>Dispositivos compatíveis </a:t>
            </a:r>
          </a:p>
        </p:txBody>
      </p:sp>
      <p:pic>
        <p:nvPicPr>
          <p:cNvPr id="2050" name="Picture 2" descr="What is local area network (LAN) in computer – IT Release">
            <a:extLst>
              <a:ext uri="{FF2B5EF4-FFF2-40B4-BE49-F238E27FC236}">
                <a16:creationId xmlns:a16="http://schemas.microsoft.com/office/drawing/2014/main" id="{31AAABB4-27AA-6C65-BE34-0AC196A1D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243" y="2014548"/>
            <a:ext cx="5444999" cy="39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47617A7-39B0-B7B1-AE66-F8AD1674B579}"/>
              </a:ext>
            </a:extLst>
          </p:cNvPr>
          <p:cNvSpPr txBox="1"/>
          <p:nvPr/>
        </p:nvSpPr>
        <p:spPr>
          <a:xfrm>
            <a:off x="6096000" y="5894234"/>
            <a:ext cx="48237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>
                <a:solidFill>
                  <a:schemeClr val="bg1">
                    <a:lumMod val="75000"/>
                  </a:schemeClr>
                </a:solidFill>
              </a:rPr>
              <a:t>Fonte: https://itrelease.com/2021/04/what-is-local-area-network-lan-in-computer/</a:t>
            </a:r>
          </a:p>
        </p:txBody>
      </p:sp>
    </p:spTree>
    <p:extLst>
      <p:ext uri="{BB962C8B-B14F-4D97-AF65-F5344CB8AC3E}">
        <p14:creationId xmlns:p14="http://schemas.microsoft.com/office/powerpoint/2010/main" val="23166264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191A0-9F6B-2414-F293-28D23A97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97601-DEEA-888C-4AD3-8C8594FAE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DAS REDES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2474BF-937E-A168-29E8-61C617BC7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033224" cy="3678303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MAN (</a:t>
            </a:r>
            <a:r>
              <a:rPr lang="pt-BR" i="1" dirty="0"/>
              <a:t>Metropolitan Area Networks</a:t>
            </a:r>
            <a:r>
              <a:rPr lang="pt-BR" dirty="0"/>
              <a:t>),	</a:t>
            </a:r>
          </a:p>
          <a:p>
            <a:r>
              <a:rPr lang="pt-BR" dirty="0"/>
              <a:t>Podem ser entendidas como aquelas que proveem a interligação das redes locais em uma área metropolitana de uma determinada região: rede de TV a cabo</a:t>
            </a:r>
          </a:p>
          <a:p>
            <a:r>
              <a:rPr lang="pt-BR" dirty="0"/>
              <a:t>São administradas por empresas que oferecem o serviço ao usuário</a:t>
            </a:r>
          </a:p>
          <a:p>
            <a:r>
              <a:rPr lang="pt-BR" dirty="0"/>
              <a:t>Esses tipos de rede cobrem uma extensão de centenas de quilômetros e sua velocidade de transmissão de informação varia de 155 Mbps até 10 Gbps</a:t>
            </a:r>
          </a:p>
          <a:p>
            <a:r>
              <a:rPr lang="pt-BR" dirty="0"/>
              <a:t>O meio utilizado para a transmissão normalmente são os cabos de fibra óptica e canais de radiofrequência.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77C92C9-5894-FEF4-B437-3F0FAE7C2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351" y="2180496"/>
            <a:ext cx="5140092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48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7E29F-07E8-9E8C-68EC-B4BA09095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E2EA8-F303-FA6D-F76A-5766A9ED2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DAS REDES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80DB16-F3D0-E48E-68EB-03E09E80C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033224" cy="3678303"/>
          </a:xfrm>
        </p:spPr>
        <p:txBody>
          <a:bodyPr/>
          <a:lstStyle/>
          <a:p>
            <a:r>
              <a:rPr lang="pt-BR" dirty="0"/>
              <a:t>WAN (</a:t>
            </a:r>
            <a:r>
              <a:rPr lang="pt-BR" i="1" dirty="0" err="1"/>
              <a:t>Wide</a:t>
            </a:r>
            <a:r>
              <a:rPr lang="pt-BR" i="1" dirty="0"/>
              <a:t> Area Networks</a:t>
            </a:r>
            <a:r>
              <a:rPr lang="pt-BR" dirty="0"/>
              <a:t>),	</a:t>
            </a:r>
          </a:p>
          <a:p>
            <a:r>
              <a:rPr lang="pt-BR" dirty="0"/>
              <a:t>Quando as distâncias envolvidas na interligação dos computadores são superiores a uma região metropolitana, podendo ser a dispersão geográfica tão grande quanto a distância entre continentes, a abordagem correta é a rede geograficamente distribuída (WAN</a:t>
            </a:r>
            <a:r>
              <a:rPr lang="pt-BR"/>
              <a:t>) </a:t>
            </a:r>
            <a:endParaRPr lang="pt-BR" dirty="0"/>
          </a:p>
        </p:txBody>
      </p:sp>
      <p:pic>
        <p:nvPicPr>
          <p:cNvPr id="4098" name="Picture 2" descr="Wide Area Network Images – Browse 45,529 Stock Photos, Vectors, and Video |  Adobe Stock">
            <a:extLst>
              <a:ext uri="{FF2B5EF4-FFF2-40B4-BE49-F238E27FC236}">
                <a16:creationId xmlns:a16="http://schemas.microsoft.com/office/drawing/2014/main" id="{8FBDE4FD-C3A4-3AE8-D589-14B41108B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772" y="2305147"/>
            <a:ext cx="538162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7966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B2FC4-B32E-AB2F-F56E-49D6EC5E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Topologia de redes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6B353C-1A5B-7BB5-0A90-A4B31FB88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topologia </a:t>
            </a:r>
            <a:r>
              <a:rPr lang="pt-BR" u="sng" dirty="0"/>
              <a:t>refere-se à disposição dos componentes físicos e ao meio de conexão dos dispositivos na rede, ou seja, como estes estão conectados</a:t>
            </a:r>
            <a:r>
              <a:rPr lang="pt-BR" dirty="0"/>
              <a:t>.</a:t>
            </a:r>
          </a:p>
          <a:p>
            <a:r>
              <a:rPr lang="pt-BR" dirty="0"/>
              <a:t>A topologia de uma rede </a:t>
            </a:r>
            <a:r>
              <a:rPr lang="pt-BR" u="sng" dirty="0"/>
              <a:t>depende do projeto das operações, da confiabilidade e do seu custo operacional</a:t>
            </a:r>
            <a:r>
              <a:rPr lang="pt-BR" dirty="0"/>
              <a:t>.</a:t>
            </a:r>
          </a:p>
          <a:p>
            <a:r>
              <a:rPr lang="pt-BR" dirty="0"/>
              <a:t>Ao se projetar uma rede, muitos fatores devem ser considerados, mas </a:t>
            </a:r>
            <a:r>
              <a:rPr lang="pt-BR" u="sng" dirty="0"/>
              <a:t>a topologia a ser empregada é de total importância para o bom desempenho e retorno do investimento de uma rede</a:t>
            </a:r>
            <a:r>
              <a:rPr lang="pt-BR" dirty="0"/>
              <a:t>.</a:t>
            </a:r>
          </a:p>
          <a:p>
            <a:r>
              <a:rPr lang="pt-BR" u="sng" dirty="0"/>
              <a:t>Cada topologia possui suas características, com diferentes implicações quanto ao desenvolvimento, operação e manutenção da rede</a:t>
            </a:r>
            <a:r>
              <a:rPr lang="pt-BR" dirty="0"/>
              <a:t>, além disso, cada topologia apresenta duas formas, </a:t>
            </a:r>
            <a:r>
              <a:rPr lang="pt-BR" u="sng" dirty="0"/>
              <a:t>a forma física e a lógica</a:t>
            </a:r>
            <a:r>
              <a:rPr lang="pt-BR" dirty="0"/>
              <a:t>. </a:t>
            </a:r>
          </a:p>
          <a:p>
            <a:r>
              <a:rPr lang="pt-BR" dirty="0"/>
              <a:t>A topologia em </a:t>
            </a:r>
            <a:r>
              <a:rPr lang="pt-BR" u="sng" dirty="0"/>
              <a:t>sua forma física identifica como os nós estão interconectados uns nos outros</a:t>
            </a:r>
            <a:r>
              <a:rPr lang="pt-BR" dirty="0"/>
              <a:t>. </a:t>
            </a:r>
          </a:p>
          <a:p>
            <a:r>
              <a:rPr lang="pt-BR" dirty="0"/>
              <a:t>A topologia lógica é o protocolo de comunicação composto por hardwares e softwares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486245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E557-9592-6460-02A8-BEE29FB2A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AE4EB-9A9A-0E8C-90BA-FF66FE521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Topologia lógica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61B287-8D69-4803-7D99-DF13F17B4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topologia lógica é o protocolo de comunicação composto por hardwares e softwares</a:t>
            </a:r>
          </a:p>
          <a:p>
            <a:r>
              <a:rPr lang="pt-BR" dirty="0"/>
              <a:t>Determina qual é a melhor maneira de conectar computadores</a:t>
            </a:r>
          </a:p>
          <a:p>
            <a:r>
              <a:rPr lang="pt-BR" dirty="0"/>
              <a:t>Tipo de dado que será utilizado nas transmissões, modo de transmissão e</a:t>
            </a:r>
          </a:p>
          <a:p>
            <a:r>
              <a:rPr lang="pt-BR" dirty="0"/>
              <a:t>Tipo de placa de rede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41164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9D2C4-8FE6-1A10-7974-BB0128865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774B9-2FB8-E757-C082-1A6174050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Topologia física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1A2B76-16C4-98C1-5F09-BCA403C9B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Forma de distribuição dos cabos e dispositivos na rede</a:t>
            </a:r>
          </a:p>
          <a:p>
            <a:r>
              <a:rPr lang="pt-BR" dirty="0"/>
              <a:t>Influencia em como será o fluxo da informação</a:t>
            </a:r>
          </a:p>
          <a:p>
            <a:r>
              <a:rPr lang="pt-BR" dirty="0"/>
              <a:t>Determina os caminhos físicos</a:t>
            </a:r>
          </a:p>
          <a:p>
            <a:r>
              <a:rPr lang="pt-BR" dirty="0"/>
              <a:t>Busca atender às necessidades específicas de cada local levando em consideração os seguintes critérios</a:t>
            </a:r>
          </a:p>
          <a:p>
            <a:pPr lvl="1"/>
            <a:r>
              <a:rPr lang="pt-BR" dirty="0"/>
              <a:t>Confiabilidade: garante aos usuários o funcionamento da rede de forma confiável;</a:t>
            </a:r>
          </a:p>
          <a:p>
            <a:pPr lvl="1"/>
            <a:r>
              <a:rPr lang="pt-BR" dirty="0"/>
              <a:t>Capacidade de desempenho: a rede deve ter um desempenho aceitável</a:t>
            </a:r>
          </a:p>
          <a:p>
            <a:pPr lvl="1"/>
            <a:r>
              <a:rPr lang="pt-BR" dirty="0"/>
              <a:t>Custo operacional e possibilidades de expansão: planejamento anterior</a:t>
            </a:r>
          </a:p>
        </p:txBody>
      </p:sp>
    </p:spTree>
    <p:extLst>
      <p:ext uri="{BB962C8B-B14F-4D97-AF65-F5344CB8AC3E}">
        <p14:creationId xmlns:p14="http://schemas.microsoft.com/office/powerpoint/2010/main" val="30050953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B2961-D3CA-6F04-431E-CF12565BF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Topologia ponto-a-ponto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3FE5D2-5D23-4117-BBB6-08A07C8BC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Forma de topologia mais simples.</a:t>
            </a:r>
          </a:p>
          <a:p>
            <a:r>
              <a:rPr lang="pt-BR" dirty="0"/>
              <a:t>Conexão entre dois computadores</a:t>
            </a:r>
          </a:p>
          <a:p>
            <a:r>
              <a:rPr lang="pt-BR" dirty="0"/>
              <a:t>Características:</a:t>
            </a:r>
          </a:p>
          <a:p>
            <a:pPr lvl="1"/>
            <a:r>
              <a:rPr lang="pt-BR" dirty="0"/>
              <a:t>Cada uma pode ter características próprias que independem de outras conexões na mesma rede;</a:t>
            </a:r>
          </a:p>
          <a:p>
            <a:pPr lvl="1"/>
            <a:r>
              <a:rPr lang="pt-BR" dirty="0"/>
              <a:t>Facilidade para implantar medidas de segurança e privacidade;</a:t>
            </a:r>
          </a:p>
          <a:p>
            <a:pPr lvl="1"/>
            <a:r>
              <a:rPr lang="pt-BR" dirty="0"/>
              <a:t>Não existe necessidade de dar nomes (endereçar) aos participantes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0A4EC3A-4951-3982-7D01-F52572EC161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33859" y="2180496"/>
            <a:ext cx="553402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6922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E5FC7-2398-B711-7D42-57D88565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Topologia em barramento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1169CA-396E-FD21-629D-8F37D856F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7328368" cy="3678303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Todos os computadores são conectados diretamente em um mesmo cabo;</a:t>
            </a:r>
          </a:p>
          <a:p>
            <a:r>
              <a:rPr lang="pt-BR" dirty="0"/>
              <a:t>Quando uma mensagem é enviada pela rede, ela passa por todos os computadores conectados ao barramento</a:t>
            </a:r>
          </a:p>
          <a:p>
            <a:r>
              <a:rPr lang="pt-BR" dirty="0"/>
              <a:t>Características:</a:t>
            </a:r>
          </a:p>
          <a:p>
            <a:pPr lvl="1"/>
            <a:r>
              <a:rPr lang="pt-BR" dirty="0"/>
              <a:t>Facilidade para o acréscimo de novos computadores à rede;</a:t>
            </a:r>
          </a:p>
          <a:p>
            <a:pPr lvl="1"/>
            <a:r>
              <a:rPr lang="pt-BR" dirty="0"/>
              <a:t>Fluxo da informação descentralizado;</a:t>
            </a:r>
          </a:p>
          <a:p>
            <a:pPr lvl="1"/>
            <a:r>
              <a:rPr lang="pt-BR" dirty="0"/>
              <a:t>Um problema em um computador pode causar uma queda em toda a rede;</a:t>
            </a:r>
          </a:p>
          <a:p>
            <a:pPr lvl="1"/>
            <a:r>
              <a:rPr lang="pt-BR" dirty="0"/>
              <a:t>A extensão da rede é limitada pelo tamanho do cabo;</a:t>
            </a:r>
          </a:p>
          <a:p>
            <a:pPr lvl="1"/>
            <a:r>
              <a:rPr lang="pt-BR" dirty="0"/>
              <a:t>Exige mecanismos especiais de controle de acesso;</a:t>
            </a:r>
          </a:p>
          <a:p>
            <a:pPr lvl="1"/>
            <a:r>
              <a:rPr lang="pt-BR" dirty="0"/>
              <a:t>Necessidade de haver endereço para cada par (nomes) permitindo a comunicação par-a-par</a:t>
            </a:r>
          </a:p>
          <a:p>
            <a:pPr lvl="1"/>
            <a:r>
              <a:rPr lang="pt-BR" dirty="0"/>
              <a:t>Simplicidade, baixo custo, fácil instalação e expansão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68931B-8F48-94FC-507E-33882CBCEEA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35606" y="1911096"/>
            <a:ext cx="5364598" cy="228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1588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03A4D-7D3F-89DD-B866-6700531E4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Topologia em anel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A48964-43B1-6C3F-8E72-F17651638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999184" cy="3678303"/>
          </a:xfrm>
        </p:spPr>
        <p:txBody>
          <a:bodyPr/>
          <a:lstStyle/>
          <a:p>
            <a:r>
              <a:rPr lang="pt-BR" dirty="0"/>
              <a:t>A informação circula em um único cabo</a:t>
            </a:r>
          </a:p>
          <a:p>
            <a:r>
              <a:rPr lang="pt-BR" dirty="0"/>
              <a:t>A configuração mais comum é unidirecional e conecta todas as estações de trabalho</a:t>
            </a:r>
          </a:p>
          <a:p>
            <a:r>
              <a:rPr lang="pt-BR" dirty="0"/>
              <a:t>Fluxo de mensagens descentralizado</a:t>
            </a:r>
          </a:p>
          <a:p>
            <a:r>
              <a:rPr lang="pt-BR" dirty="0"/>
              <a:t>As mensagens são retransmitidas de nó em nó</a:t>
            </a:r>
          </a:p>
          <a:p>
            <a:r>
              <a:rPr lang="pt-BR" dirty="0"/>
              <a:t>Boa performance em redes de muito tráfego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9DBD094-3E09-E431-8738-925F31396DF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34009" y="916114"/>
            <a:ext cx="5419725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461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26B57-3FDA-8018-B938-9FCFE1426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Topologia em estrela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2B03D7-AD6D-38F8-2783-E2DFCB32E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569416" cy="3678303"/>
          </a:xfrm>
        </p:spPr>
        <p:txBody>
          <a:bodyPr/>
          <a:lstStyle/>
          <a:p>
            <a:r>
              <a:rPr lang="pt-BR" dirty="0"/>
              <a:t>Há necessidades de decisões de roteamento. </a:t>
            </a:r>
          </a:p>
          <a:p>
            <a:r>
              <a:rPr lang="pt-BR" dirty="0"/>
              <a:t>A estrutura é voltada a um nó concentrador. Há necessidade de equipamento central. Caso falhe toda a rede fica fora do ar.</a:t>
            </a:r>
          </a:p>
          <a:p>
            <a:r>
              <a:rPr lang="pt-BR" dirty="0"/>
              <a:t>Responsável pela retransmissão de todos os dados para todas as estações</a:t>
            </a:r>
          </a:p>
          <a:p>
            <a:r>
              <a:rPr lang="pt-BR" dirty="0"/>
              <a:t>Ligações ponto-a-ponto</a:t>
            </a:r>
          </a:p>
          <a:p>
            <a:r>
              <a:rPr lang="pt-BR" dirty="0"/>
              <a:t>Modificações ou adição de novas estações são simples</a:t>
            </a:r>
          </a:p>
          <a:p>
            <a:r>
              <a:rPr lang="pt-BR" dirty="0"/>
              <a:t>Gerenciamento centralizado</a:t>
            </a:r>
          </a:p>
          <a:p>
            <a:r>
              <a:rPr lang="pt-BR" dirty="0"/>
              <a:t>Desempenho de rede depende do nó central</a:t>
            </a:r>
          </a:p>
        </p:txBody>
      </p:sp>
      <p:pic>
        <p:nvPicPr>
          <p:cNvPr id="1026" name="Picture 2" descr="Sobre a topologia de rede física. O que é a topologia de rede física? | by  luiz arthur | Medium">
            <a:extLst>
              <a:ext uri="{FF2B5EF4-FFF2-40B4-BE49-F238E27FC236}">
                <a16:creationId xmlns:a16="http://schemas.microsoft.com/office/drawing/2014/main" id="{D33A01CD-B865-5F9A-3649-D227B2530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281" y="2538116"/>
            <a:ext cx="5283327" cy="3243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788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AC57A4-583D-6ABF-6570-2509B3FA9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Topologia híbrida ou mista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F73ABFA-E65C-04C7-6F94-A69BA969B5A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42872" y="1627822"/>
            <a:ext cx="914400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1714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â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pt-BR">
                <a:solidFill>
                  <a:srgbClr val="FFFFFF"/>
                </a:solidFill>
              </a:rPr>
              <a:t>Obrigado</a:t>
            </a:r>
          </a:p>
        </p:txBody>
      </p:sp>
      <p:pic>
        <p:nvPicPr>
          <p:cNvPr id="5" name="Imagem 4" descr="Números Digitai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6" name="Subtítulo 5">
            <a:extLst>
              <a:ext uri="{FF2B5EF4-FFF2-40B4-BE49-F238E27FC236}">
                <a16:creationId xmlns:a16="http://schemas.microsoft.com/office/drawing/2014/main" id="{6C157E87-61FE-D385-11C2-DF2BAE8939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438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Design tecnológico</Template>
  <TotalTime>6392</TotalTime>
  <Words>2104</Words>
  <Application>Microsoft Office PowerPoint</Application>
  <PresentationFormat>Widescreen</PresentationFormat>
  <Paragraphs>177</Paragraphs>
  <Slides>37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2" baseType="lpstr">
      <vt:lpstr>Calibri</vt:lpstr>
      <vt:lpstr>Gill Sans MT</vt:lpstr>
      <vt:lpstr>Wingdings</vt:lpstr>
      <vt:lpstr>Wingdings 2</vt:lpstr>
      <vt:lpstr>Personalizado</vt:lpstr>
      <vt:lpstr>REDES DE COMPUTADORES</vt:lpstr>
      <vt:lpstr>O avanço da comunicação</vt:lpstr>
      <vt:lpstr>O QUE SÃO REDES</vt:lpstr>
      <vt:lpstr>O QUE SÃO REDES</vt:lpstr>
      <vt:lpstr>Dados que podem ser transmitidos</vt:lpstr>
      <vt:lpstr>Redes ponto a ponto</vt:lpstr>
      <vt:lpstr>Redes cliente-servidor</vt:lpstr>
      <vt:lpstr>Como funciona a transmissão</vt:lpstr>
      <vt:lpstr>Como funciona a transmissão</vt:lpstr>
      <vt:lpstr>Como funciona a transmissão</vt:lpstr>
      <vt:lpstr>Modos de operação</vt:lpstr>
      <vt:lpstr>Modos de operação</vt:lpstr>
      <vt:lpstr>Meios de comunicação</vt:lpstr>
      <vt:lpstr>Cabos de par trançado</vt:lpstr>
      <vt:lpstr>Cabos de par trançado</vt:lpstr>
      <vt:lpstr>Cabos de par trançado</vt:lpstr>
      <vt:lpstr>Cabos coaxiais</vt:lpstr>
      <vt:lpstr>Fibra óptica</vt:lpstr>
      <vt:lpstr>Fibra óptica</vt:lpstr>
      <vt:lpstr>Tipos de cabos de fibra óptica</vt:lpstr>
      <vt:lpstr>Transmissão via rádio terrestre ou micro-ondas</vt:lpstr>
      <vt:lpstr>Transmissão via satélite</vt:lpstr>
      <vt:lpstr>CLASSIFICAÇÃO DAS REDES</vt:lpstr>
      <vt:lpstr>CLASSIFICAÇÃO DAS REDES</vt:lpstr>
      <vt:lpstr>CLASSIFICAÇÃO DAS REDES</vt:lpstr>
      <vt:lpstr>CLASSIFICAÇÃO DAS REDES</vt:lpstr>
      <vt:lpstr>CLASSIFICAÇÃO DAS REDES</vt:lpstr>
      <vt:lpstr>CLASSIFICAÇÃO DAS REDES</vt:lpstr>
      <vt:lpstr>Topologia de redes</vt:lpstr>
      <vt:lpstr>Topologia lógica</vt:lpstr>
      <vt:lpstr>Topologia física</vt:lpstr>
      <vt:lpstr>Topologia ponto-a-ponto</vt:lpstr>
      <vt:lpstr>Topologia em barramento</vt:lpstr>
      <vt:lpstr>Topologia em anel</vt:lpstr>
      <vt:lpstr>Topologia em estrela</vt:lpstr>
      <vt:lpstr>Topologia híbrida ou mista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Teixeira Cunha</dc:creator>
  <cp:lastModifiedBy>Joel Teixeira Cunha</cp:lastModifiedBy>
  <cp:revision>22</cp:revision>
  <dcterms:created xsi:type="dcterms:W3CDTF">2026-02-26T16:04:08Z</dcterms:created>
  <dcterms:modified xsi:type="dcterms:W3CDTF">2026-05-20T00:24:35Z</dcterms:modified>
</cp:coreProperties>
</file>